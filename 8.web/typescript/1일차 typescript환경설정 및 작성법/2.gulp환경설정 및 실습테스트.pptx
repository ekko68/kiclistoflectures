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7" r:id="rId4"/>
    <p:sldId id="281" r:id="rId5"/>
    <p:sldId id="282" r:id="rId6"/>
    <p:sldId id="283" r:id="rId7"/>
    <p:sldId id="258" r:id="rId8"/>
    <p:sldId id="259" r:id="rId9"/>
    <p:sldId id="276" r:id="rId10"/>
    <p:sldId id="277" r:id="rId11"/>
    <p:sldId id="260" r:id="rId12"/>
    <p:sldId id="261" r:id="rId13"/>
    <p:sldId id="262" r:id="rId14"/>
    <p:sldId id="263" r:id="rId15"/>
    <p:sldId id="264" r:id="rId16"/>
    <p:sldId id="266" r:id="rId17"/>
    <p:sldId id="265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8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Typescript</a:t>
            </a:r>
            <a:r>
              <a:rPr lang="ko-KR" altLang="en-US" sz="3200" dirty="0" smtClean="0"/>
              <a:t>를 위한 </a:t>
            </a:r>
            <a:r>
              <a:rPr lang="en-US" altLang="ko-KR" sz="3200" dirty="0" smtClean="0"/>
              <a:t/>
            </a:r>
            <a:br>
              <a:rPr lang="en-US" altLang="ko-KR" sz="3200" dirty="0" smtClean="0"/>
            </a:br>
            <a:r>
              <a:rPr lang="en-US" altLang="ko-KR" sz="3200" dirty="0" smtClean="0"/>
              <a:t>gulp </a:t>
            </a:r>
            <a:r>
              <a:rPr lang="ko-KR" altLang="en-US" sz="3200" dirty="0" smtClean="0"/>
              <a:t>설치 및 환경설정</a:t>
            </a:r>
            <a:endParaRPr lang="ko-KR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Gulp</a:t>
            </a:r>
            <a:r>
              <a:rPr lang="ko-KR" altLang="en-US" sz="2400" dirty="0" smtClean="0"/>
              <a:t>의 개요 및 사용 목적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dirty="0" smtClean="0"/>
              <a:t>Gulp</a:t>
            </a:r>
            <a:r>
              <a:rPr lang="ko-KR" altLang="en-US" dirty="0" smtClean="0"/>
              <a:t>는 프로젝트를 </a:t>
            </a:r>
            <a:r>
              <a:rPr lang="en-US" altLang="ko-KR" b="1" dirty="0" smtClean="0">
                <a:solidFill>
                  <a:srgbClr val="FF0000"/>
                </a:solidFill>
              </a:rPr>
              <a:t>development, production, testing </a:t>
            </a:r>
            <a:r>
              <a:rPr lang="ko-KR" altLang="en-US" dirty="0" smtClean="0"/>
              <a:t>등의 다른 </a:t>
            </a:r>
            <a:r>
              <a:rPr lang="ko-KR" altLang="en-US" dirty="0" err="1" smtClean="0"/>
              <a:t>빌드들로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빌드해</a:t>
            </a:r>
            <a:r>
              <a:rPr lang="ko-KR" altLang="en-US" dirty="0" smtClean="0"/>
              <a:t> 줄 수 있으며 많은 </a:t>
            </a:r>
            <a:r>
              <a:rPr lang="ko-KR" altLang="en-US" dirty="0" err="1" smtClean="0"/>
              <a:t>플러그인들을</a:t>
            </a:r>
            <a:r>
              <a:rPr lang="ko-KR" altLang="en-US" dirty="0" smtClean="0"/>
              <a:t> 통해 매우 </a:t>
            </a:r>
            <a:r>
              <a:rPr lang="ko-KR" altLang="en-US" dirty="0" err="1" smtClean="0"/>
              <a:t>확장성있게</a:t>
            </a:r>
            <a:r>
              <a:rPr lang="ko-KR" altLang="en-US" dirty="0" smtClean="0"/>
              <a:t> 작업할 수 있도록 도와주는 유용한 </a:t>
            </a:r>
            <a:r>
              <a:rPr lang="ko-KR" altLang="en-US" dirty="0" err="1" smtClean="0"/>
              <a:t>빌드시스템이며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현재 약 </a:t>
            </a:r>
            <a:r>
              <a:rPr lang="en-US" altLang="ko-KR" dirty="0" smtClean="0"/>
              <a:t>2000</a:t>
            </a:r>
            <a:r>
              <a:rPr lang="ko-KR" altLang="en-US" dirty="0" err="1" smtClean="0"/>
              <a:t>여개의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플로그인이</a:t>
            </a:r>
            <a:r>
              <a:rPr lang="ko-KR" altLang="en-US" dirty="0" smtClean="0"/>
              <a:t> 존재합니다</a:t>
            </a:r>
            <a:r>
              <a:rPr lang="en-US" altLang="ko-KR" dirty="0" smtClean="0"/>
              <a:t>.</a:t>
            </a:r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   </a:t>
            </a:r>
            <a:r>
              <a:rPr lang="ko-KR" altLang="en-US" dirty="0" smtClean="0"/>
              <a:t>사용목적</a:t>
            </a:r>
            <a:r>
              <a:rPr lang="en-US" altLang="ko-KR" dirty="0" smtClean="0"/>
              <a:t>:</a:t>
            </a:r>
          </a:p>
          <a:p>
            <a:pPr>
              <a:buNone/>
            </a:pP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b="1" dirty="0" smtClean="0">
                <a:solidFill>
                  <a:srgbClr val="FF0000"/>
                </a:solidFill>
              </a:rPr>
              <a:t>1.</a:t>
            </a:r>
            <a:r>
              <a:rPr lang="ko-KR" altLang="en-US" b="1" dirty="0" smtClean="0">
                <a:solidFill>
                  <a:srgbClr val="FF0000"/>
                </a:solidFill>
              </a:rPr>
              <a:t>웹 서버를 동작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</a:p>
          <a:p>
            <a:pPr>
              <a:buNone/>
            </a:pPr>
            <a:r>
              <a:rPr lang="en-US" altLang="ko-KR" dirty="0" smtClean="0"/>
              <a:t>    2.Sass 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CSS </a:t>
            </a:r>
            <a:r>
              <a:rPr lang="ko-KR" altLang="en-US" dirty="0" smtClean="0"/>
              <a:t>로 컴파일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    </a:t>
            </a:r>
            <a:r>
              <a:rPr lang="en-US" altLang="ko-KR" b="1" dirty="0" smtClean="0">
                <a:solidFill>
                  <a:srgbClr val="FF0000"/>
                </a:solidFill>
              </a:rPr>
              <a:t>3.</a:t>
            </a:r>
            <a:r>
              <a:rPr lang="ko-KR" altLang="en-US" b="1" dirty="0" smtClean="0">
                <a:solidFill>
                  <a:srgbClr val="FF0000"/>
                </a:solidFill>
              </a:rPr>
              <a:t>편집기 툴에서 파일을 저장할 때마다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웹브라우저를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reload </a:t>
            </a:r>
          </a:p>
          <a:p>
            <a:pPr>
              <a:buNone/>
            </a:pPr>
            <a:r>
              <a:rPr lang="en-US" altLang="ko-KR" b="1" dirty="0" smtClean="0">
                <a:solidFill>
                  <a:srgbClr val="FF0000"/>
                </a:solidFill>
              </a:rPr>
              <a:t>      </a:t>
            </a:r>
            <a:r>
              <a:rPr lang="ko-KR" altLang="en-US" b="1" dirty="0" smtClean="0">
                <a:solidFill>
                  <a:srgbClr val="FF0000"/>
                </a:solidFill>
              </a:rPr>
              <a:t>하여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새로고침없이</a:t>
            </a:r>
            <a:r>
              <a:rPr lang="ko-KR" altLang="en-US" b="1" dirty="0" smtClean="0">
                <a:solidFill>
                  <a:srgbClr val="FF0000"/>
                </a:solidFill>
              </a:rPr>
              <a:t> 브라우저를 갱신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ko-KR" dirty="0" smtClean="0"/>
              <a:t>     4. </a:t>
            </a:r>
            <a:r>
              <a:rPr lang="ko-KR" altLang="en-US" dirty="0" smtClean="0"/>
              <a:t>배포를 위한 </a:t>
            </a:r>
            <a:r>
              <a:rPr lang="en-US" altLang="ko-KR" dirty="0" smtClean="0"/>
              <a:t>CSS, JS, fonts, and images </a:t>
            </a:r>
            <a:r>
              <a:rPr lang="ko-KR" altLang="en-US" dirty="0" smtClean="0"/>
              <a:t>등의 리소스를 최적화</a:t>
            </a: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r>
              <a:rPr lang="ko-KR" altLang="en-US" dirty="0" smtClean="0"/>
              <a:t>    </a:t>
            </a:r>
            <a:r>
              <a:rPr lang="ko-KR" altLang="en-US" b="1" dirty="0" smtClean="0">
                <a:solidFill>
                  <a:srgbClr val="002060"/>
                </a:solidFill>
              </a:rPr>
              <a:t>대개 전역적으로 </a:t>
            </a:r>
            <a:r>
              <a:rPr lang="en-US" altLang="ko-KR" b="1" dirty="0" smtClean="0">
                <a:solidFill>
                  <a:srgbClr val="002060"/>
                </a:solidFill>
              </a:rPr>
              <a:t>Gulp </a:t>
            </a:r>
            <a:r>
              <a:rPr lang="ko-KR" altLang="en-US" b="1" dirty="0" smtClean="0">
                <a:solidFill>
                  <a:srgbClr val="002060"/>
                </a:solidFill>
              </a:rPr>
              <a:t>를 설치했다 하더라도 개별적인 프로젝트에서 </a:t>
            </a:r>
            <a:r>
              <a:rPr lang="en-US" altLang="ko-KR" b="1" dirty="0" smtClean="0">
                <a:solidFill>
                  <a:srgbClr val="002060"/>
                </a:solidFill>
              </a:rPr>
              <a:t>Gulp </a:t>
            </a:r>
            <a:r>
              <a:rPr lang="ko-KR" altLang="en-US" b="1" dirty="0" smtClean="0">
                <a:solidFill>
                  <a:srgbClr val="002060"/>
                </a:solidFill>
              </a:rPr>
              <a:t>를 사용하려면 로컬 설치가 필요합니다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npm</a:t>
            </a:r>
            <a:r>
              <a:rPr lang="en-US" altLang="ko-KR" sz="2400" dirty="0" smtClean="0"/>
              <a:t> install –g gulp-</a:t>
            </a:r>
            <a:r>
              <a:rPr lang="en-US" altLang="ko-KR" sz="2400" dirty="0" err="1" smtClean="0"/>
              <a:t>cli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143116"/>
            <a:ext cx="8429684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3857628"/>
            <a:ext cx="8429684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오른쪽 화살표 5"/>
          <p:cNvSpPr/>
          <p:nvPr/>
        </p:nvSpPr>
        <p:spPr>
          <a:xfrm>
            <a:off x="4572000" y="3143248"/>
            <a:ext cx="42862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143504" y="3000372"/>
            <a:ext cx="2973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typescript</a:t>
            </a:r>
            <a:r>
              <a:rPr lang="ko-KR" altLang="en-US" b="1" dirty="0" smtClean="0">
                <a:solidFill>
                  <a:srgbClr val="FF0000"/>
                </a:solidFill>
              </a:rPr>
              <a:t>라는 작업폴더에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src</a:t>
            </a:r>
            <a:r>
              <a:rPr lang="ko-KR" altLang="en-US" b="1" dirty="0" smtClean="0">
                <a:solidFill>
                  <a:srgbClr val="FF0000"/>
                </a:solidFill>
              </a:rPr>
              <a:t>와 </a:t>
            </a:r>
            <a:r>
              <a:rPr lang="en-US" altLang="ko-KR" b="1" dirty="0" smtClean="0">
                <a:solidFill>
                  <a:srgbClr val="FF0000"/>
                </a:solidFill>
              </a:rPr>
              <a:t>dist</a:t>
            </a:r>
            <a:r>
              <a:rPr lang="ko-KR" altLang="en-US" b="1" dirty="0" smtClean="0">
                <a:solidFill>
                  <a:srgbClr val="FF0000"/>
                </a:solidFill>
              </a:rPr>
              <a:t>폴더 생성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/>
              <a:t>n</a:t>
            </a:r>
            <a:r>
              <a:rPr lang="en-US" altLang="ko-KR" sz="2400" dirty="0" err="1" smtClean="0"/>
              <a:t>pm</a:t>
            </a:r>
            <a:r>
              <a:rPr lang="en-US" altLang="ko-KR" sz="2400" dirty="0" smtClean="0"/>
              <a:t> install –g gulp-</a:t>
            </a:r>
            <a:r>
              <a:rPr lang="en-US" altLang="ko-KR" sz="2400" dirty="0" err="1" smtClean="0"/>
              <a:t>cli</a:t>
            </a:r>
            <a:r>
              <a:rPr lang="en-US" altLang="ko-KR" sz="2400" dirty="0" smtClean="0"/>
              <a:t>  (1)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628800"/>
            <a:ext cx="7776864" cy="4731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npm</a:t>
            </a:r>
            <a:r>
              <a:rPr lang="en-US" altLang="ko-KR" sz="2400" dirty="0" smtClean="0"/>
              <a:t> install –g gulp-</a:t>
            </a:r>
            <a:r>
              <a:rPr lang="en-US" altLang="ko-KR" sz="2400" dirty="0" err="1" smtClean="0"/>
              <a:t>cli</a:t>
            </a:r>
            <a:r>
              <a:rPr lang="en-US" altLang="ko-KR" sz="2400" dirty="0" smtClean="0"/>
              <a:t>  (2)</a:t>
            </a:r>
            <a:endParaRPr lang="ko-KR" alt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772816"/>
            <a:ext cx="71913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Gulp </a:t>
            </a:r>
            <a:r>
              <a:rPr lang="ko-KR" altLang="en-US" sz="2400" dirty="0" smtClean="0"/>
              <a:t>의 </a:t>
            </a:r>
            <a:r>
              <a:rPr lang="en-US" altLang="ko-KR" sz="2400" dirty="0" err="1" smtClean="0"/>
              <a:t>plugin</a:t>
            </a:r>
            <a:r>
              <a:rPr lang="ko-KR" altLang="en-US" sz="2400" dirty="0" smtClean="0"/>
              <a:t>을 설치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 smtClean="0">
                <a:solidFill>
                  <a:srgbClr val="7030A0"/>
                </a:solidFill>
              </a:rPr>
              <a:t>Gulp-typescript-&gt;typescript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와 연관된 플러그인 </a:t>
            </a:r>
            <a:endParaRPr lang="en-US" altLang="ko-KR" sz="2000" b="1" dirty="0" smtClean="0">
              <a:solidFill>
                <a:srgbClr val="7030A0"/>
              </a:solidFill>
            </a:endParaRPr>
          </a:p>
          <a:p>
            <a:r>
              <a:rPr lang="en-US" altLang="ko-KR" sz="2000" b="1" dirty="0" smtClean="0">
                <a:solidFill>
                  <a:srgbClr val="7030A0"/>
                </a:solidFill>
              </a:rPr>
              <a:t>Gulp-</a:t>
            </a:r>
            <a:r>
              <a:rPr lang="en-US" altLang="ko-KR" sz="2000" b="1" dirty="0" err="1" smtClean="0">
                <a:solidFill>
                  <a:srgbClr val="7030A0"/>
                </a:solidFill>
              </a:rPr>
              <a:t>webserver</a:t>
            </a:r>
            <a:r>
              <a:rPr lang="en-US" altLang="ko-KR" sz="2000" b="1" dirty="0" smtClean="0">
                <a:solidFill>
                  <a:srgbClr val="7030A0"/>
                </a:solidFill>
              </a:rPr>
              <a:t>-&gt;</a:t>
            </a:r>
            <a:r>
              <a:rPr lang="ko-KR" altLang="en-US" sz="2000" b="1" dirty="0" err="1" smtClean="0">
                <a:solidFill>
                  <a:srgbClr val="7030A0"/>
                </a:solidFill>
              </a:rPr>
              <a:t>웹서버처럼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 동작하게 하는 플러그인</a:t>
            </a:r>
            <a:endParaRPr lang="en-US" altLang="ko-KR" sz="2000" b="1" dirty="0" smtClean="0">
              <a:solidFill>
                <a:srgbClr val="7030A0"/>
              </a:solidFill>
            </a:endParaRPr>
          </a:p>
          <a:p>
            <a:r>
              <a:rPr lang="en-US" altLang="ko-KR" sz="2000" b="1" dirty="0" smtClean="0">
                <a:solidFill>
                  <a:srgbClr val="7030A0"/>
                </a:solidFill>
              </a:rPr>
              <a:t>Gulp-</a:t>
            </a:r>
            <a:r>
              <a:rPr lang="en-US" altLang="ko-KR" sz="2000" b="1" dirty="0" err="1" smtClean="0">
                <a:solidFill>
                  <a:srgbClr val="7030A0"/>
                </a:solidFill>
              </a:rPr>
              <a:t>livereload</a:t>
            </a:r>
            <a:r>
              <a:rPr lang="en-US" altLang="ko-KR" sz="2000" b="1" dirty="0" smtClean="0">
                <a:solidFill>
                  <a:srgbClr val="7030A0"/>
                </a:solidFill>
              </a:rPr>
              <a:t>-&gt;</a:t>
            </a:r>
            <a:r>
              <a:rPr lang="ko-KR" altLang="en-US" sz="2000" b="1" dirty="0" err="1" smtClean="0">
                <a:solidFill>
                  <a:srgbClr val="7030A0"/>
                </a:solidFill>
              </a:rPr>
              <a:t>웹브라우저를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 </a:t>
            </a:r>
            <a:r>
              <a:rPr lang="ko-KR" altLang="en-US" sz="2000" b="1" dirty="0" err="1" smtClean="0">
                <a:solidFill>
                  <a:srgbClr val="7030A0"/>
                </a:solidFill>
              </a:rPr>
              <a:t>리로드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 하기 위한 플러그인</a:t>
            </a:r>
            <a:endParaRPr lang="en-US" altLang="ko-KR" sz="2000" b="1" dirty="0" smtClean="0">
              <a:solidFill>
                <a:srgbClr val="7030A0"/>
              </a:solidFill>
            </a:endParaRPr>
          </a:p>
          <a:p>
            <a:r>
              <a:rPr lang="en-US" altLang="ko-KR" sz="2000" b="1" dirty="0" smtClean="0">
                <a:solidFill>
                  <a:srgbClr val="7030A0"/>
                </a:solidFill>
              </a:rPr>
              <a:t>Gulp-</a:t>
            </a:r>
            <a:r>
              <a:rPr lang="en-US" altLang="ko-KR" sz="2000" b="1" dirty="0" err="1" smtClean="0">
                <a:solidFill>
                  <a:srgbClr val="7030A0"/>
                </a:solidFill>
              </a:rPr>
              <a:t>souremaps</a:t>
            </a:r>
            <a:r>
              <a:rPr lang="en-US" altLang="ko-KR" sz="2000" b="1" dirty="0" smtClean="0">
                <a:solidFill>
                  <a:srgbClr val="7030A0"/>
                </a:solidFill>
              </a:rPr>
              <a:t>-&gt;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코드상의 위치를 알려주는 플러그인</a:t>
            </a:r>
            <a:r>
              <a:rPr lang="en-US" altLang="ko-KR" sz="2000" b="1" dirty="0" smtClean="0">
                <a:solidFill>
                  <a:srgbClr val="7030A0"/>
                </a:solidFill>
              </a:rPr>
              <a:t/>
            </a:r>
            <a:br>
              <a:rPr lang="en-US" altLang="ko-KR" sz="2000" b="1" dirty="0" smtClean="0">
                <a:solidFill>
                  <a:srgbClr val="7030A0"/>
                </a:solidFill>
              </a:rPr>
            </a:br>
            <a:r>
              <a:rPr lang="en-US" altLang="ko-KR" sz="2000" b="1" dirty="0" smtClean="0">
                <a:solidFill>
                  <a:srgbClr val="7030A0"/>
                </a:solidFill>
              </a:rPr>
              <a:t>                         </a:t>
            </a:r>
            <a:r>
              <a:rPr lang="ko-KR" altLang="en-US" sz="2000" b="1" dirty="0" err="1" smtClean="0">
                <a:solidFill>
                  <a:srgbClr val="7030A0"/>
                </a:solidFill>
              </a:rPr>
              <a:t>컴파일할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 파일의 위치</a:t>
            </a:r>
            <a:endParaRPr lang="en-US" altLang="ko-KR" sz="2000" b="1" dirty="0" smtClean="0">
              <a:solidFill>
                <a:srgbClr val="7030A0"/>
              </a:solidFill>
            </a:endParaRPr>
          </a:p>
          <a:p>
            <a:endParaRPr lang="en-US" altLang="ko-KR" sz="2000" dirty="0" smtClean="0"/>
          </a:p>
          <a:p>
            <a:r>
              <a:rPr lang="ko-KR" altLang="en-US" sz="2000" dirty="0" smtClean="0"/>
              <a:t>작성순서</a:t>
            </a:r>
            <a:endParaRPr lang="en-US" altLang="ko-KR" sz="2000" dirty="0" smtClean="0"/>
          </a:p>
          <a:p>
            <a:r>
              <a:rPr lang="en-US" altLang="ko-KR" sz="2000" b="1" dirty="0" smtClean="0">
                <a:solidFill>
                  <a:srgbClr val="FF0000"/>
                </a:solidFill>
              </a:rPr>
              <a:t>http://programmingsummaries.tistory.com/377</a:t>
            </a:r>
            <a:endParaRPr lang="en-US" altLang="ko-KR" sz="20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npm</a:t>
            </a:r>
            <a:r>
              <a:rPr lang="en-US" altLang="ko-KR" sz="2400" dirty="0" smtClean="0"/>
              <a:t> install gulp </a:t>
            </a:r>
            <a:r>
              <a:rPr lang="en-US" altLang="ko-KR" sz="2400" dirty="0" err="1" smtClean="0"/>
              <a:t>gulp</a:t>
            </a:r>
            <a:r>
              <a:rPr lang="en-US" altLang="ko-KR" sz="2400" dirty="0" smtClean="0"/>
              <a:t>-typescript gulp-</a:t>
            </a:r>
            <a:r>
              <a:rPr lang="en-US" altLang="ko-KR" sz="2400" dirty="0" err="1" smtClean="0"/>
              <a:t>sourcemaps</a:t>
            </a:r>
            <a:r>
              <a:rPr lang="en-US" altLang="ko-KR" sz="2400" dirty="0" smtClean="0"/>
              <a:t> </a:t>
            </a:r>
            <a:br>
              <a:rPr lang="en-US" altLang="ko-KR" sz="2400" dirty="0" smtClean="0"/>
            </a:br>
            <a:r>
              <a:rPr lang="en-US" altLang="ko-KR" sz="2400" dirty="0" smtClean="0"/>
              <a:t>gulp-</a:t>
            </a:r>
            <a:r>
              <a:rPr lang="en-US" altLang="ko-KR" sz="2400" dirty="0" err="1" smtClean="0"/>
              <a:t>webserver</a:t>
            </a:r>
            <a:r>
              <a:rPr lang="en-US" altLang="ko-KR" sz="2400" dirty="0" smtClean="0"/>
              <a:t> gulp-</a:t>
            </a:r>
            <a:r>
              <a:rPr lang="en-US" altLang="ko-KR" sz="2400" dirty="0" err="1" smtClean="0"/>
              <a:t>livereload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1571612"/>
            <a:ext cx="8715436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44" y="4214818"/>
            <a:ext cx="8715436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오른쪽 화살표 5"/>
          <p:cNvSpPr/>
          <p:nvPr/>
        </p:nvSpPr>
        <p:spPr>
          <a:xfrm>
            <a:off x="4714876" y="5643578"/>
            <a:ext cx="357190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214942" y="5572140"/>
            <a:ext cx="3199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경고만 나오는 경우는 제대로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설치된 경우임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Visual Studio code </a:t>
            </a:r>
            <a:r>
              <a:rPr lang="ko-KR" altLang="en-US" sz="2400" dirty="0" smtClean="0"/>
              <a:t>실행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err="1" smtClean="0"/>
              <a:t>main.ts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예제 작성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2143116"/>
            <a:ext cx="2952750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14744" y="2143116"/>
            <a:ext cx="49339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gulpfile.js</a:t>
            </a:r>
            <a:r>
              <a:rPr lang="ko-KR" altLang="en-US" sz="2400" dirty="0" smtClean="0"/>
              <a:t>의 소스분석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643050"/>
            <a:ext cx="6786610" cy="1924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3643314"/>
            <a:ext cx="5143536" cy="3007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오른쪽 화살표 5"/>
          <p:cNvSpPr/>
          <p:nvPr/>
        </p:nvSpPr>
        <p:spPr>
          <a:xfrm rot="10446300">
            <a:off x="7629441" y="1894320"/>
            <a:ext cx="500066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410833" y="2571744"/>
            <a:ext cx="1733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gulp</a:t>
            </a:r>
            <a:r>
              <a:rPr lang="ko-KR" altLang="en-US" b="1" dirty="0" smtClean="0">
                <a:solidFill>
                  <a:srgbClr val="FF0000"/>
                </a:solidFill>
              </a:rPr>
              <a:t>에 관련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된 모듈 불러옴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오른쪽 화살표 7"/>
          <p:cNvSpPr/>
          <p:nvPr/>
        </p:nvSpPr>
        <p:spPr>
          <a:xfrm rot="10800000">
            <a:off x="6072198" y="3786190"/>
            <a:ext cx="479925" cy="3447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711924" y="3786190"/>
            <a:ext cx="2432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서버설정 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포트 </a:t>
            </a:r>
            <a:r>
              <a:rPr lang="en-US" altLang="ko-KR" b="1" dirty="0" smtClean="0">
                <a:solidFill>
                  <a:srgbClr val="FF0000"/>
                </a:solidFill>
              </a:rPr>
              <a:t>9400)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오른쪽 화살표 9"/>
          <p:cNvSpPr/>
          <p:nvPr/>
        </p:nvSpPr>
        <p:spPr>
          <a:xfrm rot="10800000">
            <a:off x="6072198" y="4786322"/>
            <a:ext cx="479925" cy="3447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6711924" y="4786322"/>
            <a:ext cx="21122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src</a:t>
            </a:r>
            <a:r>
              <a:rPr lang="en-US" altLang="ko-KR" b="1" dirty="0" smtClean="0">
                <a:solidFill>
                  <a:srgbClr val="FF0000"/>
                </a:solidFill>
              </a:rPr>
              <a:t>/*.</a:t>
            </a:r>
            <a:r>
              <a:rPr lang="en-US" altLang="ko-KR" b="1" dirty="0" err="1" smtClean="0">
                <a:solidFill>
                  <a:srgbClr val="FF0000"/>
                </a:solidFill>
              </a:rPr>
              <a:t>ts</a:t>
            </a:r>
            <a:r>
              <a:rPr lang="ko-KR" altLang="en-US" b="1" dirty="0" smtClean="0">
                <a:solidFill>
                  <a:srgbClr val="FF0000"/>
                </a:solidFill>
              </a:rPr>
              <a:t>파일을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Dist</a:t>
            </a:r>
            <a:r>
              <a:rPr lang="ko-KR" altLang="en-US" b="1" dirty="0" smtClean="0">
                <a:solidFill>
                  <a:srgbClr val="FF0000"/>
                </a:solidFill>
              </a:rPr>
              <a:t>폴더에 컴파일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시켜서 저장</a:t>
            </a:r>
            <a:r>
              <a:rPr lang="en-US" altLang="ko-KR" b="1" dirty="0" smtClean="0">
                <a:solidFill>
                  <a:srgbClr val="FF0000"/>
                </a:solidFill>
              </a:rPr>
              <a:t>(.</a:t>
            </a:r>
            <a:r>
              <a:rPr lang="en-US" altLang="ko-KR" b="1" dirty="0" err="1" smtClean="0">
                <a:solidFill>
                  <a:srgbClr val="FF0000"/>
                </a:solidFill>
              </a:rPr>
              <a:t>js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gulpfile.js</a:t>
            </a:r>
            <a:r>
              <a:rPr lang="ko-KR" altLang="en-US" sz="2400" dirty="0" smtClean="0"/>
              <a:t>의 소스분석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643050"/>
            <a:ext cx="7500990" cy="1995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>
            <a:off x="3929058" y="3786190"/>
            <a:ext cx="428628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643042" y="4357694"/>
            <a:ext cx="63451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watch-&gt;</a:t>
            </a:r>
            <a:r>
              <a:rPr lang="en-US" altLang="ko-KR" b="1" dirty="0" err="1" smtClean="0">
                <a:solidFill>
                  <a:srgbClr val="FF0000"/>
                </a:solidFill>
              </a:rPr>
              <a:t>src</a:t>
            </a:r>
            <a:r>
              <a:rPr lang="ko-KR" altLang="en-US" b="1" dirty="0" smtClean="0">
                <a:solidFill>
                  <a:srgbClr val="FF0000"/>
                </a:solidFill>
              </a:rPr>
              <a:t>폴더의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ts</a:t>
            </a:r>
            <a:r>
              <a:rPr lang="ko-KR" altLang="en-US" b="1" dirty="0" smtClean="0">
                <a:solidFill>
                  <a:srgbClr val="FF0000"/>
                </a:solidFill>
              </a:rPr>
              <a:t>파일을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컴파일해서</a:t>
            </a:r>
            <a:r>
              <a:rPr lang="ko-KR" altLang="en-US" b="1" dirty="0" smtClean="0">
                <a:solidFill>
                  <a:srgbClr val="FF0000"/>
                </a:solidFill>
              </a:rPr>
              <a:t> 생성된 </a:t>
            </a:r>
            <a:r>
              <a:rPr lang="en-US" altLang="ko-KR" b="1" dirty="0" smtClean="0">
                <a:solidFill>
                  <a:srgbClr val="FF0000"/>
                </a:solidFill>
              </a:rPr>
              <a:t>dist</a:t>
            </a:r>
            <a:r>
              <a:rPr lang="ko-KR" altLang="en-US" b="1" dirty="0" smtClean="0">
                <a:solidFill>
                  <a:srgbClr val="FF0000"/>
                </a:solidFill>
              </a:rPr>
              <a:t>폴더의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Js</a:t>
            </a:r>
            <a:r>
              <a:rPr lang="ko-KR" altLang="en-US" b="1" dirty="0" smtClean="0">
                <a:solidFill>
                  <a:srgbClr val="FF0000"/>
                </a:solidFill>
              </a:rPr>
              <a:t>파일에 소스가 변화가 되면 바로 적용이 되도록 설정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최종적으로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server,scripts,watch</a:t>
            </a:r>
            <a:r>
              <a:rPr lang="ko-KR" altLang="en-US" b="1" dirty="0" smtClean="0">
                <a:solidFill>
                  <a:srgbClr val="FF0000"/>
                </a:solidFill>
              </a:rPr>
              <a:t>순으로 실행이 되도록 설정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dirty="0" smtClean="0"/>
              <a:t>gulp </a:t>
            </a:r>
            <a:r>
              <a:rPr lang="ko-KR" altLang="en-US" sz="2400" dirty="0" smtClean="0"/>
              <a:t>명령어 실행 시 오류처리</a:t>
            </a:r>
            <a:r>
              <a:rPr lang="en-US" altLang="ko-KR" sz="2400" dirty="0" smtClean="0"/>
              <a:t>(1)</a:t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FF0000"/>
                </a:solidFill>
              </a:rPr>
              <a:t>typescript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를 전역으로 설치해도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glup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의 경우에는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/>
            </a:r>
            <a:br>
              <a:rPr lang="en-US" altLang="ko-KR" sz="2400" b="1" dirty="0" smtClean="0">
                <a:solidFill>
                  <a:srgbClr val="FF0000"/>
                </a:solidFill>
              </a:rPr>
            </a:br>
            <a:r>
              <a:rPr lang="ko-KR" altLang="en-US" sz="2400" b="1" dirty="0" smtClean="0">
                <a:solidFill>
                  <a:srgbClr val="FF0000"/>
                </a:solidFill>
              </a:rPr>
              <a:t>지역으로 다시 한번 설치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해야한다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.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2071678"/>
            <a:ext cx="7929586" cy="3716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오른쪽 화살표 4"/>
          <p:cNvSpPr/>
          <p:nvPr/>
        </p:nvSpPr>
        <p:spPr>
          <a:xfrm>
            <a:off x="3714744" y="2571744"/>
            <a:ext cx="357190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214810" y="2357430"/>
            <a:ext cx="4241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typescript</a:t>
            </a:r>
            <a:r>
              <a:rPr lang="ko-KR" altLang="en-US" b="1" dirty="0" smtClean="0">
                <a:solidFill>
                  <a:srgbClr val="FF0000"/>
                </a:solidFill>
              </a:rPr>
              <a:t>폴더에 실행시킬 </a:t>
            </a:r>
            <a:r>
              <a:rPr lang="en-US" altLang="ko-KR" b="1" dirty="0" smtClean="0">
                <a:solidFill>
                  <a:srgbClr val="FF0000"/>
                </a:solidFill>
              </a:rPr>
              <a:t>gulp</a:t>
            </a:r>
            <a:r>
              <a:rPr lang="ko-KR" altLang="en-US" b="1" dirty="0" smtClean="0">
                <a:solidFill>
                  <a:srgbClr val="FF0000"/>
                </a:solidFill>
              </a:rPr>
              <a:t>파일이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없어서 에러유발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오른쪽 화살표 6"/>
          <p:cNvSpPr/>
          <p:nvPr/>
        </p:nvSpPr>
        <p:spPr>
          <a:xfrm>
            <a:off x="3857620" y="5214950"/>
            <a:ext cx="42862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429124" y="5214950"/>
            <a:ext cx="3829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typescript</a:t>
            </a:r>
            <a:r>
              <a:rPr lang="ko-KR" altLang="en-US" b="1" dirty="0" smtClean="0">
                <a:solidFill>
                  <a:srgbClr val="FF0000"/>
                </a:solidFill>
              </a:rPr>
              <a:t>가 설치가 안되어 있어서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발생된 에러유발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gulp </a:t>
            </a:r>
            <a:r>
              <a:rPr lang="ko-KR" altLang="en-US" sz="2400" dirty="0" smtClean="0"/>
              <a:t>명령어 실행 시 오류처리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000240"/>
            <a:ext cx="8072494" cy="3046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gulp </a:t>
            </a:r>
            <a:r>
              <a:rPr lang="ko-KR" altLang="en-US" sz="2400" dirty="0" smtClean="0"/>
              <a:t>명령어 실행 시 오류처리</a:t>
            </a:r>
            <a:r>
              <a:rPr lang="en-US" altLang="ko-KR" sz="2400" dirty="0" smtClean="0"/>
              <a:t>(3)</a:t>
            </a:r>
            <a:endParaRPr lang="ko-KR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357298"/>
            <a:ext cx="7591425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4500570"/>
            <a:ext cx="7429552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오른쪽 화살표 5"/>
          <p:cNvSpPr/>
          <p:nvPr/>
        </p:nvSpPr>
        <p:spPr>
          <a:xfrm rot="8360925">
            <a:off x="5622112" y="5725446"/>
            <a:ext cx="357190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gulp </a:t>
            </a:r>
            <a:r>
              <a:rPr lang="ko-KR" altLang="en-US" sz="2400" dirty="0" smtClean="0"/>
              <a:t>명령어로 서버가동</a:t>
            </a:r>
            <a:endParaRPr lang="ko-KR" alt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3372" y="4000504"/>
            <a:ext cx="4729948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3" y="1643051"/>
            <a:ext cx="4000528" cy="214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오른쪽 화살표 5"/>
          <p:cNvSpPr/>
          <p:nvPr/>
        </p:nvSpPr>
        <p:spPr>
          <a:xfrm rot="2600072">
            <a:off x="3589074" y="3946272"/>
            <a:ext cx="428628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기존의 소스코드가 변경되면 실시간으로 반영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928802"/>
            <a:ext cx="577215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71802" y="3429000"/>
            <a:ext cx="5495946" cy="3207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 rot="19429187">
            <a:off x="2113815" y="3256833"/>
            <a:ext cx="571504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 rot="16200000">
            <a:off x="2357422" y="6000768"/>
            <a:ext cx="571504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42844" y="5929330"/>
            <a:ext cx="2194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변경된 사항을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바로 반영해서 출력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596" y="3714752"/>
            <a:ext cx="19240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42976" y="4929198"/>
            <a:ext cx="18669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오른쪽 화살표 10"/>
          <p:cNvSpPr/>
          <p:nvPr/>
        </p:nvSpPr>
        <p:spPr>
          <a:xfrm rot="3359679">
            <a:off x="1452715" y="4615265"/>
            <a:ext cx="42862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크롬으로 접속</a:t>
            </a:r>
            <a:r>
              <a:rPr lang="en-US" altLang="ko-KR" sz="2400" dirty="0" smtClean="0"/>
              <a:t>(localhost:9400)-&gt;index.html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857364"/>
            <a:ext cx="1457325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 rot="4472228">
            <a:off x="1887692" y="3123778"/>
            <a:ext cx="285752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1736" y="2000240"/>
            <a:ext cx="51435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43174" y="3071810"/>
            <a:ext cx="5893661" cy="3305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아래쪽 화살표 7"/>
          <p:cNvSpPr/>
          <p:nvPr/>
        </p:nvSpPr>
        <p:spPr>
          <a:xfrm rot="5196531">
            <a:off x="4996160" y="5544025"/>
            <a:ext cx="252949" cy="2458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653272" y="5543100"/>
            <a:ext cx="169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요소 검사로 확인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아래쪽 화살표 9"/>
          <p:cNvSpPr/>
          <p:nvPr/>
        </p:nvSpPr>
        <p:spPr>
          <a:xfrm>
            <a:off x="5072066" y="2500306"/>
            <a:ext cx="428628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아래쪽 화살표 10"/>
          <p:cNvSpPr/>
          <p:nvPr/>
        </p:nvSpPr>
        <p:spPr>
          <a:xfrm>
            <a:off x="1285852" y="3786190"/>
            <a:ext cx="285752" cy="2857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42844" y="4214818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typescript/index.html </a:t>
            </a:r>
            <a:r>
              <a:rPr lang="ko-KR" altLang="en-US" b="1" dirty="0" smtClean="0">
                <a:solidFill>
                  <a:srgbClr val="FF0000"/>
                </a:solidFill>
              </a:rPr>
              <a:t>을 작성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크롬에 </a:t>
            </a:r>
            <a:r>
              <a:rPr lang="en-US" altLang="ko-KR" sz="2400" dirty="0" smtClean="0"/>
              <a:t>live reload extension </a:t>
            </a:r>
            <a:r>
              <a:rPr lang="ko-KR" altLang="en-US" sz="2400" dirty="0" smtClean="0"/>
              <a:t>프로그램을 추가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1714488"/>
            <a:ext cx="6591300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아래쪽 화살표 7"/>
          <p:cNvSpPr/>
          <p:nvPr/>
        </p:nvSpPr>
        <p:spPr>
          <a:xfrm rot="2029606">
            <a:off x="5266299" y="3571372"/>
            <a:ext cx="428628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크롬에 </a:t>
            </a:r>
            <a:r>
              <a:rPr lang="en-US" altLang="ko-KR" sz="2400" dirty="0" smtClean="0"/>
              <a:t>live reload extension </a:t>
            </a:r>
            <a:r>
              <a:rPr lang="ko-KR" altLang="en-US" sz="2400" dirty="0" smtClean="0"/>
              <a:t>프로그램을 추가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785927"/>
            <a:ext cx="7715272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728" y="3429000"/>
            <a:ext cx="3533775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 rot="2502473">
            <a:off x="4993697" y="2954820"/>
            <a:ext cx="428628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 rot="2502473">
            <a:off x="3350622" y="4455019"/>
            <a:ext cx="428628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86380" y="4500570"/>
            <a:ext cx="356235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오른쪽 화살표 8"/>
          <p:cNvSpPr/>
          <p:nvPr/>
        </p:nvSpPr>
        <p:spPr>
          <a:xfrm>
            <a:off x="4572000" y="5500702"/>
            <a:ext cx="428628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크롬에 </a:t>
            </a:r>
            <a:r>
              <a:rPr lang="en-US" altLang="ko-KR" sz="2400" dirty="0" smtClean="0"/>
              <a:t>live reload extension </a:t>
            </a:r>
            <a:r>
              <a:rPr lang="ko-KR" altLang="en-US" sz="2400" dirty="0" smtClean="0"/>
              <a:t>프로그램을 추가</a:t>
            </a:r>
            <a:r>
              <a:rPr lang="en-US" altLang="ko-KR" sz="2400" dirty="0" smtClean="0"/>
              <a:t>(3)</a:t>
            </a:r>
            <a:endParaRPr lang="ko-KR" alt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1428737"/>
            <a:ext cx="8072494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3571876"/>
            <a:ext cx="7072362" cy="2834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 rot="5053152">
            <a:off x="7445722" y="3545053"/>
            <a:ext cx="500066" cy="7717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574340" y="4357694"/>
            <a:ext cx="15696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이 부분을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dirty="0" smtClean="0">
                <a:solidFill>
                  <a:srgbClr val="FF0000"/>
                </a:solidFill>
              </a:rPr>
              <a:t>누르면 이젠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dirty="0" smtClean="0">
                <a:solidFill>
                  <a:srgbClr val="FF0000"/>
                </a:solidFill>
              </a:rPr>
              <a:t>실시간으로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dirty="0" smtClean="0">
                <a:solidFill>
                  <a:srgbClr val="FF0000"/>
                </a:solidFill>
              </a:rPr>
              <a:t>변동사항을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dirty="0" smtClean="0">
                <a:solidFill>
                  <a:srgbClr val="FF0000"/>
                </a:solidFill>
              </a:rPr>
              <a:t>출력시켜준다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 smtClean="0"/>
              <a:t>웹상에서의</a:t>
            </a:r>
            <a:r>
              <a:rPr lang="ko-KR" altLang="en-US" sz="2400" dirty="0" smtClean="0"/>
              <a:t> 최종 실습 확인</a:t>
            </a:r>
            <a:endParaRPr lang="ko-KR" alt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3286124"/>
            <a:ext cx="6962775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1857364"/>
            <a:ext cx="44196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 rot="5117293">
            <a:off x="5017508" y="2017120"/>
            <a:ext cx="428628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57884" y="2071678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소스코드 변경 시</a:t>
            </a:r>
            <a:endParaRPr lang="ko-KR" altLang="en-US" dirty="0"/>
          </a:p>
        </p:txBody>
      </p:sp>
      <p:sp>
        <p:nvSpPr>
          <p:cNvPr id="8" name="오른쪽 화살표 7"/>
          <p:cNvSpPr/>
          <p:nvPr/>
        </p:nvSpPr>
        <p:spPr>
          <a:xfrm>
            <a:off x="3000364" y="5929330"/>
            <a:ext cx="42862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143108" y="5857892"/>
            <a:ext cx="18822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반영됨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여러 번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테스트해야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할듯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아래쪽 화살표 9"/>
          <p:cNvSpPr/>
          <p:nvPr/>
        </p:nvSpPr>
        <p:spPr>
          <a:xfrm>
            <a:off x="8215338" y="3571876"/>
            <a:ext cx="214314" cy="2143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6286512" y="2857496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한번은 클릭해줘야 된다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일반 콘솔에서의 실습</a:t>
            </a:r>
            <a:endParaRPr lang="ko-KR" altLang="en-US" sz="24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357298"/>
            <a:ext cx="8001056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4214818"/>
            <a:ext cx="3324225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오른쪽 화살표 5"/>
          <p:cNvSpPr/>
          <p:nvPr/>
        </p:nvSpPr>
        <p:spPr>
          <a:xfrm>
            <a:off x="4214810" y="4429132"/>
            <a:ext cx="500066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786314" y="4143380"/>
            <a:ext cx="421782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Src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var2.ts</a:t>
            </a:r>
            <a:r>
              <a:rPr lang="ko-KR" altLang="en-US" dirty="0" smtClean="0"/>
              <a:t>로 저장을 하면 </a:t>
            </a:r>
            <a:endParaRPr lang="en-US" altLang="ko-KR" dirty="0" smtClean="0"/>
          </a:p>
          <a:p>
            <a:r>
              <a:rPr lang="ko-KR" altLang="en-US" dirty="0" smtClean="0"/>
              <a:t>자동적으로 </a:t>
            </a:r>
            <a:r>
              <a:rPr lang="en-US" altLang="ko-KR" dirty="0" smtClean="0"/>
              <a:t>dist</a:t>
            </a:r>
            <a:r>
              <a:rPr lang="ko-KR" altLang="en-US" dirty="0" smtClean="0"/>
              <a:t>폴더에 </a:t>
            </a:r>
            <a:r>
              <a:rPr lang="en-US" altLang="ko-KR" dirty="0" err="1" smtClean="0"/>
              <a:t>js</a:t>
            </a:r>
            <a:r>
              <a:rPr lang="ko-KR" altLang="en-US" dirty="0" smtClean="0"/>
              <a:t>파일로</a:t>
            </a:r>
            <a:endParaRPr lang="en-US" altLang="ko-KR" dirty="0" smtClean="0"/>
          </a:p>
          <a:p>
            <a:r>
              <a:rPr lang="ko-KR" altLang="en-US" dirty="0" smtClean="0"/>
              <a:t>변환이 이미 된 상태이다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node </a:t>
            </a:r>
            <a:r>
              <a:rPr lang="ko-KR" altLang="en-US" b="1" dirty="0" smtClean="0">
                <a:solidFill>
                  <a:srgbClr val="FF0000"/>
                </a:solidFill>
              </a:rPr>
              <a:t>실행시킬 자바스크립트 파일명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r>
              <a:rPr lang="en-US" altLang="ko-KR" b="1" dirty="0" err="1" smtClean="0">
                <a:solidFill>
                  <a:srgbClr val="FF0000"/>
                </a:solidFill>
              </a:rPr>
              <a:t>js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317</Words>
  <Application>Microsoft Office PowerPoint</Application>
  <PresentationFormat>화면 슬라이드 쇼(4:3)</PresentationFormat>
  <Paragraphs>75</Paragraphs>
  <Slides>21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Office 테마</vt:lpstr>
      <vt:lpstr>Typescript를 위한  gulp 설치 및 환경설정</vt:lpstr>
      <vt:lpstr>Gulp의 개요 및 사용 목적</vt:lpstr>
      <vt:lpstr>npm install –g gulp-cli</vt:lpstr>
      <vt:lpstr>npm install –g gulp-cli  (1)</vt:lpstr>
      <vt:lpstr>npm install –g gulp-cli  (2)</vt:lpstr>
      <vt:lpstr>Gulp 의 plugin을 설치</vt:lpstr>
      <vt:lpstr>npm install gulp gulp-typescript gulp-sourcemaps  gulp-webserver gulp-livereload</vt:lpstr>
      <vt:lpstr>Visual Studio code 실행 main.ts 예제 작성</vt:lpstr>
      <vt:lpstr>gulpfile.js의 소스분석(1)</vt:lpstr>
      <vt:lpstr>gulpfile.js의 소스분석(2)</vt:lpstr>
      <vt:lpstr>gulp 명령어 실행 시 오류처리(1) typescript를 전역으로 설치해도 glup의 경우에는 지역으로 다시 한번 설치 해야한다.</vt:lpstr>
      <vt:lpstr>gulp 명령어 실행 시 오류처리(2)</vt:lpstr>
      <vt:lpstr>gulp 명령어 실행 시 오류처리(3)</vt:lpstr>
      <vt:lpstr>gulp 명령어로 서버가동</vt:lpstr>
      <vt:lpstr>기존의 소스코드가 변경되면 실시간으로 반영</vt:lpstr>
      <vt:lpstr>크롬으로 접속(localhost:9400)-&gt;index.html</vt:lpstr>
      <vt:lpstr>크롬에 live reload extension 프로그램을 추가(1)</vt:lpstr>
      <vt:lpstr>크롬에 live reload extension 프로그램을 추가(2)</vt:lpstr>
      <vt:lpstr>크롬에 live reload extension 프로그램을 추가(3)</vt:lpstr>
      <vt:lpstr>웹상에서의 최종 실습 확인</vt:lpstr>
      <vt:lpstr>일반 콘솔에서의 실습</vt:lpstr>
    </vt:vector>
  </TitlesOfParts>
  <Company>R&amp;D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Microsoft Corporation</dc:creator>
  <cp:lastModifiedBy>이연수님</cp:lastModifiedBy>
  <cp:revision>38</cp:revision>
  <dcterms:created xsi:type="dcterms:W3CDTF">2006-10-05T04:04:58Z</dcterms:created>
  <dcterms:modified xsi:type="dcterms:W3CDTF">2017-09-10T17:14:21Z</dcterms:modified>
</cp:coreProperties>
</file>