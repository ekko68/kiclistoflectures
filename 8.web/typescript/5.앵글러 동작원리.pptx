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48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C690-E337-4328-B4CE-F6061A44DC0D}" type="datetimeFigureOut">
              <a:rPr lang="ko-KR" altLang="en-US" smtClean="0"/>
              <a:pPr/>
              <a:t>2017-09-04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9A40-E7AE-4362-91F5-93C93E326A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C690-E337-4328-B4CE-F6061A44DC0D}" type="datetimeFigureOut">
              <a:rPr lang="ko-KR" altLang="en-US" smtClean="0"/>
              <a:pPr/>
              <a:t>2017-09-04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9A40-E7AE-4362-91F5-93C93E326A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C690-E337-4328-B4CE-F6061A44DC0D}" type="datetimeFigureOut">
              <a:rPr lang="ko-KR" altLang="en-US" smtClean="0"/>
              <a:pPr/>
              <a:t>2017-09-04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9A40-E7AE-4362-91F5-93C93E326A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C690-E337-4328-B4CE-F6061A44DC0D}" type="datetimeFigureOut">
              <a:rPr lang="ko-KR" altLang="en-US" smtClean="0"/>
              <a:pPr/>
              <a:t>2017-09-04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9A40-E7AE-4362-91F5-93C93E326A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C690-E337-4328-B4CE-F6061A44DC0D}" type="datetimeFigureOut">
              <a:rPr lang="ko-KR" altLang="en-US" smtClean="0"/>
              <a:pPr/>
              <a:t>2017-09-04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9A40-E7AE-4362-91F5-93C93E326A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C690-E337-4328-B4CE-F6061A44DC0D}" type="datetimeFigureOut">
              <a:rPr lang="ko-KR" altLang="en-US" smtClean="0"/>
              <a:pPr/>
              <a:t>2017-09-04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9A40-E7AE-4362-91F5-93C93E326A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C690-E337-4328-B4CE-F6061A44DC0D}" type="datetimeFigureOut">
              <a:rPr lang="ko-KR" altLang="en-US" smtClean="0"/>
              <a:pPr/>
              <a:t>2017-09-04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9A40-E7AE-4362-91F5-93C93E326A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C690-E337-4328-B4CE-F6061A44DC0D}" type="datetimeFigureOut">
              <a:rPr lang="ko-KR" altLang="en-US" smtClean="0"/>
              <a:pPr/>
              <a:t>2017-09-04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9A40-E7AE-4362-91F5-93C93E326A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C690-E337-4328-B4CE-F6061A44DC0D}" type="datetimeFigureOut">
              <a:rPr lang="ko-KR" altLang="en-US" smtClean="0"/>
              <a:pPr/>
              <a:t>2017-09-04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9A40-E7AE-4362-91F5-93C93E326A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C690-E337-4328-B4CE-F6061A44DC0D}" type="datetimeFigureOut">
              <a:rPr lang="ko-KR" altLang="en-US" smtClean="0"/>
              <a:pPr/>
              <a:t>2017-09-04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9A40-E7AE-4362-91F5-93C93E326A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C690-E337-4328-B4CE-F6061A44DC0D}" type="datetimeFigureOut">
              <a:rPr lang="ko-KR" altLang="en-US" smtClean="0"/>
              <a:pPr/>
              <a:t>2017-09-04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9A40-E7AE-4362-91F5-93C93E326A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5C690-E337-4328-B4CE-F6061A44DC0D}" type="datetimeFigureOut">
              <a:rPr lang="ko-KR" altLang="en-US" smtClean="0"/>
              <a:pPr/>
              <a:t>2017-09-04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89A40-E7AE-4362-91F5-93C93E326A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3568" y="1484784"/>
            <a:ext cx="7772400" cy="1470025"/>
          </a:xfrm>
        </p:spPr>
        <p:txBody>
          <a:bodyPr>
            <a:normAutofit/>
          </a:bodyPr>
          <a:lstStyle/>
          <a:p>
            <a:r>
              <a:rPr lang="ko-KR" altLang="en-US" sz="3200" dirty="0" err="1" smtClean="0"/>
              <a:t>앵글러</a:t>
            </a:r>
            <a:r>
              <a:rPr lang="ko-KR" altLang="en-US" sz="3200" dirty="0" smtClean="0"/>
              <a:t> 동작원리</a:t>
            </a:r>
            <a:endParaRPr lang="ko-KR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1.</a:t>
            </a:r>
            <a:r>
              <a:rPr lang="ko-KR" altLang="en-US" sz="2400" dirty="0" smtClean="0"/>
              <a:t>부트스트랩과 컴파일</a:t>
            </a:r>
            <a:r>
              <a:rPr lang="en-US" altLang="ko-KR" sz="2400" dirty="0" smtClean="0"/>
              <a:t>(1)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636912"/>
            <a:ext cx="8229600" cy="396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39552" y="1484784"/>
            <a:ext cx="8470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1.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앵귤러</a:t>
            </a:r>
            <a:r>
              <a:rPr lang="ko-KR" altLang="en-US" b="1" dirty="0" smtClean="0">
                <a:solidFill>
                  <a:srgbClr val="FF0000"/>
                </a:solidFill>
              </a:rPr>
              <a:t> 애플리케이션은 부트스트랩과 함께 시작한다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2.</a:t>
            </a:r>
            <a:r>
              <a:rPr lang="ko-KR" altLang="en-US" b="1" dirty="0" smtClean="0">
                <a:solidFill>
                  <a:srgbClr val="FF0000"/>
                </a:solidFill>
              </a:rPr>
              <a:t>부트스트랩은 모듈단위로 구성된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앵귤러코드를</a:t>
            </a:r>
            <a:r>
              <a:rPr lang="ko-KR" altLang="en-US" b="1" dirty="0" smtClean="0">
                <a:solidFill>
                  <a:srgbClr val="FF0000"/>
                </a:solidFill>
              </a:rPr>
              <a:t> 브라우저에서 실행할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수있도록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   초기화하는 일련의 과정을 진행한다</a:t>
            </a:r>
            <a:r>
              <a:rPr lang="en-US" altLang="ko-KR" b="1" dirty="0" smtClean="0">
                <a:solidFill>
                  <a:srgbClr val="FF0000"/>
                </a:solidFill>
              </a:rPr>
              <a:t>. </a:t>
            </a:r>
            <a:r>
              <a:rPr lang="en-US" altLang="ko-KR" b="1" dirty="0" smtClean="0">
                <a:solidFill>
                  <a:srgbClr val="002060"/>
                </a:solidFill>
              </a:rPr>
              <a:t>(</a:t>
            </a:r>
            <a:r>
              <a:rPr lang="en-US" altLang="ko-KR" b="1" dirty="0" err="1" smtClean="0">
                <a:solidFill>
                  <a:srgbClr val="002060"/>
                </a:solidFill>
              </a:rPr>
              <a:t>src</a:t>
            </a:r>
            <a:r>
              <a:rPr lang="en-US" altLang="ko-KR" b="1" dirty="0" smtClean="0">
                <a:solidFill>
                  <a:srgbClr val="002060"/>
                </a:solidFill>
              </a:rPr>
              <a:t>/</a:t>
            </a:r>
            <a:r>
              <a:rPr lang="en-US" altLang="ko-KR" b="1" dirty="0" err="1" smtClean="0">
                <a:solidFill>
                  <a:srgbClr val="002060"/>
                </a:solidFill>
              </a:rPr>
              <a:t>main.ts</a:t>
            </a:r>
            <a:r>
              <a:rPr lang="en-US" altLang="ko-KR" b="1" dirty="0" smtClean="0">
                <a:solidFill>
                  <a:srgbClr val="002060"/>
                </a:solidFill>
              </a:rPr>
              <a:t>)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6" name="오른쪽 화살표 5"/>
          <p:cNvSpPr/>
          <p:nvPr/>
        </p:nvSpPr>
        <p:spPr>
          <a:xfrm>
            <a:off x="4355976" y="5157192"/>
            <a:ext cx="504056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004048" y="4725144"/>
            <a:ext cx="35798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개발환경에서만 실행하는 불필요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err="1" smtClean="0">
                <a:solidFill>
                  <a:srgbClr val="FF0000"/>
                </a:solidFill>
              </a:rPr>
              <a:t>로한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로직을</a:t>
            </a:r>
            <a:r>
              <a:rPr lang="ko-KR" altLang="en-US" b="1" dirty="0" smtClean="0">
                <a:solidFill>
                  <a:srgbClr val="FF0000"/>
                </a:solidFill>
              </a:rPr>
              <a:t> 실행하지 말라는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옵</a:t>
            </a:r>
            <a:r>
              <a:rPr lang="ko-KR" altLang="en-US" b="1" dirty="0">
                <a:solidFill>
                  <a:srgbClr val="FF0000"/>
                </a:solidFill>
              </a:rPr>
              <a:t>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1.</a:t>
            </a:r>
            <a:r>
              <a:rPr lang="ko-KR" altLang="en-US" sz="2400" dirty="0" smtClean="0"/>
              <a:t>부트스트랩과 </a:t>
            </a:r>
            <a:r>
              <a:rPr lang="ko-KR" altLang="en-US" sz="2400" dirty="0" smtClean="0"/>
              <a:t>컴파일</a:t>
            </a:r>
            <a:r>
              <a:rPr lang="en-US" altLang="ko-KR" sz="2400" dirty="0" smtClean="0"/>
              <a:t>(2)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1484784"/>
            <a:ext cx="8496944" cy="4320480"/>
          </a:xfrm>
        </p:spPr>
        <p:txBody>
          <a:bodyPr>
            <a:norm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1.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환경설정 파일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-&gt;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src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/environments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폴더에 존재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r>
              <a:rPr lang="en-US" altLang="ko-KR" sz="2000" b="1" dirty="0" smtClean="0">
                <a:solidFill>
                  <a:srgbClr val="002060"/>
                </a:solidFill>
              </a:rPr>
              <a:t>2.platformBrowserDynamic </a:t>
            </a:r>
            <a:r>
              <a:rPr lang="ko-KR" altLang="en-US" sz="2000" b="1" dirty="0" err="1" smtClean="0">
                <a:solidFill>
                  <a:srgbClr val="002060"/>
                </a:solidFill>
              </a:rPr>
              <a:t>메서드를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호출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altLang="ko-KR" sz="2000" b="1" dirty="0" smtClean="0">
                <a:solidFill>
                  <a:srgbClr val="002060"/>
                </a:solidFill>
              </a:rPr>
              <a:t>    (</a:t>
            </a:r>
            <a:r>
              <a:rPr lang="ko-KR" altLang="en-US" sz="2000" b="1" dirty="0" err="1" smtClean="0">
                <a:solidFill>
                  <a:srgbClr val="002060"/>
                </a:solidFill>
              </a:rPr>
              <a:t>앵귤러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애플리케이션이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실행될 플랫폼을 브라우저로 지정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하는 목적과 애플리케이션의 부트스트랩을 위한 객체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(</a:t>
            </a:r>
            <a:r>
              <a:rPr lang="en-US" altLang="ko-KR" sz="2000" b="1" dirty="0" err="1" smtClean="0">
                <a:solidFill>
                  <a:srgbClr val="002060"/>
                </a:solidFill>
              </a:rPr>
              <a:t>PlatformRef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) 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를 반환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altLang="ko-KR" sz="2000" b="1" dirty="0" smtClean="0">
                <a:solidFill>
                  <a:srgbClr val="002060"/>
                </a:solidFill>
              </a:rPr>
              <a:t>    3. </a:t>
            </a:r>
            <a:r>
              <a:rPr lang="ko-KR" altLang="en-US" sz="2000" b="1" dirty="0" err="1" smtClean="0">
                <a:solidFill>
                  <a:srgbClr val="002060"/>
                </a:solidFill>
              </a:rPr>
              <a:t>앵귤러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-&gt;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단일 페이지 애플리케이션</a:t>
            </a:r>
            <a:endParaRPr lang="en-US" altLang="ko-KR" sz="2000" b="1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   4. </a:t>
            </a:r>
            <a:r>
              <a:rPr lang="en-US" altLang="ko-KR" sz="2000" b="1" dirty="0" err="1" smtClean="0">
                <a:solidFill>
                  <a:srgbClr val="002060"/>
                </a:solidFill>
              </a:rPr>
              <a:t>PlatformRef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=&gt; 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애플리케이션이 실행될 플랫폼에 맞게 </a:t>
            </a:r>
            <a:r>
              <a:rPr lang="ko-KR" altLang="en-US" sz="2000" b="1" dirty="0" err="1" smtClean="0">
                <a:solidFill>
                  <a:srgbClr val="002060"/>
                </a:solidFill>
              </a:rPr>
              <a:t>앵귤러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</a:t>
            </a:r>
            <a:endParaRPr lang="en-US" altLang="ko-KR" sz="2000" b="1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                            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모듈을 </a:t>
            </a:r>
            <a:r>
              <a:rPr lang="ko-KR" altLang="en-US" sz="2000" b="1" dirty="0" err="1" smtClean="0">
                <a:solidFill>
                  <a:srgbClr val="002060"/>
                </a:solidFill>
              </a:rPr>
              <a:t>부트스트랩하는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것</a:t>
            </a:r>
            <a:endParaRPr lang="en-US" altLang="ko-KR" sz="2000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US" altLang="ko-KR" sz="2000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altLang="ko-KR" sz="2000" b="1" dirty="0" smtClean="0">
                <a:solidFill>
                  <a:srgbClr val="002060"/>
                </a:solidFill>
              </a:rPr>
              <a:t>    5.bootstrapModule-&gt;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최초로 실행할 하나의 모듈을 인자로 받음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altLang="ko-KR" sz="2000" b="1" dirty="0" smtClean="0">
                <a:solidFill>
                  <a:srgbClr val="002060"/>
                </a:solidFill>
              </a:rPr>
              <a:t>                                  (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루트모듈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)</a:t>
            </a:r>
            <a:br>
              <a:rPr lang="en-US" altLang="ko-KR" sz="2000" b="1" dirty="0" smtClean="0">
                <a:solidFill>
                  <a:srgbClr val="002060"/>
                </a:solidFill>
              </a:rPr>
            </a:br>
            <a:endParaRPr lang="en-US" altLang="ko-KR" sz="2000" b="1" dirty="0" smtClean="0">
              <a:solidFill>
                <a:srgbClr val="002060"/>
              </a:solidFill>
            </a:endParaRPr>
          </a:p>
          <a:p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아래쪽 화살표 4"/>
          <p:cNvSpPr/>
          <p:nvPr/>
        </p:nvSpPr>
        <p:spPr>
          <a:xfrm>
            <a:off x="3851920" y="5085184"/>
            <a:ext cx="432048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835696" y="5661248"/>
            <a:ext cx="54409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이 모듈을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bootstrapModule</a:t>
            </a:r>
            <a:r>
              <a:rPr lang="ko-KR" altLang="en-US" b="1" dirty="0" smtClean="0">
                <a:solidFill>
                  <a:srgbClr val="FF0000"/>
                </a:solidFill>
              </a:rPr>
              <a:t>에 인자로 전달하면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이후는 알아서 루트모듈에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임포트한</a:t>
            </a:r>
            <a:r>
              <a:rPr lang="ko-KR" altLang="en-US" b="1" dirty="0" smtClean="0">
                <a:solidFill>
                  <a:srgbClr val="FF0000"/>
                </a:solidFill>
              </a:rPr>
              <a:t> 다른 모듈까지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순서대로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부트스트랩한다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2.JIT(Just In Time) </a:t>
            </a:r>
            <a:r>
              <a:rPr lang="ko-KR" altLang="en-US" sz="2400" dirty="0" smtClean="0"/>
              <a:t>컴파일 과정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ko-KR" altLang="en-US" sz="2400" b="1" dirty="0" smtClean="0">
                <a:solidFill>
                  <a:srgbClr val="7030A0"/>
                </a:solidFill>
              </a:rPr>
              <a:t>브라우저상에서 </a:t>
            </a:r>
            <a:r>
              <a:rPr lang="ko-KR" altLang="en-US" sz="2400" b="1" dirty="0" err="1" smtClean="0">
                <a:solidFill>
                  <a:srgbClr val="7030A0"/>
                </a:solidFill>
              </a:rPr>
              <a:t>컴파일하는</a:t>
            </a:r>
            <a:r>
              <a:rPr lang="ko-KR" altLang="en-US" sz="2400" b="1" dirty="0" smtClean="0">
                <a:solidFill>
                  <a:srgbClr val="7030A0"/>
                </a:solidFill>
              </a:rPr>
              <a:t> 과정을 표현하는 용어</a:t>
            </a:r>
            <a:endParaRPr lang="ko-KR" altLang="en-US" sz="2400" b="1" dirty="0">
              <a:solidFill>
                <a:srgbClr val="7030A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 smtClean="0"/>
              <a:t>부트스트랩의 </a:t>
            </a:r>
            <a:r>
              <a:rPr lang="ko-KR" altLang="en-US" sz="2000" dirty="0" err="1" smtClean="0"/>
              <a:t>첫번째</a:t>
            </a:r>
            <a:r>
              <a:rPr lang="ko-KR" altLang="en-US" sz="2000" dirty="0" smtClean="0"/>
              <a:t> 과정</a:t>
            </a:r>
            <a:r>
              <a:rPr lang="en-US" altLang="ko-KR" sz="2000" dirty="0" smtClean="0"/>
              <a:t>-&gt;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컴파일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(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타입스크립트 코드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-&gt;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컴파일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X)</a:t>
            </a:r>
          </a:p>
          <a:p>
            <a:r>
              <a:rPr lang="ko-KR" altLang="en-US" sz="2000" b="1" dirty="0" smtClean="0">
                <a:solidFill>
                  <a:srgbClr val="002060"/>
                </a:solidFill>
              </a:rPr>
              <a:t>컴포넌트의 템플릿을 자바스크립트 코드로 변환하는 것</a:t>
            </a:r>
            <a:endParaRPr lang="en-US" altLang="ko-KR" sz="2000" b="1" dirty="0" smtClean="0">
              <a:solidFill>
                <a:srgbClr val="002060"/>
              </a:solidFill>
            </a:endParaRPr>
          </a:p>
          <a:p>
            <a:r>
              <a:rPr lang="ko-KR" altLang="en-US" sz="2000" b="1" dirty="0" smtClean="0">
                <a:solidFill>
                  <a:srgbClr val="FF0000"/>
                </a:solidFill>
              </a:rPr>
              <a:t>타입스크립트로 작성한 소스는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앵귤러의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CLI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로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빌드하는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과정에서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r>
              <a:rPr lang="ko-KR" altLang="en-US" sz="2000" b="1" dirty="0" smtClean="0">
                <a:solidFill>
                  <a:srgbClr val="FF0000"/>
                </a:solidFill>
              </a:rPr>
              <a:t>이미 자바스크립트로 변환된다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.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3212976"/>
            <a:ext cx="8165976" cy="3237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오른쪽 화살표 4"/>
          <p:cNvSpPr/>
          <p:nvPr/>
        </p:nvSpPr>
        <p:spPr>
          <a:xfrm>
            <a:off x="5148064" y="5301208"/>
            <a:ext cx="504056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940152" y="5301208"/>
            <a:ext cx="34307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7030A0"/>
                </a:solidFill>
              </a:rPr>
              <a:t>AppMoudle</a:t>
            </a:r>
            <a:r>
              <a:rPr lang="ko-KR" altLang="en-US" b="1" dirty="0" smtClean="0">
                <a:solidFill>
                  <a:srgbClr val="7030A0"/>
                </a:solidFill>
              </a:rPr>
              <a:t>이 컴파일 된 것임</a:t>
            </a:r>
            <a:endParaRPr lang="en-US" altLang="ko-KR" b="1" dirty="0" smtClean="0">
              <a:solidFill>
                <a:srgbClr val="7030A0"/>
              </a:solidFill>
            </a:endParaRPr>
          </a:p>
          <a:p>
            <a:r>
              <a:rPr lang="ko-KR" altLang="en-US" b="1" dirty="0" smtClean="0">
                <a:solidFill>
                  <a:srgbClr val="7030A0"/>
                </a:solidFill>
              </a:rPr>
              <a:t>컴포넌트 객체를 생성할 </a:t>
            </a:r>
            <a:r>
              <a:rPr lang="ko-KR" altLang="en-US" b="1" dirty="0" err="1" smtClean="0">
                <a:solidFill>
                  <a:srgbClr val="7030A0"/>
                </a:solidFill>
              </a:rPr>
              <a:t>팩토리</a:t>
            </a:r>
            <a:endParaRPr lang="en-US" altLang="ko-KR" b="1" dirty="0" smtClean="0">
              <a:solidFill>
                <a:srgbClr val="7030A0"/>
              </a:solidFill>
            </a:endParaRPr>
          </a:p>
          <a:p>
            <a:r>
              <a:rPr lang="ko-KR" altLang="en-US" b="1" dirty="0" smtClean="0">
                <a:solidFill>
                  <a:srgbClr val="7030A0"/>
                </a:solidFill>
              </a:rPr>
              <a:t>객체</a:t>
            </a:r>
            <a:r>
              <a:rPr lang="en-US" altLang="ko-KR" b="1" dirty="0" smtClean="0">
                <a:solidFill>
                  <a:srgbClr val="7030A0"/>
                </a:solidFill>
              </a:rPr>
              <a:t>,</a:t>
            </a:r>
            <a:r>
              <a:rPr lang="ko-KR" altLang="en-US" b="1" dirty="0" smtClean="0">
                <a:solidFill>
                  <a:srgbClr val="7030A0"/>
                </a:solidFill>
              </a:rPr>
              <a:t>해당컴포넌트 </a:t>
            </a:r>
            <a:r>
              <a:rPr lang="ko-KR" altLang="en-US" b="1" dirty="0" err="1" smtClean="0">
                <a:solidFill>
                  <a:srgbClr val="7030A0"/>
                </a:solidFill>
              </a:rPr>
              <a:t>뷰를</a:t>
            </a:r>
            <a:r>
              <a:rPr lang="ko-KR" altLang="en-US" b="1" dirty="0" smtClean="0">
                <a:solidFill>
                  <a:srgbClr val="7030A0"/>
                </a:solidFill>
              </a:rPr>
              <a:t> </a:t>
            </a:r>
            <a:r>
              <a:rPr lang="ko-KR" altLang="en-US" b="1" dirty="0" err="1" smtClean="0">
                <a:solidFill>
                  <a:srgbClr val="7030A0"/>
                </a:solidFill>
              </a:rPr>
              <a:t>랜더링</a:t>
            </a:r>
            <a:endParaRPr lang="en-US" altLang="ko-KR" b="1" dirty="0" smtClean="0">
              <a:solidFill>
                <a:srgbClr val="7030A0"/>
              </a:solidFill>
            </a:endParaRPr>
          </a:p>
          <a:p>
            <a:r>
              <a:rPr lang="ko-KR" altLang="en-US" b="1" dirty="0" smtClean="0">
                <a:solidFill>
                  <a:srgbClr val="7030A0"/>
                </a:solidFill>
              </a:rPr>
              <a:t>할 </a:t>
            </a:r>
            <a:r>
              <a:rPr lang="ko-KR" altLang="en-US" b="1" dirty="0" err="1" smtClean="0">
                <a:solidFill>
                  <a:srgbClr val="7030A0"/>
                </a:solidFill>
              </a:rPr>
              <a:t>객체등을</a:t>
            </a:r>
            <a:r>
              <a:rPr lang="ko-KR" altLang="en-US" b="1" dirty="0" smtClean="0">
                <a:solidFill>
                  <a:srgbClr val="7030A0"/>
                </a:solidFill>
              </a:rPr>
              <a:t> 자바스크립트코드</a:t>
            </a:r>
            <a:endParaRPr lang="en-US" altLang="ko-KR" b="1" dirty="0" smtClean="0">
              <a:solidFill>
                <a:srgbClr val="7030A0"/>
              </a:solidFill>
            </a:endParaRPr>
          </a:p>
          <a:p>
            <a:r>
              <a:rPr lang="ko-KR" altLang="en-US" b="1" dirty="0" err="1" smtClean="0">
                <a:solidFill>
                  <a:srgbClr val="7030A0"/>
                </a:solidFill>
              </a:rPr>
              <a:t>로</a:t>
            </a:r>
            <a:r>
              <a:rPr lang="ko-KR" altLang="en-US" b="1" dirty="0" smtClean="0">
                <a:solidFill>
                  <a:srgbClr val="7030A0"/>
                </a:solidFill>
              </a:rPr>
              <a:t> </a:t>
            </a:r>
            <a:r>
              <a:rPr lang="ko-KR" altLang="en-US" b="1" dirty="0" err="1" smtClean="0">
                <a:solidFill>
                  <a:srgbClr val="7030A0"/>
                </a:solidFill>
              </a:rPr>
              <a:t>컴파일한다</a:t>
            </a:r>
            <a:r>
              <a:rPr lang="en-US" altLang="ko-KR" b="1" dirty="0" smtClean="0">
                <a:solidFill>
                  <a:srgbClr val="7030A0"/>
                </a:solidFill>
              </a:rPr>
              <a:t>.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3.</a:t>
            </a:r>
            <a:r>
              <a:rPr lang="ko-KR" altLang="en-US" sz="2400" dirty="0" smtClean="0"/>
              <a:t>예제를 </a:t>
            </a:r>
            <a:r>
              <a:rPr lang="ko-KR" altLang="en-US" sz="2400" dirty="0" err="1" smtClean="0"/>
              <a:t>실행후</a:t>
            </a:r>
            <a:r>
              <a:rPr lang="ko-KR" altLang="en-US" sz="2400" dirty="0" smtClean="0"/>
              <a:t> 크롬의 </a:t>
            </a:r>
            <a:r>
              <a:rPr lang="en-US" altLang="ko-KR" sz="2400" dirty="0" smtClean="0"/>
              <a:t>F12</a:t>
            </a:r>
            <a:r>
              <a:rPr lang="ko-KR" altLang="en-US" sz="2400" dirty="0" smtClean="0"/>
              <a:t>를 이용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44824"/>
            <a:ext cx="8136904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 rot="18018398">
            <a:off x="5175387" y="5041602"/>
            <a:ext cx="437706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364088" y="6165304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ng</a:t>
            </a:r>
            <a:r>
              <a:rPr lang="en-US" altLang="ko-KR" b="1" dirty="0" smtClean="0">
                <a:solidFill>
                  <a:srgbClr val="FF0000"/>
                </a:solidFill>
              </a:rPr>
              <a:t>://</a:t>
            </a:r>
            <a:r>
              <a:rPr lang="ko-KR" altLang="en-US" b="1" dirty="0" smtClean="0">
                <a:solidFill>
                  <a:srgbClr val="FF0000"/>
                </a:solidFill>
              </a:rPr>
              <a:t>영역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4.JIT </a:t>
            </a:r>
            <a:r>
              <a:rPr lang="ko-KR" altLang="en-US" sz="2400" dirty="0" smtClean="0"/>
              <a:t>컴파일러의 문제점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b="1" dirty="0" err="1" smtClean="0">
                <a:solidFill>
                  <a:srgbClr val="FF0000"/>
                </a:solidFill>
              </a:rPr>
              <a:t>npm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i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 –g source-map-explorer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972815"/>
          </a:xfrm>
        </p:spPr>
        <p:txBody>
          <a:bodyPr>
            <a:normAutofit/>
          </a:bodyPr>
          <a:lstStyle/>
          <a:p>
            <a:r>
              <a:rPr lang="ko-KR" altLang="en-US" sz="2000" dirty="0" smtClean="0"/>
              <a:t>최초 애플리케이션 실행까지의 지연이 발생</a:t>
            </a:r>
            <a:endParaRPr lang="en-US" altLang="ko-KR" sz="2000" dirty="0" smtClean="0"/>
          </a:p>
          <a:p>
            <a:r>
              <a:rPr lang="en-US" altLang="ko-KR" sz="2000" b="1" dirty="0" smtClean="0">
                <a:solidFill>
                  <a:srgbClr val="7030A0"/>
                </a:solidFill>
              </a:rPr>
              <a:t>-&gt;@angular/compiler”-&gt;</a:t>
            </a:r>
            <a:r>
              <a:rPr lang="ko-KR" altLang="en-US" sz="2000" b="1" dirty="0" smtClean="0">
                <a:solidFill>
                  <a:srgbClr val="7030A0"/>
                </a:solidFill>
              </a:rPr>
              <a:t>최초 </a:t>
            </a:r>
            <a:r>
              <a:rPr lang="en-US" altLang="ko-KR" sz="2000" b="1" dirty="0" smtClean="0">
                <a:solidFill>
                  <a:srgbClr val="7030A0"/>
                </a:solidFill>
              </a:rPr>
              <a:t>JIT </a:t>
            </a:r>
            <a:r>
              <a:rPr lang="ko-KR" altLang="en-US" sz="2000" b="1" dirty="0" err="1" smtClean="0">
                <a:solidFill>
                  <a:srgbClr val="7030A0"/>
                </a:solidFill>
              </a:rPr>
              <a:t>컴파일시를</a:t>
            </a:r>
            <a:r>
              <a:rPr lang="ko-KR" altLang="en-US" sz="2000" b="1" dirty="0" smtClean="0">
                <a:solidFill>
                  <a:srgbClr val="7030A0"/>
                </a:solidFill>
              </a:rPr>
              <a:t> 제외하면 실제 애플</a:t>
            </a:r>
            <a:endParaRPr lang="en-US" altLang="ko-KR" sz="2000" b="1" dirty="0" smtClean="0">
              <a:solidFill>
                <a:srgbClr val="7030A0"/>
              </a:solidFill>
            </a:endParaRPr>
          </a:p>
          <a:p>
            <a:r>
              <a:rPr lang="en-US" altLang="ko-KR" sz="2000" b="1" dirty="0">
                <a:solidFill>
                  <a:srgbClr val="7030A0"/>
                </a:solidFill>
              </a:rPr>
              <a:t> </a:t>
            </a:r>
            <a:r>
              <a:rPr lang="en-US" altLang="ko-KR" sz="2000" b="1" dirty="0" smtClean="0">
                <a:solidFill>
                  <a:srgbClr val="7030A0"/>
                </a:solidFill>
              </a:rPr>
              <a:t>                               </a:t>
            </a:r>
            <a:r>
              <a:rPr lang="ko-KR" altLang="en-US" sz="2000" b="1" dirty="0" err="1" smtClean="0">
                <a:solidFill>
                  <a:srgbClr val="7030A0"/>
                </a:solidFill>
              </a:rPr>
              <a:t>리케이션</a:t>
            </a:r>
            <a:r>
              <a:rPr lang="ko-KR" altLang="en-US" sz="2000" b="1" dirty="0" smtClean="0">
                <a:solidFill>
                  <a:srgbClr val="7030A0"/>
                </a:solidFill>
              </a:rPr>
              <a:t> </a:t>
            </a:r>
            <a:r>
              <a:rPr lang="ko-KR" altLang="en-US" sz="2000" b="1" dirty="0" err="1" smtClean="0">
                <a:solidFill>
                  <a:srgbClr val="7030A0"/>
                </a:solidFill>
              </a:rPr>
              <a:t>로직과는</a:t>
            </a:r>
            <a:r>
              <a:rPr lang="ko-KR" altLang="en-US" sz="2000" b="1" dirty="0" smtClean="0">
                <a:solidFill>
                  <a:srgbClr val="7030A0"/>
                </a:solidFill>
              </a:rPr>
              <a:t> 아무런 관련이 없다</a:t>
            </a:r>
            <a:r>
              <a:rPr lang="en-US" altLang="ko-KR" sz="2000" b="1" dirty="0" smtClean="0">
                <a:solidFill>
                  <a:srgbClr val="7030A0"/>
                </a:solidFill>
              </a:rPr>
              <a:t>.</a:t>
            </a:r>
          </a:p>
          <a:p>
            <a:r>
              <a:rPr lang="ko-KR" altLang="en-US" sz="2000" dirty="0" err="1" smtClean="0"/>
              <a:t>번들링된</a:t>
            </a:r>
            <a:r>
              <a:rPr lang="ko-KR" altLang="en-US" sz="2000" dirty="0" smtClean="0"/>
              <a:t>  결과물의 크기</a:t>
            </a:r>
            <a:endParaRPr lang="en-US" altLang="ko-KR" sz="2000" dirty="0" smtClean="0"/>
          </a:p>
          <a:p>
            <a:r>
              <a:rPr lang="ko-KR" altLang="en-US" sz="2000" dirty="0" smtClean="0"/>
              <a:t>측정하는 도구로 </a:t>
            </a:r>
            <a:r>
              <a:rPr lang="en-US" altLang="ko-KR" sz="2000" dirty="0"/>
              <a:t> </a:t>
            </a:r>
            <a:r>
              <a:rPr lang="en-US" altLang="ko-KR" sz="2000" dirty="0" smtClean="0"/>
              <a:t> </a:t>
            </a:r>
            <a:r>
              <a:rPr lang="en-US" altLang="ko-KR" sz="2000" b="1" dirty="0" smtClean="0">
                <a:solidFill>
                  <a:srgbClr val="7030A0"/>
                </a:solidFill>
              </a:rPr>
              <a:t>source-map-explorer</a:t>
            </a:r>
            <a:r>
              <a:rPr lang="ko-KR" altLang="en-US" sz="2000" dirty="0" smtClean="0"/>
              <a:t>를 설치한다</a:t>
            </a:r>
            <a:r>
              <a:rPr lang="en-US" altLang="ko-KR" sz="2000" dirty="0" smtClean="0"/>
              <a:t>.</a:t>
            </a:r>
          </a:p>
          <a:p>
            <a:pPr>
              <a:buNone/>
            </a:pPr>
            <a:endParaRPr lang="en-US" altLang="ko-KR" sz="2000" dirty="0" smtClean="0"/>
          </a:p>
          <a:p>
            <a:endParaRPr lang="en-US" altLang="ko-KR" sz="2000" dirty="0"/>
          </a:p>
          <a:p>
            <a:endParaRPr lang="ko-KR" altLang="en-US" sz="20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3789040"/>
            <a:ext cx="7776864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5.source-map-explorer</a:t>
            </a:r>
            <a:r>
              <a:rPr lang="ko-KR" altLang="en-US" sz="2400" dirty="0" smtClean="0"/>
              <a:t>로 크기측정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(</a:t>
            </a:r>
            <a:r>
              <a:rPr lang="en-US" altLang="ko-KR" sz="2400" dirty="0" err="1" smtClean="0"/>
              <a:t>ng</a:t>
            </a:r>
            <a:r>
              <a:rPr lang="en-US" altLang="ko-KR" sz="2400" dirty="0" smtClean="0"/>
              <a:t> build </a:t>
            </a:r>
            <a:r>
              <a:rPr lang="ko-KR" altLang="en-US" sz="2400" dirty="0" smtClean="0"/>
              <a:t>명령어로 프로젝트를 </a:t>
            </a:r>
            <a:r>
              <a:rPr lang="ko-KR" altLang="en-US" sz="2400" dirty="0" err="1" smtClean="0"/>
              <a:t>빌드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12776"/>
            <a:ext cx="8100392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dirty="0" smtClean="0"/>
              <a:t>6.source-map-explorer</a:t>
            </a:r>
            <a:r>
              <a:rPr lang="ko-KR" altLang="en-US" sz="2400" dirty="0" smtClean="0"/>
              <a:t>로 </a:t>
            </a:r>
            <a:r>
              <a:rPr lang="ko-KR" altLang="en-US" sz="2400" dirty="0" err="1" smtClean="0"/>
              <a:t>빌드된</a:t>
            </a:r>
            <a:r>
              <a:rPr lang="ko-KR" altLang="en-US" sz="2400" dirty="0" smtClean="0"/>
              <a:t> 결과물의 사이즈를 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ko-KR" altLang="en-US" sz="2400" dirty="0" err="1" smtClean="0"/>
              <a:t>패키지별로</a:t>
            </a:r>
            <a:r>
              <a:rPr lang="ko-KR" altLang="en-US" sz="2400" dirty="0" smtClean="0"/>
              <a:t> 측정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b="1" dirty="0" smtClean="0">
                <a:solidFill>
                  <a:srgbClr val="FF0000"/>
                </a:solidFill>
              </a:rPr>
              <a:t>source-map-explorer dist/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vendor.bundle.js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628800"/>
            <a:ext cx="7848872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 rot="4593516">
            <a:off x="2555776" y="3501008"/>
            <a:ext cx="50405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99592" y="4005064"/>
            <a:ext cx="2343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자동으로 브라우저로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결과를 출력</a:t>
            </a:r>
            <a:endParaRPr lang="en-US" altLang="ko-KR" b="1" dirty="0" smtClean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8224" y="4149080"/>
            <a:ext cx="20056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전체 </a:t>
            </a:r>
            <a:r>
              <a:rPr lang="en-US" altLang="ko-KR" b="1" dirty="0" smtClean="0">
                <a:solidFill>
                  <a:srgbClr val="FF0000"/>
                </a:solidFill>
              </a:rPr>
              <a:t>1.84MB</a:t>
            </a:r>
            <a:r>
              <a:rPr lang="ko-KR" altLang="en-US" b="1" dirty="0" smtClean="0">
                <a:solidFill>
                  <a:srgbClr val="FF0000"/>
                </a:solidFill>
              </a:rPr>
              <a:t>중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1MB</a:t>
            </a:r>
            <a:r>
              <a:rPr lang="ko-KR" altLang="en-US" b="1" dirty="0" smtClean="0">
                <a:solidFill>
                  <a:srgbClr val="FF0000"/>
                </a:solidFill>
              </a:rPr>
              <a:t>를 차지한다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쓸데없는 크기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endParaRPr lang="en-US" altLang="ko-KR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7.AOT(Ahead of Time) </a:t>
            </a:r>
            <a:r>
              <a:rPr lang="ko-KR" altLang="en-US" sz="2400" dirty="0" smtClean="0"/>
              <a:t>컴파일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b="1" dirty="0" smtClean="0">
                <a:solidFill>
                  <a:srgbClr val="002060"/>
                </a:solidFill>
              </a:rPr>
              <a:t>단점 극복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-&gt;AOT 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컴파일을 사용하는 경우</a:t>
            </a:r>
            <a:endParaRPr lang="en-US" altLang="ko-KR" sz="2000" b="1" dirty="0" smtClean="0">
              <a:solidFill>
                <a:srgbClr val="002060"/>
              </a:solidFill>
            </a:endParaRPr>
          </a:p>
          <a:p>
            <a:r>
              <a:rPr lang="ko-KR" altLang="en-US" sz="2000" dirty="0" err="1" smtClean="0"/>
              <a:t>번들링</a:t>
            </a:r>
            <a:r>
              <a:rPr lang="ko-KR" altLang="en-US" sz="2000" dirty="0" smtClean="0"/>
              <a:t> 하기 전에 템플릿을 컴파일 하는 방법</a:t>
            </a:r>
            <a:endParaRPr lang="en-US" altLang="ko-KR" sz="2000" dirty="0" smtClean="0"/>
          </a:p>
          <a:p>
            <a:r>
              <a:rPr lang="en-US" altLang="ko-KR" sz="2000" b="1" dirty="0" err="1">
                <a:solidFill>
                  <a:srgbClr val="FF0000"/>
                </a:solidFill>
              </a:rPr>
              <a:t>n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g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 build --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aot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780928"/>
            <a:ext cx="8532440" cy="3688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7.AOT(Ahead of Time) </a:t>
            </a:r>
            <a:r>
              <a:rPr lang="ko-KR" altLang="en-US" sz="2400" dirty="0" smtClean="0"/>
              <a:t>컴파일</a:t>
            </a:r>
            <a:r>
              <a:rPr lang="en-US" altLang="ko-KR" sz="2400" dirty="0" smtClean="0"/>
              <a:t>(2)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 smtClean="0">
                <a:solidFill>
                  <a:srgbClr val="002060"/>
                </a:solidFill>
              </a:rPr>
              <a:t>AOT 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컴파일은 애플리케이션이 브라우저에서 실행되기 전에 </a:t>
            </a:r>
            <a:r>
              <a:rPr lang="ko-KR" altLang="en-US" sz="2000" b="1" dirty="0" err="1" smtClean="0">
                <a:solidFill>
                  <a:srgbClr val="002060"/>
                </a:solidFill>
              </a:rPr>
              <a:t>앵귤러의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소스를 자바스크립트로 변환하기 때문에 플랫폼 의존적인 동적</a:t>
            </a:r>
            <a:endParaRPr lang="en-US" altLang="ko-KR" sz="2000" b="1" dirty="0" smtClean="0">
              <a:solidFill>
                <a:srgbClr val="002060"/>
              </a:solidFill>
            </a:endParaRPr>
          </a:p>
          <a:p>
            <a:r>
              <a:rPr lang="ko-KR" altLang="en-US" sz="2000" b="1" dirty="0" smtClean="0">
                <a:solidFill>
                  <a:srgbClr val="002060"/>
                </a:solidFill>
              </a:rPr>
              <a:t>코드를 사용하면 </a:t>
            </a:r>
            <a:r>
              <a:rPr lang="ko-KR" altLang="en-US" sz="2000" b="1" dirty="0" err="1" smtClean="0">
                <a:solidFill>
                  <a:srgbClr val="002060"/>
                </a:solidFill>
              </a:rPr>
              <a:t>안된다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.</a:t>
            </a:r>
          </a:p>
          <a:p>
            <a:r>
              <a:rPr lang="en-US" altLang="ko-KR" sz="2000" b="1" dirty="0" smtClean="0">
                <a:solidFill>
                  <a:srgbClr val="002060"/>
                </a:solidFill>
              </a:rPr>
              <a:t>AOT 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컴파일은 </a:t>
            </a:r>
            <a:r>
              <a:rPr lang="ko-KR" altLang="en-US" sz="2000" b="1" dirty="0" err="1" smtClean="0">
                <a:solidFill>
                  <a:srgbClr val="002060"/>
                </a:solidFill>
              </a:rPr>
              <a:t>번들링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전에 컴파일 과정이 </a:t>
            </a:r>
            <a:r>
              <a:rPr lang="ko-KR" altLang="en-US" sz="2000" b="1" dirty="0" err="1" smtClean="0">
                <a:solidFill>
                  <a:srgbClr val="002060"/>
                </a:solidFill>
              </a:rPr>
              <a:t>이루어지기때문에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JIT 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컴파일 대비 </a:t>
            </a:r>
            <a:r>
              <a:rPr lang="ko-KR" altLang="en-US" sz="2000" b="1" dirty="0" err="1" smtClean="0">
                <a:solidFill>
                  <a:srgbClr val="002060"/>
                </a:solidFill>
              </a:rPr>
              <a:t>번들링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시간이 당연히 더 소모된다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.(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단점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)</a:t>
            </a:r>
          </a:p>
          <a:p>
            <a:endParaRPr lang="en-US" altLang="ko-KR" sz="2000" dirty="0"/>
          </a:p>
          <a:p>
            <a:r>
              <a:rPr lang="ko-KR" altLang="en-US" sz="2000" dirty="0" smtClean="0"/>
              <a:t>예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) </a:t>
            </a:r>
            <a:r>
              <a:rPr lang="ko-KR" altLang="en-US" sz="2000" b="1" dirty="0" smtClean="0">
                <a:solidFill>
                  <a:srgbClr val="7030A0"/>
                </a:solidFill>
              </a:rPr>
              <a:t>컴포넌트나 서비스에서 현재 페이지의 </a:t>
            </a:r>
            <a:r>
              <a:rPr lang="en-US" altLang="ko-KR" sz="2000" b="1" dirty="0" smtClean="0">
                <a:solidFill>
                  <a:srgbClr val="7030A0"/>
                </a:solidFill>
              </a:rPr>
              <a:t>URL</a:t>
            </a:r>
            <a:r>
              <a:rPr lang="ko-KR" altLang="en-US" sz="2000" b="1" dirty="0" smtClean="0">
                <a:solidFill>
                  <a:srgbClr val="7030A0"/>
                </a:solidFill>
              </a:rPr>
              <a:t>을 </a:t>
            </a:r>
            <a:r>
              <a:rPr lang="en-US" altLang="ko-KR" sz="2000" b="1" dirty="0" err="1" smtClean="0">
                <a:solidFill>
                  <a:srgbClr val="7030A0"/>
                </a:solidFill>
              </a:rPr>
              <a:t>window.location.href</a:t>
            </a:r>
            <a:r>
              <a:rPr lang="en-US" altLang="ko-KR" sz="2000" b="1" dirty="0" smtClean="0">
                <a:solidFill>
                  <a:srgbClr val="7030A0"/>
                </a:solidFill>
              </a:rPr>
              <a:t> </a:t>
            </a:r>
            <a:r>
              <a:rPr lang="ko-KR" altLang="en-US" sz="2000" b="1" dirty="0" smtClean="0">
                <a:solidFill>
                  <a:srgbClr val="7030A0"/>
                </a:solidFill>
              </a:rPr>
              <a:t>나 </a:t>
            </a:r>
            <a:r>
              <a:rPr lang="en-US" altLang="ko-KR" sz="2000" b="1" dirty="0" smtClean="0">
                <a:solidFill>
                  <a:srgbClr val="7030A0"/>
                </a:solidFill>
              </a:rPr>
              <a:t>document.URL</a:t>
            </a:r>
            <a:r>
              <a:rPr lang="ko-KR" altLang="en-US" sz="2000" b="1" dirty="0" smtClean="0">
                <a:solidFill>
                  <a:srgbClr val="7030A0"/>
                </a:solidFill>
              </a:rPr>
              <a:t>로 가져온 뒤를 이를 기반으로 하는 </a:t>
            </a:r>
            <a:r>
              <a:rPr lang="ko-KR" altLang="en-US" sz="2000" b="1" dirty="0" err="1" smtClean="0">
                <a:solidFill>
                  <a:srgbClr val="7030A0"/>
                </a:solidFill>
              </a:rPr>
              <a:t>로직이</a:t>
            </a:r>
            <a:r>
              <a:rPr lang="ko-KR" altLang="en-US" sz="2000" b="1" dirty="0" smtClean="0">
                <a:solidFill>
                  <a:srgbClr val="7030A0"/>
                </a:solidFill>
              </a:rPr>
              <a:t> 있으면 </a:t>
            </a:r>
            <a:r>
              <a:rPr lang="en-US" altLang="ko-KR" sz="2000" b="1" dirty="0" smtClean="0">
                <a:solidFill>
                  <a:srgbClr val="7030A0"/>
                </a:solidFill>
              </a:rPr>
              <a:t>AOT </a:t>
            </a:r>
            <a:r>
              <a:rPr lang="ko-KR" altLang="en-US" sz="2000" b="1" dirty="0" smtClean="0">
                <a:solidFill>
                  <a:srgbClr val="7030A0"/>
                </a:solidFill>
              </a:rPr>
              <a:t>컴파일을 사용할 수가 없다</a:t>
            </a:r>
            <a:r>
              <a:rPr lang="en-US" altLang="ko-KR" sz="2000" b="1" dirty="0" smtClean="0">
                <a:solidFill>
                  <a:srgbClr val="7030A0"/>
                </a:solidFill>
              </a:rPr>
              <a:t>.</a:t>
            </a:r>
            <a:r>
              <a:rPr lang="ko-KR" altLang="en-US" sz="2000" b="1" dirty="0" smtClean="0">
                <a:solidFill>
                  <a:srgbClr val="7030A0"/>
                </a:solidFill>
              </a:rPr>
              <a:t> 이는 외부</a:t>
            </a:r>
            <a:r>
              <a:rPr lang="en-US" altLang="ko-KR" sz="2000" b="1" dirty="0">
                <a:solidFill>
                  <a:srgbClr val="7030A0"/>
                </a:solidFill>
              </a:rPr>
              <a:t> </a:t>
            </a:r>
            <a:r>
              <a:rPr lang="ko-KR" altLang="en-US" sz="2000" b="1" dirty="0" smtClean="0">
                <a:solidFill>
                  <a:srgbClr val="7030A0"/>
                </a:solidFill>
              </a:rPr>
              <a:t>패키지 모두에도 해당이 된다</a:t>
            </a:r>
            <a:r>
              <a:rPr lang="en-US" altLang="ko-KR" sz="2000" b="1" dirty="0" smtClean="0">
                <a:solidFill>
                  <a:srgbClr val="7030A0"/>
                </a:solidFill>
              </a:rPr>
              <a:t>.</a:t>
            </a:r>
          </a:p>
        </p:txBody>
      </p:sp>
      <p:sp>
        <p:nvSpPr>
          <p:cNvPr id="4" name="아래쪽 화살표 3"/>
          <p:cNvSpPr/>
          <p:nvPr/>
        </p:nvSpPr>
        <p:spPr>
          <a:xfrm>
            <a:off x="4788024" y="4725144"/>
            <a:ext cx="504056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11560" y="5301208"/>
            <a:ext cx="79102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C00000"/>
                </a:solidFill>
              </a:rPr>
              <a:t>개발환경에서는 </a:t>
            </a:r>
            <a:r>
              <a:rPr lang="en-US" altLang="ko-KR" b="1" dirty="0" err="1" smtClean="0">
                <a:solidFill>
                  <a:srgbClr val="C00000"/>
                </a:solidFill>
              </a:rPr>
              <a:t>ng</a:t>
            </a:r>
            <a:r>
              <a:rPr lang="en-US" altLang="ko-KR" b="1" dirty="0" smtClean="0">
                <a:solidFill>
                  <a:srgbClr val="C00000"/>
                </a:solidFill>
              </a:rPr>
              <a:t> serve</a:t>
            </a:r>
            <a:r>
              <a:rPr lang="ko-KR" altLang="en-US" b="1" dirty="0" smtClean="0">
                <a:solidFill>
                  <a:srgbClr val="C00000"/>
                </a:solidFill>
              </a:rPr>
              <a:t>를 실행한 채로 변경사항을 수시로 </a:t>
            </a:r>
            <a:r>
              <a:rPr lang="ko-KR" altLang="en-US" b="1" dirty="0" err="1" smtClean="0">
                <a:solidFill>
                  <a:srgbClr val="C00000"/>
                </a:solidFill>
              </a:rPr>
              <a:t>확인할때에는</a:t>
            </a:r>
            <a:endParaRPr lang="en-US" altLang="ko-KR" b="1" dirty="0" smtClean="0">
              <a:solidFill>
                <a:srgbClr val="C00000"/>
              </a:solidFill>
            </a:endParaRPr>
          </a:p>
          <a:p>
            <a:r>
              <a:rPr lang="en-US" altLang="ko-KR" b="1" dirty="0" smtClean="0">
                <a:solidFill>
                  <a:srgbClr val="C00000"/>
                </a:solidFill>
              </a:rPr>
              <a:t>JIT </a:t>
            </a:r>
            <a:r>
              <a:rPr lang="ko-KR" altLang="en-US" b="1" dirty="0" smtClean="0">
                <a:solidFill>
                  <a:srgbClr val="C00000"/>
                </a:solidFill>
              </a:rPr>
              <a:t>컴파일을 사용한다</a:t>
            </a:r>
            <a:r>
              <a:rPr lang="en-US" altLang="ko-KR" b="1" dirty="0" smtClean="0">
                <a:solidFill>
                  <a:srgbClr val="C00000"/>
                </a:solidFill>
              </a:rPr>
              <a:t>.</a:t>
            </a:r>
          </a:p>
          <a:p>
            <a:r>
              <a:rPr lang="ko-KR" altLang="en-US" b="1" dirty="0" smtClean="0">
                <a:solidFill>
                  <a:srgbClr val="C00000"/>
                </a:solidFill>
              </a:rPr>
              <a:t>운영환경에서는 </a:t>
            </a:r>
            <a:r>
              <a:rPr lang="en-US" altLang="ko-KR" b="1" dirty="0" smtClean="0">
                <a:solidFill>
                  <a:srgbClr val="C00000"/>
                </a:solidFill>
              </a:rPr>
              <a:t>AOT </a:t>
            </a:r>
            <a:r>
              <a:rPr lang="ko-KR" altLang="en-US" b="1" dirty="0" smtClean="0">
                <a:solidFill>
                  <a:srgbClr val="C00000"/>
                </a:solidFill>
              </a:rPr>
              <a:t>컴파일을 사용하는 것이 가장 좋은 방법이다</a:t>
            </a:r>
            <a:r>
              <a:rPr lang="en-US" altLang="ko-KR" b="1" dirty="0" smtClean="0">
                <a:solidFill>
                  <a:srgbClr val="C00000"/>
                </a:solidFill>
              </a:rPr>
              <a:t>.(</a:t>
            </a:r>
            <a:r>
              <a:rPr lang="ko-KR" altLang="en-US" b="1" dirty="0" smtClean="0">
                <a:solidFill>
                  <a:srgbClr val="C00000"/>
                </a:solidFill>
              </a:rPr>
              <a:t>최종적</a:t>
            </a:r>
            <a:r>
              <a:rPr lang="en-US" altLang="ko-KR" b="1" dirty="0" smtClean="0">
                <a:solidFill>
                  <a:srgbClr val="C00000"/>
                </a:solidFill>
              </a:rPr>
              <a:t>)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8.JIT </a:t>
            </a:r>
            <a:r>
              <a:rPr lang="ko-KR" altLang="en-US" sz="2400" dirty="0" smtClean="0"/>
              <a:t>와 </a:t>
            </a:r>
            <a:r>
              <a:rPr lang="en-US" altLang="ko-KR" sz="2400" dirty="0" smtClean="0"/>
              <a:t>AOT </a:t>
            </a:r>
            <a:r>
              <a:rPr lang="ko-KR" altLang="en-US" sz="2400" dirty="0" err="1" smtClean="0"/>
              <a:t>컴파일시</a:t>
            </a:r>
            <a:r>
              <a:rPr lang="ko-KR" altLang="en-US" sz="2400" dirty="0" smtClean="0"/>
              <a:t> 부트스트랩 </a:t>
            </a:r>
            <a:r>
              <a:rPr lang="ko-KR" altLang="en-US" sz="2400" dirty="0" smtClean="0"/>
              <a:t>호출과정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b="1" dirty="0" smtClean="0">
                <a:solidFill>
                  <a:srgbClr val="002060"/>
                </a:solidFill>
              </a:rPr>
              <a:t>(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처음 호출되는 </a:t>
            </a:r>
            <a:r>
              <a:rPr lang="ko-KR" altLang="en-US" sz="2400" b="1" dirty="0" err="1" smtClean="0">
                <a:solidFill>
                  <a:srgbClr val="002060"/>
                </a:solidFill>
              </a:rPr>
              <a:t>메서드부터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 다르다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)</a:t>
            </a:r>
            <a:endParaRPr lang="ko-KR" altLang="en-US" sz="2400" b="1" dirty="0">
              <a:solidFill>
                <a:srgbClr val="00206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616" y="2420888"/>
            <a:ext cx="1475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2060"/>
                </a:solidFill>
              </a:rPr>
              <a:t>JIT Compile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3608" y="3861048"/>
            <a:ext cx="1631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2060"/>
                </a:solidFill>
              </a:rPr>
              <a:t>AOT Compile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2924944"/>
            <a:ext cx="2100255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002060"/>
                </a:solidFill>
              </a:rPr>
              <a:t>bootstrapModule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960" y="2780928"/>
            <a:ext cx="2198038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2060"/>
                </a:solidFill>
              </a:rPr>
              <a:t>_</a:t>
            </a:r>
            <a:r>
              <a:rPr lang="en-US" altLang="ko-KR" b="1" dirty="0" err="1" smtClean="0">
                <a:solidFill>
                  <a:srgbClr val="002060"/>
                </a:solidFill>
              </a:rPr>
              <a:t>bootstrapModule</a:t>
            </a:r>
            <a:endParaRPr lang="en-US" altLang="ko-KR" b="1" dirty="0" smtClean="0">
              <a:solidFill>
                <a:srgbClr val="002060"/>
              </a:solidFill>
            </a:endParaRPr>
          </a:p>
          <a:p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en-US" altLang="ko-KR" b="1" dirty="0" smtClean="0">
                <a:solidFill>
                  <a:srgbClr val="002060"/>
                </a:solidFill>
              </a:rPr>
              <a:t> </a:t>
            </a:r>
            <a:r>
              <a:rPr lang="en-US" altLang="ko-KR" b="1" dirty="0" err="1" smtClean="0">
                <a:solidFill>
                  <a:srgbClr val="002060"/>
                </a:solidFill>
              </a:rPr>
              <a:t>WithZone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83968" y="4293096"/>
            <a:ext cx="3003964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2060"/>
                </a:solidFill>
              </a:rPr>
              <a:t>_</a:t>
            </a:r>
            <a:r>
              <a:rPr lang="en-US" altLang="ko-KR" b="1" dirty="0" err="1" smtClean="0">
                <a:solidFill>
                  <a:srgbClr val="002060"/>
                </a:solidFill>
              </a:rPr>
              <a:t>bootstrapModuleFactory</a:t>
            </a:r>
            <a:endParaRPr lang="en-US" altLang="ko-KR" b="1" dirty="0" smtClean="0">
              <a:solidFill>
                <a:srgbClr val="002060"/>
              </a:solidFill>
            </a:endParaRPr>
          </a:p>
          <a:p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en-US" altLang="ko-KR" b="1" dirty="0" smtClean="0">
                <a:solidFill>
                  <a:srgbClr val="002060"/>
                </a:solidFill>
              </a:rPr>
              <a:t> </a:t>
            </a:r>
            <a:r>
              <a:rPr lang="en-US" altLang="ko-KR" b="1" dirty="0" err="1" smtClean="0">
                <a:solidFill>
                  <a:srgbClr val="002060"/>
                </a:solidFill>
              </a:rPr>
              <a:t>WithZone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3568" y="4365104"/>
            <a:ext cx="2906180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002060"/>
                </a:solidFill>
              </a:rPr>
              <a:t>bootstrapModule</a:t>
            </a:r>
            <a:r>
              <a:rPr lang="en-US" altLang="ko-KR" b="1" dirty="0" err="1" smtClean="0">
                <a:solidFill>
                  <a:srgbClr val="FF0000"/>
                </a:solidFill>
              </a:rPr>
              <a:t>Factory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오른쪽 화살표 9"/>
          <p:cNvSpPr/>
          <p:nvPr/>
        </p:nvSpPr>
        <p:spPr>
          <a:xfrm>
            <a:off x="3563888" y="2924944"/>
            <a:ext cx="36004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아래쪽 화살표 10"/>
          <p:cNvSpPr/>
          <p:nvPr/>
        </p:nvSpPr>
        <p:spPr>
          <a:xfrm>
            <a:off x="5292080" y="3645024"/>
            <a:ext cx="504056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오른쪽 화살표 11"/>
          <p:cNvSpPr/>
          <p:nvPr/>
        </p:nvSpPr>
        <p:spPr>
          <a:xfrm>
            <a:off x="3851920" y="4365104"/>
            <a:ext cx="36004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 smtClean="0">
                <a:solidFill>
                  <a:srgbClr val="002060"/>
                </a:solidFill>
              </a:rPr>
              <a:t>9.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부트스트랩 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과정순서</a:t>
            </a:r>
            <a:endParaRPr lang="ko-KR" altLang="en-US" sz="2400" b="1" dirty="0">
              <a:solidFill>
                <a:srgbClr val="00206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85313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ko-KR" sz="2000" dirty="0" smtClean="0"/>
              <a:t>1.AOT </a:t>
            </a:r>
            <a:r>
              <a:rPr lang="ko-KR" altLang="en-US" sz="2000" dirty="0" smtClean="0"/>
              <a:t>컴파일을 사용할 경우 사전에 컴포넌트</a:t>
            </a:r>
            <a:r>
              <a:rPr lang="en-US" altLang="ko-KR" sz="2000" dirty="0" smtClean="0"/>
              <a:t>,</a:t>
            </a:r>
            <a:r>
              <a:rPr lang="ko-KR" altLang="en-US" sz="2000" dirty="0" smtClean="0"/>
              <a:t>지시자</a:t>
            </a:r>
            <a:r>
              <a:rPr lang="en-US" altLang="ko-KR" sz="2000" dirty="0" smtClean="0"/>
              <a:t>,</a:t>
            </a:r>
            <a:r>
              <a:rPr lang="ko-KR" altLang="en-US" sz="2000" dirty="0" smtClean="0"/>
              <a:t>모듈 등을 컴파일</a:t>
            </a:r>
            <a:endParaRPr lang="en-US" altLang="ko-KR" sz="2000" dirty="0" smtClean="0"/>
          </a:p>
          <a:p>
            <a:pPr>
              <a:buNone/>
            </a:pPr>
            <a:r>
              <a:rPr lang="en-US" altLang="ko-KR" sz="2000" dirty="0"/>
              <a:t> </a:t>
            </a:r>
            <a:r>
              <a:rPr lang="ko-KR" altLang="en-US" sz="2000" dirty="0" smtClean="0"/>
              <a:t>하여 </a:t>
            </a:r>
            <a:r>
              <a:rPr lang="ko-KR" altLang="en-US" sz="2000" dirty="0" err="1" smtClean="0"/>
              <a:t>팩토리</a:t>
            </a:r>
            <a:r>
              <a:rPr lang="ko-KR" altLang="en-US" sz="2000" dirty="0" smtClean="0"/>
              <a:t> 객체를 생성한다</a:t>
            </a:r>
            <a:r>
              <a:rPr lang="en-US" altLang="ko-KR" sz="2000" dirty="0" smtClean="0"/>
              <a:t>.</a:t>
            </a:r>
          </a:p>
          <a:p>
            <a:pPr>
              <a:buNone/>
            </a:pPr>
            <a:endParaRPr lang="en-US" altLang="ko-KR" sz="2000" dirty="0"/>
          </a:p>
          <a:p>
            <a:pPr>
              <a:buNone/>
            </a:pPr>
            <a:r>
              <a:rPr lang="en-US" altLang="ko-KR" sz="2000" dirty="0" smtClean="0"/>
              <a:t>2.</a:t>
            </a:r>
            <a:r>
              <a:rPr lang="ko-KR" altLang="en-US" sz="2000" dirty="0" smtClean="0"/>
              <a:t>애플리케이션을 실행할 </a:t>
            </a:r>
            <a:r>
              <a:rPr lang="en-US" altLang="ko-KR" sz="2000" dirty="0" err="1" smtClean="0"/>
              <a:t>PlatformRef</a:t>
            </a:r>
            <a:r>
              <a:rPr lang="ko-KR" altLang="en-US" sz="2000" dirty="0" smtClean="0"/>
              <a:t>타입의 객체를 요청 한 후 </a:t>
            </a:r>
            <a:r>
              <a:rPr lang="en-US" altLang="ko-KR" sz="2000" dirty="0" smtClean="0"/>
              <a:t>bootstrap </a:t>
            </a:r>
            <a:r>
              <a:rPr lang="ko-KR" altLang="en-US" sz="2000" dirty="0" err="1" smtClean="0"/>
              <a:t>메서드를</a:t>
            </a:r>
            <a:r>
              <a:rPr lang="ko-KR" altLang="en-US" sz="2000" dirty="0" smtClean="0"/>
              <a:t> 호출하면서 루트모듈을 전달한다</a:t>
            </a:r>
            <a:r>
              <a:rPr lang="en-US" altLang="ko-KR" sz="2000" dirty="0" smtClean="0"/>
              <a:t>.</a:t>
            </a:r>
          </a:p>
          <a:p>
            <a:pPr>
              <a:buNone/>
            </a:pPr>
            <a:endParaRPr lang="en-US" altLang="ko-KR" sz="2000" dirty="0"/>
          </a:p>
          <a:p>
            <a:pPr>
              <a:buNone/>
            </a:pPr>
            <a:r>
              <a:rPr lang="en-US" altLang="ko-KR" sz="2000" dirty="0" smtClean="0"/>
              <a:t>3.JIT</a:t>
            </a:r>
            <a:r>
              <a:rPr lang="ko-KR" altLang="en-US" sz="2000" dirty="0" smtClean="0"/>
              <a:t>컴파일을 사용할 경우 컴포넌트</a:t>
            </a:r>
            <a:r>
              <a:rPr lang="en-US" altLang="ko-KR" sz="2000" dirty="0" smtClean="0"/>
              <a:t>,</a:t>
            </a:r>
            <a:r>
              <a:rPr lang="ko-KR" altLang="en-US" sz="2000" dirty="0" smtClean="0"/>
              <a:t>지시자</a:t>
            </a:r>
            <a:r>
              <a:rPr lang="en-US" altLang="ko-KR" sz="2000" dirty="0" smtClean="0"/>
              <a:t>,</a:t>
            </a:r>
            <a:r>
              <a:rPr lang="ko-KR" altLang="en-US" sz="2000" dirty="0" err="1" smtClean="0"/>
              <a:t>모듈등을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컴파일하여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팩토리객체를</a:t>
            </a:r>
            <a:r>
              <a:rPr lang="ko-KR" altLang="en-US" sz="2000" dirty="0" smtClean="0"/>
              <a:t> 생성한다</a:t>
            </a:r>
            <a:r>
              <a:rPr lang="en-US" altLang="ko-KR" sz="2000" dirty="0" smtClean="0"/>
              <a:t>.</a:t>
            </a:r>
          </a:p>
          <a:p>
            <a:pPr>
              <a:buNone/>
            </a:pPr>
            <a:r>
              <a:rPr lang="en-US" altLang="ko-KR" sz="2000" dirty="0" smtClean="0"/>
              <a:t>4.NgZone </a:t>
            </a:r>
            <a:r>
              <a:rPr lang="ko-KR" altLang="en-US" sz="2000" dirty="0" smtClean="0"/>
              <a:t>객체를 생성한 후 </a:t>
            </a:r>
            <a:r>
              <a:rPr lang="en-US" altLang="ko-KR" sz="2000" dirty="0" err="1" smtClean="0"/>
              <a:t>NgZone</a:t>
            </a:r>
            <a:r>
              <a:rPr lang="ko-KR" altLang="en-US" sz="2000" dirty="0" smtClean="0"/>
              <a:t>을 포함한 의존성 주입기를 사용하여 모듈 </a:t>
            </a:r>
            <a:r>
              <a:rPr lang="ko-KR" altLang="en-US" sz="2000" dirty="0" err="1" smtClean="0"/>
              <a:t>팩토리</a:t>
            </a:r>
            <a:r>
              <a:rPr lang="ko-KR" altLang="en-US" sz="2000" dirty="0" smtClean="0"/>
              <a:t> 객체로 </a:t>
            </a:r>
            <a:r>
              <a:rPr lang="en-US" altLang="ko-KR" sz="2000" dirty="0" err="1" smtClean="0"/>
              <a:t>moduleRef</a:t>
            </a:r>
            <a:r>
              <a:rPr lang="ko-KR" altLang="en-US" sz="2000" dirty="0" smtClean="0"/>
              <a:t>객체를 생성한다</a:t>
            </a:r>
            <a:r>
              <a:rPr lang="en-US" altLang="ko-KR" sz="2000" dirty="0" smtClean="0"/>
              <a:t>.</a:t>
            </a:r>
          </a:p>
          <a:p>
            <a:pPr>
              <a:buNone/>
            </a:pPr>
            <a:endParaRPr lang="en-US" altLang="ko-KR" sz="2000" dirty="0" smtClean="0"/>
          </a:p>
          <a:p>
            <a:pPr>
              <a:buNone/>
            </a:pPr>
            <a:r>
              <a:rPr lang="en-US" altLang="ko-KR" sz="2000" dirty="0" smtClean="0"/>
              <a:t>5.NgModule</a:t>
            </a:r>
            <a:r>
              <a:rPr lang="ko-KR" altLang="en-US" sz="2000" dirty="0" smtClean="0"/>
              <a:t>의 </a:t>
            </a:r>
            <a:r>
              <a:rPr lang="en-US" altLang="ko-KR" sz="2000" dirty="0" smtClean="0"/>
              <a:t>bootstrap</a:t>
            </a:r>
            <a:r>
              <a:rPr lang="ko-KR" altLang="en-US" sz="2000" dirty="0" smtClean="0"/>
              <a:t>에 선언한 컴포넌트 팩토리 전체를 </a:t>
            </a:r>
            <a:r>
              <a:rPr lang="en-US" altLang="ko-KR" sz="2000" dirty="0" err="1" smtClean="0"/>
              <a:t>ApplicationRef</a:t>
            </a:r>
            <a:r>
              <a:rPr lang="ko-KR" altLang="en-US" sz="2000" dirty="0" smtClean="0"/>
              <a:t>에 전달한다</a:t>
            </a:r>
            <a:r>
              <a:rPr lang="en-US" altLang="ko-KR" sz="2000" dirty="0" smtClean="0"/>
              <a:t>.</a:t>
            </a:r>
          </a:p>
          <a:p>
            <a:pPr>
              <a:buNone/>
            </a:pPr>
            <a:endParaRPr lang="en-US" altLang="ko-KR" sz="2000" dirty="0" smtClean="0"/>
          </a:p>
          <a:p>
            <a:pPr>
              <a:buNone/>
            </a:pPr>
            <a:r>
              <a:rPr lang="en-US" altLang="ko-KR" sz="2000" b="1" dirty="0" smtClean="0">
                <a:solidFill>
                  <a:srgbClr val="FF0000"/>
                </a:solidFill>
              </a:rPr>
              <a:t>6.ApplicationRef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에서는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bootstrap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에 선언한 루트컴포넌트로부터 시작하여 순차적으로 뷰를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랜더링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화면에 출력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)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한다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10.Zone.js</a:t>
            </a:r>
            <a:r>
              <a:rPr lang="ko-KR" altLang="en-US" sz="2400" dirty="0" smtClean="0"/>
              <a:t>와 변화 감지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 smtClean="0"/>
              <a:t>1.</a:t>
            </a:r>
            <a:r>
              <a:rPr lang="ko-KR" altLang="en-US" sz="2000" dirty="0" err="1" smtClean="0"/>
              <a:t>앵귤러를</a:t>
            </a:r>
            <a:r>
              <a:rPr lang="ko-KR" altLang="en-US" sz="2000" dirty="0" smtClean="0"/>
              <a:t> 움직이게 만드는 세가지 이벤트</a:t>
            </a:r>
            <a:endParaRPr lang="en-US" altLang="ko-KR" sz="2000" dirty="0" smtClean="0"/>
          </a:p>
          <a:p>
            <a:endParaRPr lang="en-US" altLang="ko-KR" sz="2000" dirty="0" smtClean="0"/>
          </a:p>
          <a:p>
            <a:r>
              <a:rPr lang="en-US" altLang="ko-KR" sz="2000" b="1" dirty="0" smtClean="0">
                <a:solidFill>
                  <a:srgbClr val="002060"/>
                </a:solidFill>
              </a:rPr>
              <a:t>1) 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사용자액션</a:t>
            </a:r>
            <a:endParaRPr lang="en-US" altLang="ko-KR" sz="2000" b="1" dirty="0" smtClean="0">
              <a:solidFill>
                <a:srgbClr val="002060"/>
              </a:solidFill>
            </a:endParaRPr>
          </a:p>
          <a:p>
            <a:r>
              <a:rPr lang="en-US" altLang="ko-KR" sz="2000" b="1" dirty="0" smtClean="0">
                <a:solidFill>
                  <a:srgbClr val="002060"/>
                </a:solidFill>
              </a:rPr>
              <a:t>2) Ajax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와 같은 외부 호출</a:t>
            </a:r>
            <a:endParaRPr lang="en-US" altLang="ko-KR" sz="2000" b="1" dirty="0" smtClean="0">
              <a:solidFill>
                <a:srgbClr val="002060"/>
              </a:solidFill>
            </a:endParaRPr>
          </a:p>
          <a:p>
            <a:r>
              <a:rPr lang="en-US" altLang="ko-KR" sz="2000" b="1" dirty="0" smtClean="0">
                <a:solidFill>
                  <a:srgbClr val="002060"/>
                </a:solidFill>
              </a:rPr>
              <a:t>3) </a:t>
            </a:r>
            <a:r>
              <a:rPr lang="en-US" altLang="ko-KR" sz="2000" b="1" dirty="0" err="1" smtClean="0">
                <a:solidFill>
                  <a:srgbClr val="002060"/>
                </a:solidFill>
              </a:rPr>
              <a:t>setTimeout,interval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 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함수</a:t>
            </a:r>
            <a:endParaRPr lang="en-US" altLang="ko-KR" sz="2000" b="1" dirty="0" smtClean="0">
              <a:solidFill>
                <a:srgbClr val="002060"/>
              </a:solidFill>
            </a:endParaRPr>
          </a:p>
          <a:p>
            <a:endParaRPr lang="en-US" altLang="ko-KR" sz="2000" b="1" dirty="0" smtClean="0">
              <a:solidFill>
                <a:srgbClr val="002060"/>
              </a:solidFill>
            </a:endParaRPr>
          </a:p>
          <a:p>
            <a:r>
              <a:rPr lang="en-US" altLang="ko-KR" sz="2000" dirty="0" smtClean="0"/>
              <a:t>=&gt;Zone.js</a:t>
            </a:r>
            <a:r>
              <a:rPr lang="ko-KR" altLang="en-US" sz="2000" dirty="0" smtClean="0"/>
              <a:t>를 활용하면 이 세가지 이벤트가 언제 일어나고 </a:t>
            </a:r>
            <a:r>
              <a:rPr lang="ko-KR" altLang="en-US" sz="2000" dirty="0" err="1" smtClean="0"/>
              <a:t>종료했는</a:t>
            </a:r>
            <a:endParaRPr lang="en-US" altLang="ko-KR" sz="2000" dirty="0" smtClean="0"/>
          </a:p>
          <a:p>
            <a:r>
              <a:rPr lang="en-US" altLang="ko-KR" sz="2000" dirty="0" smtClean="0"/>
              <a:t> </a:t>
            </a:r>
            <a:r>
              <a:rPr lang="en-US" altLang="ko-KR" sz="2000" dirty="0" smtClean="0"/>
              <a:t>   </a:t>
            </a:r>
            <a:r>
              <a:rPr lang="ko-KR" altLang="en-US" sz="2000" dirty="0" smtClean="0"/>
              <a:t>지 체크가 가능하다</a:t>
            </a:r>
            <a:r>
              <a:rPr lang="en-US" altLang="ko-KR" sz="2000" dirty="0" smtClean="0"/>
              <a:t>.</a:t>
            </a:r>
          </a:p>
          <a:p>
            <a:endParaRPr lang="en-US" altLang="ko-KR" sz="2000" dirty="0" smtClean="0"/>
          </a:p>
          <a:p>
            <a:r>
              <a:rPr lang="en-US" altLang="ko-KR" sz="2000" dirty="0" smtClean="0"/>
              <a:t>2.Zone.js</a:t>
            </a:r>
            <a:r>
              <a:rPr lang="ko-KR" altLang="en-US" sz="2000" dirty="0" smtClean="0"/>
              <a:t>를 활용한 </a:t>
            </a:r>
            <a:r>
              <a:rPr lang="ko-KR" altLang="en-US" sz="2000" dirty="0" err="1" smtClean="0"/>
              <a:t>비동기</a:t>
            </a:r>
            <a:r>
              <a:rPr lang="ko-KR" altLang="en-US" sz="2000" dirty="0" smtClean="0"/>
              <a:t> 코드 감지</a:t>
            </a:r>
            <a:endParaRPr lang="en-US" altLang="ko-KR" sz="2000" dirty="0" smtClean="0"/>
          </a:p>
          <a:p>
            <a:r>
              <a:rPr lang="en-US" altLang="ko-KR" sz="2000" b="1" dirty="0" smtClean="0">
                <a:solidFill>
                  <a:srgbClr val="002060"/>
                </a:solidFill>
              </a:rPr>
              <a:t> 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Zone.js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는 앵귤러의 필수 의존 패키지이며 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Zone.js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는 특정영역에서</a:t>
            </a:r>
            <a:endParaRPr lang="en-US" altLang="ko-KR" sz="2000" b="1" dirty="0" smtClean="0">
              <a:solidFill>
                <a:srgbClr val="002060"/>
              </a:solidFill>
            </a:endParaRPr>
          </a:p>
          <a:p>
            <a:r>
              <a:rPr lang="en-US" altLang="ko-KR" sz="2000" b="1" dirty="0" smtClean="0">
                <a:solidFill>
                  <a:srgbClr val="002060"/>
                </a:solidFill>
              </a:rPr>
              <a:t> 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일어나는 </a:t>
            </a:r>
            <a:r>
              <a:rPr lang="ko-KR" altLang="en-US" sz="2000" b="1" dirty="0" err="1" smtClean="0">
                <a:solidFill>
                  <a:srgbClr val="002060"/>
                </a:solidFill>
              </a:rPr>
              <a:t>비동기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코드의 실행맥락을 </a:t>
            </a:r>
            <a:r>
              <a:rPr lang="ko-KR" altLang="en-US" sz="2000" b="1" dirty="0" err="1" smtClean="0">
                <a:solidFill>
                  <a:srgbClr val="002060"/>
                </a:solidFill>
              </a:rPr>
              <a:t>후킹할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수 있는 기능을 제공</a:t>
            </a:r>
            <a:endParaRPr lang="ko-KR" altLang="en-US" sz="20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11.</a:t>
            </a:r>
            <a:r>
              <a:rPr lang="ko-KR" altLang="en-US" sz="2400" dirty="0" smtClean="0"/>
              <a:t>상태변화를 일으키는 세가지 이벤트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916832"/>
            <a:ext cx="3172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err="1" smtClean="0">
                <a:solidFill>
                  <a:srgbClr val="002060"/>
                </a:solidFill>
              </a:rPr>
              <a:t>비동기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 이벤트가 발생</a:t>
            </a:r>
            <a:endParaRPr lang="ko-KR" altLang="en-US" sz="2400" b="1" dirty="0">
              <a:solidFill>
                <a:srgbClr val="002060"/>
              </a:solidFill>
            </a:endParaRPr>
          </a:p>
        </p:txBody>
      </p:sp>
      <p:sp>
        <p:nvSpPr>
          <p:cNvPr id="5" name="오른쪽 화살표 4"/>
          <p:cNvSpPr/>
          <p:nvPr/>
        </p:nvSpPr>
        <p:spPr>
          <a:xfrm>
            <a:off x="3491880" y="1916832"/>
            <a:ext cx="1008112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788024" y="1916832"/>
            <a:ext cx="3900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002060"/>
                </a:solidFill>
              </a:rPr>
              <a:t>내부적으로 </a:t>
            </a:r>
            <a:r>
              <a:rPr lang="en-US" altLang="ko-KR" b="1" dirty="0" err="1" smtClean="0">
                <a:solidFill>
                  <a:srgbClr val="002060"/>
                </a:solidFill>
              </a:rPr>
              <a:t>NgZone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클래스가 생성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31840" y="2348880"/>
            <a:ext cx="174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2060"/>
                </a:solidFill>
              </a:rPr>
              <a:t>Zone.js</a:t>
            </a:r>
            <a:r>
              <a:rPr lang="ko-KR" altLang="en-US" b="1" dirty="0" smtClean="0">
                <a:solidFill>
                  <a:srgbClr val="002060"/>
                </a:solidFill>
              </a:rPr>
              <a:t>에 의해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8" name="아래쪽 화살표 7"/>
          <p:cNvSpPr/>
          <p:nvPr/>
        </p:nvSpPr>
        <p:spPr>
          <a:xfrm>
            <a:off x="6156176" y="2348880"/>
            <a:ext cx="576064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68144" y="306896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이벤트 감지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아래쪽 화살표 9"/>
          <p:cNvSpPr/>
          <p:nvPr/>
        </p:nvSpPr>
        <p:spPr>
          <a:xfrm>
            <a:off x="6444208" y="3501008"/>
            <a:ext cx="504056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32040" y="4293096"/>
            <a:ext cx="39741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바로 데이터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바인딩한</a:t>
            </a:r>
            <a:r>
              <a:rPr lang="ko-KR" altLang="en-US" b="1" dirty="0" smtClean="0">
                <a:solidFill>
                  <a:srgbClr val="FF0000"/>
                </a:solidFill>
              </a:rPr>
              <a:t> 값의 변경사항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을 감지하는 작업을 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4" name="아래쪽 화살표 13"/>
          <p:cNvSpPr/>
          <p:nvPr/>
        </p:nvSpPr>
        <p:spPr>
          <a:xfrm>
            <a:off x="6588224" y="5013176"/>
            <a:ext cx="576064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4355976" y="5733256"/>
            <a:ext cx="47179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ApplicationRef</a:t>
            </a:r>
            <a:r>
              <a:rPr lang="ko-KR" altLang="en-US" b="1" dirty="0" smtClean="0">
                <a:solidFill>
                  <a:srgbClr val="FF0000"/>
                </a:solidFill>
              </a:rPr>
              <a:t>의 </a:t>
            </a:r>
            <a:r>
              <a:rPr lang="en-US" altLang="ko-KR" b="1" dirty="0" smtClean="0">
                <a:solidFill>
                  <a:srgbClr val="FF0000"/>
                </a:solidFill>
              </a:rPr>
              <a:t>tick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메서드를</a:t>
            </a:r>
            <a:r>
              <a:rPr lang="ko-KR" altLang="en-US" b="1" dirty="0" smtClean="0">
                <a:solidFill>
                  <a:srgbClr val="FF0000"/>
                </a:solidFill>
              </a:rPr>
              <a:t> 통해서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모든 컴포넌트의 변경사항 여부를 점검한다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6" name="오른쪽 화살표 15"/>
          <p:cNvSpPr/>
          <p:nvPr/>
        </p:nvSpPr>
        <p:spPr>
          <a:xfrm rot="13454830">
            <a:off x="3677642" y="4909569"/>
            <a:ext cx="792088" cy="6480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827584" y="3789040"/>
            <a:ext cx="37016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7030A0"/>
                </a:solidFill>
              </a:rPr>
              <a:t>루트 컴포넌트인 </a:t>
            </a:r>
            <a:r>
              <a:rPr lang="en-US" altLang="ko-KR" b="1" dirty="0" err="1" smtClean="0">
                <a:solidFill>
                  <a:srgbClr val="7030A0"/>
                </a:solidFill>
              </a:rPr>
              <a:t>AppComponent</a:t>
            </a:r>
            <a:endParaRPr lang="en-US" altLang="ko-KR" b="1" dirty="0" smtClean="0">
              <a:solidFill>
                <a:srgbClr val="7030A0"/>
              </a:solidFill>
            </a:endParaRPr>
          </a:p>
          <a:p>
            <a:r>
              <a:rPr lang="ko-KR" altLang="en-US" b="1" dirty="0" err="1" smtClean="0">
                <a:solidFill>
                  <a:srgbClr val="7030A0"/>
                </a:solidFill>
              </a:rPr>
              <a:t>부터</a:t>
            </a:r>
            <a:r>
              <a:rPr lang="ko-KR" altLang="en-US" b="1" dirty="0" smtClean="0">
                <a:solidFill>
                  <a:srgbClr val="7030A0"/>
                </a:solidFill>
              </a:rPr>
              <a:t> 모든 컴포넌트까지 전체에서</a:t>
            </a:r>
            <a:endParaRPr lang="en-US" altLang="ko-KR" b="1" dirty="0" smtClean="0">
              <a:solidFill>
                <a:srgbClr val="7030A0"/>
              </a:solidFill>
            </a:endParaRPr>
          </a:p>
          <a:p>
            <a:r>
              <a:rPr lang="ko-KR" altLang="en-US" b="1" dirty="0" smtClean="0">
                <a:solidFill>
                  <a:srgbClr val="7030A0"/>
                </a:solidFill>
              </a:rPr>
              <a:t>변화 감지를 수행한다</a:t>
            </a:r>
            <a:r>
              <a:rPr lang="en-US" altLang="ko-KR" b="1" dirty="0" smtClean="0">
                <a:solidFill>
                  <a:srgbClr val="7030A0"/>
                </a:solidFill>
              </a:rPr>
              <a:t>.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12.</a:t>
            </a:r>
            <a:r>
              <a:rPr lang="ko-KR" altLang="en-US" sz="2400" dirty="0" smtClean="0"/>
              <a:t>효율적인 변화 감지 전략 설정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923928" y="1556792"/>
            <a:ext cx="79208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App</a:t>
            </a:r>
            <a:endParaRPr lang="ko-KR" altLang="en-US" dirty="0"/>
          </a:p>
        </p:txBody>
      </p:sp>
      <p:sp>
        <p:nvSpPr>
          <p:cNvPr id="5" name="아래쪽 화살표 4"/>
          <p:cNvSpPr/>
          <p:nvPr/>
        </p:nvSpPr>
        <p:spPr>
          <a:xfrm rot="3011376">
            <a:off x="3287235" y="2200049"/>
            <a:ext cx="504056" cy="44675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 rot="18069169">
            <a:off x="4580915" y="2174088"/>
            <a:ext cx="504056" cy="44675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843808" y="2780928"/>
            <a:ext cx="115212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TestOne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644008" y="2780928"/>
            <a:ext cx="115212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TestTwo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979712" y="3645024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ChildA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131840" y="364502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ChildB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436096" y="3717032"/>
            <a:ext cx="108012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ChildD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211960" y="3645024"/>
            <a:ext cx="108012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ChildC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35696" y="4581128"/>
            <a:ext cx="108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Grand</a:t>
            </a:r>
          </a:p>
          <a:p>
            <a:r>
              <a:rPr lang="en-US" altLang="ko-KR" dirty="0" err="1" smtClean="0"/>
              <a:t>ChildA</a:t>
            </a:r>
            <a:endParaRPr lang="en-US" altLang="ko-KR" dirty="0" smtClean="0"/>
          </a:p>
        </p:txBody>
      </p:sp>
      <p:sp>
        <p:nvSpPr>
          <p:cNvPr id="20" name="아래쪽 화살표 19"/>
          <p:cNvSpPr/>
          <p:nvPr/>
        </p:nvSpPr>
        <p:spPr>
          <a:xfrm rot="10800000">
            <a:off x="3275856" y="4005064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아래쪽 화살표 20"/>
          <p:cNvSpPr/>
          <p:nvPr/>
        </p:nvSpPr>
        <p:spPr>
          <a:xfrm rot="10800000">
            <a:off x="2195736" y="4005064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아래쪽 화살표 21"/>
          <p:cNvSpPr/>
          <p:nvPr/>
        </p:nvSpPr>
        <p:spPr>
          <a:xfrm rot="10800000">
            <a:off x="4355976" y="4005064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아래쪽 화살표 22"/>
          <p:cNvSpPr/>
          <p:nvPr/>
        </p:nvSpPr>
        <p:spPr>
          <a:xfrm rot="10800000">
            <a:off x="5868144" y="4077072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아래쪽 화살표 23"/>
          <p:cNvSpPr/>
          <p:nvPr/>
        </p:nvSpPr>
        <p:spPr>
          <a:xfrm rot="13470042">
            <a:off x="2212940" y="3058900"/>
            <a:ext cx="576064" cy="5637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아래쪽 화살표 24"/>
          <p:cNvSpPr/>
          <p:nvPr/>
        </p:nvSpPr>
        <p:spPr>
          <a:xfrm rot="13470042">
            <a:off x="4398927" y="3046008"/>
            <a:ext cx="576064" cy="5637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아래쪽 화살표 25"/>
          <p:cNvSpPr/>
          <p:nvPr/>
        </p:nvSpPr>
        <p:spPr>
          <a:xfrm rot="8133019">
            <a:off x="3318808" y="3118015"/>
            <a:ext cx="576064" cy="5637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아래쪽 화살표 26"/>
          <p:cNvSpPr/>
          <p:nvPr/>
        </p:nvSpPr>
        <p:spPr>
          <a:xfrm rot="8133019">
            <a:off x="5335032" y="3118008"/>
            <a:ext cx="576064" cy="5637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3059832" y="4581128"/>
            <a:ext cx="108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Grand</a:t>
            </a:r>
          </a:p>
          <a:p>
            <a:r>
              <a:rPr lang="en-US" altLang="ko-KR" dirty="0" err="1" smtClean="0"/>
              <a:t>ChildB</a:t>
            </a:r>
            <a:endParaRPr lang="en-US" altLang="ko-KR" dirty="0" smtClean="0"/>
          </a:p>
        </p:txBody>
      </p:sp>
      <p:sp>
        <p:nvSpPr>
          <p:cNvPr id="29" name="TextBox 28"/>
          <p:cNvSpPr txBox="1"/>
          <p:nvPr/>
        </p:nvSpPr>
        <p:spPr>
          <a:xfrm>
            <a:off x="4283968" y="4581128"/>
            <a:ext cx="108012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Grand</a:t>
            </a:r>
          </a:p>
          <a:p>
            <a:r>
              <a:rPr lang="en-US" altLang="ko-KR" dirty="0" err="1" smtClean="0"/>
              <a:t>ChildC</a:t>
            </a:r>
            <a:endParaRPr lang="en-US" altLang="ko-KR" dirty="0" smtClean="0"/>
          </a:p>
        </p:txBody>
      </p:sp>
      <p:sp>
        <p:nvSpPr>
          <p:cNvPr id="30" name="TextBox 29"/>
          <p:cNvSpPr txBox="1"/>
          <p:nvPr/>
        </p:nvSpPr>
        <p:spPr>
          <a:xfrm>
            <a:off x="5580112" y="4653136"/>
            <a:ext cx="108012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Grand</a:t>
            </a:r>
          </a:p>
          <a:p>
            <a:r>
              <a:rPr lang="en-US" altLang="ko-KR" dirty="0" err="1" smtClean="0"/>
              <a:t>ChildD</a:t>
            </a:r>
            <a:endParaRPr lang="en-US" altLang="ko-KR" dirty="0" smtClean="0"/>
          </a:p>
        </p:txBody>
      </p:sp>
      <p:sp>
        <p:nvSpPr>
          <p:cNvPr id="31" name="TextBox 30"/>
          <p:cNvSpPr txBox="1"/>
          <p:nvPr/>
        </p:nvSpPr>
        <p:spPr>
          <a:xfrm>
            <a:off x="1835696" y="2420888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7030A0"/>
                </a:solidFill>
              </a:rPr>
              <a:t>onPush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13.</a:t>
            </a:r>
            <a:r>
              <a:rPr lang="ko-KR" altLang="en-US" sz="2400" dirty="0" smtClean="0"/>
              <a:t>변화 </a:t>
            </a:r>
            <a:r>
              <a:rPr lang="ko-KR" altLang="en-US" sz="2400" dirty="0" smtClean="0"/>
              <a:t>감지 전략 </a:t>
            </a:r>
            <a:r>
              <a:rPr lang="ko-KR" altLang="en-US" sz="2400" dirty="0" smtClean="0"/>
              <a:t>설정 예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844824"/>
            <a:ext cx="7915225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>
            <a:off x="5652120" y="3284984"/>
            <a:ext cx="504056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14. </a:t>
            </a:r>
            <a:r>
              <a:rPr lang="ko-KR" altLang="en-US" sz="2400" dirty="0" err="1" smtClean="0"/>
              <a:t>앵귤러</a:t>
            </a:r>
            <a:r>
              <a:rPr lang="ko-KR" altLang="en-US" sz="2400" dirty="0" smtClean="0"/>
              <a:t> 디버깅 방법</a:t>
            </a:r>
            <a:r>
              <a:rPr lang="en-US" altLang="ko-KR" sz="2400" dirty="0" smtClean="0"/>
              <a:t>(</a:t>
            </a:r>
            <a:r>
              <a:rPr lang="en-US" altLang="ko-KR" sz="2400" dirty="0" err="1" smtClean="0"/>
              <a:t>ng</a:t>
            </a:r>
            <a:r>
              <a:rPr lang="en-US" altLang="ko-KR" sz="2400" dirty="0" smtClean="0"/>
              <a:t> serve </a:t>
            </a:r>
            <a:r>
              <a:rPr lang="ko-KR" altLang="en-US" sz="2400" dirty="0" smtClean="0"/>
              <a:t>서버 </a:t>
            </a:r>
            <a:r>
              <a:rPr lang="ko-KR" altLang="en-US" sz="2400" dirty="0" err="1" smtClean="0"/>
              <a:t>가동시킨후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3356992"/>
            <a:ext cx="8136904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124744"/>
            <a:ext cx="6984776" cy="2088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아래쪽 화살표 5"/>
          <p:cNvSpPr/>
          <p:nvPr/>
        </p:nvSpPr>
        <p:spPr>
          <a:xfrm rot="18505041">
            <a:off x="6156176" y="4437112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644008" y="3501008"/>
            <a:ext cx="2310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Settings</a:t>
            </a:r>
            <a:r>
              <a:rPr lang="ko-KR" altLang="en-US" b="1" dirty="0" smtClean="0">
                <a:solidFill>
                  <a:srgbClr val="FF0000"/>
                </a:solidFill>
              </a:rPr>
              <a:t>항목을 선택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964488" cy="1143000"/>
          </a:xfrm>
        </p:spPr>
        <p:txBody>
          <a:bodyPr>
            <a:normAutofit/>
          </a:bodyPr>
          <a:lstStyle/>
          <a:p>
            <a:r>
              <a:rPr lang="en-US" altLang="ko-KR" sz="2400" dirty="0" smtClean="0"/>
              <a:t>15.Preferences</a:t>
            </a:r>
            <a:r>
              <a:rPr lang="ko-KR" altLang="en-US" sz="2400" dirty="0" smtClean="0"/>
              <a:t>탭에서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Enable JavaScript Source Maps</a:t>
            </a:r>
            <a:r>
              <a:rPr lang="ko-KR" altLang="en-US" sz="2400" dirty="0" smtClean="0"/>
              <a:t>를 체크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916832"/>
            <a:ext cx="8424936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>
            <a:off x="6948264" y="3501008"/>
            <a:ext cx="50405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660</Words>
  <Application>Microsoft Office PowerPoint</Application>
  <PresentationFormat>화면 슬라이드 쇼(4:3)</PresentationFormat>
  <Paragraphs>127</Paragraphs>
  <Slides>18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Office 테마</vt:lpstr>
      <vt:lpstr>앵글러 동작원리</vt:lpstr>
      <vt:lpstr>1.부트스트랩과 컴파일(1)</vt:lpstr>
      <vt:lpstr>1.부트스트랩과 컴파일(2)</vt:lpstr>
      <vt:lpstr>2.JIT(Just In Time) 컴파일 과정 브라우저상에서 컴파일하는 과정을 표현하는 용어</vt:lpstr>
      <vt:lpstr>3.예제를 실행후 크롬의 F12를 이용</vt:lpstr>
      <vt:lpstr>4.JIT 컴파일러의 문제점 npm i –g source-map-explorer</vt:lpstr>
      <vt:lpstr>5.source-map-explorer로 크기측정 (ng build 명령어로 프로젝트를 빌드)</vt:lpstr>
      <vt:lpstr>6.source-map-explorer로 빌드된 결과물의 사이즈를  패키지별로 측정 source-map-explorer dist/vendor.bundle.js</vt:lpstr>
      <vt:lpstr>7.AOT(Ahead of Time) 컴파일</vt:lpstr>
      <vt:lpstr>7.AOT(Ahead of Time) 컴파일(2)</vt:lpstr>
      <vt:lpstr>8.JIT 와 AOT 컴파일시 부트스트랩 호출과정 (처음 호출되는 메서드부터 다르다)</vt:lpstr>
      <vt:lpstr>9.부트스트랩 과정순서</vt:lpstr>
      <vt:lpstr>10.Zone.js와 변화 감지</vt:lpstr>
      <vt:lpstr>11.상태변화를 일으키는 세가지 이벤트</vt:lpstr>
      <vt:lpstr>12.효율적인 변화 감지 전략 설정</vt:lpstr>
      <vt:lpstr>13.변화 감지 전략 설정 예</vt:lpstr>
      <vt:lpstr>14. 앵귤러 디버깅 방법(ng serve 서버 가동시킨후)</vt:lpstr>
      <vt:lpstr>15.Preferences탭에서 Enable JavaScript Source Maps를 체크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앵글러 동작원리</dc:title>
  <dc:creator>이연수님</dc:creator>
  <cp:lastModifiedBy>이연수님</cp:lastModifiedBy>
  <cp:revision>33</cp:revision>
  <dcterms:created xsi:type="dcterms:W3CDTF">2017-09-03T13:22:48Z</dcterms:created>
  <dcterms:modified xsi:type="dcterms:W3CDTF">2017-09-04T09:21:25Z</dcterms:modified>
</cp:coreProperties>
</file>