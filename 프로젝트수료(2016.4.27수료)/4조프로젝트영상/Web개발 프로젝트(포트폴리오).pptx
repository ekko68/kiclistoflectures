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5" r:id="rId13"/>
    <p:sldId id="285" r:id="rId14"/>
    <p:sldId id="268" r:id="rId15"/>
    <p:sldId id="270" r:id="rId16"/>
    <p:sldId id="284" r:id="rId17"/>
    <p:sldId id="272" r:id="rId18"/>
    <p:sldId id="280" r:id="rId19"/>
    <p:sldId id="281" r:id="rId20"/>
    <p:sldId id="282" r:id="rId21"/>
    <p:sldId id="283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723" autoAdjust="0"/>
    <p:restoredTop sz="94660"/>
  </p:normalViewPr>
  <p:slideViewPr>
    <p:cSldViewPr>
      <p:cViewPr varScale="1">
        <p:scale>
          <a:sx n="78" d="100"/>
          <a:sy n="78" d="100"/>
        </p:scale>
        <p:origin x="-11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336E2-7378-4421-9532-7762CD16CEC5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4317-7759-4769-BB42-374D25582BC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650968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4317-7759-4769-BB42-374D25582BC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22" name="부제목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20" name="바닥글 개체 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타원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타원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타원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9" name="순서도: 처리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순서도: 처리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원형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타원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도넛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제목 개체 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24" name="날짜 개체 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1A2E5FC-F3DF-4B61-B701-6F71C63A68A6}" type="datetimeFigureOut">
              <a:rPr lang="ko-KR" altLang="en-US" smtClean="0"/>
              <a:pPr/>
              <a:t>2016-04-26</a:t>
            </a:fld>
            <a:endParaRPr lang="ko-KR" altLang="en-US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67224532-8F9A-46B5-902B-E4C9768E363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1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1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1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1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1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1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1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1571604" y="1857364"/>
            <a:ext cx="7406640" cy="1472184"/>
          </a:xfrm>
        </p:spPr>
        <p:txBody>
          <a:bodyPr>
            <a:normAutofit/>
          </a:bodyPr>
          <a:lstStyle/>
          <a:p>
            <a:r>
              <a:rPr lang="en-US" altLang="ko-KR" sz="4800" dirty="0" smtClean="0"/>
              <a:t>Web </a:t>
            </a:r>
            <a:r>
              <a:rPr lang="ko-KR" altLang="en-US" sz="4800" dirty="0" smtClean="0"/>
              <a:t>개발 프로젝트 발표</a:t>
            </a:r>
            <a:endParaRPr lang="ko-KR" alt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endParaRPr lang="en-US" altLang="ko-KR" sz="2800" dirty="0" smtClean="0"/>
          </a:p>
          <a:p>
            <a:r>
              <a:rPr lang="ko-KR" altLang="en-US" sz="2800" b="1" dirty="0" smtClean="0"/>
              <a:t>주제 선정</a:t>
            </a:r>
            <a:endParaRPr lang="en-US" altLang="ko-KR" sz="2800" b="1" dirty="0" smtClean="0"/>
          </a:p>
          <a:p>
            <a:endParaRPr lang="en-US" altLang="ko-KR" sz="2800" b="1" dirty="0" smtClean="0"/>
          </a:p>
          <a:p>
            <a:r>
              <a:rPr lang="ko-KR" altLang="en-US" sz="2800" b="1" dirty="0" smtClean="0"/>
              <a:t>설계</a:t>
            </a:r>
            <a:endParaRPr lang="en-US" altLang="ko-KR" sz="2800" b="1" dirty="0" smtClean="0"/>
          </a:p>
          <a:p>
            <a:pPr>
              <a:buFontTx/>
              <a:buChar char="-"/>
            </a:pPr>
            <a:r>
              <a:rPr lang="en-US" altLang="ko-KR" sz="2400" dirty="0" smtClean="0"/>
              <a:t>Database</a:t>
            </a:r>
          </a:p>
          <a:p>
            <a:pPr>
              <a:buFontTx/>
              <a:buChar char="-"/>
            </a:pPr>
            <a:endParaRPr lang="en-US" altLang="ko-KR" sz="2400" dirty="0" smtClean="0"/>
          </a:p>
          <a:p>
            <a:r>
              <a:rPr lang="ko-KR" altLang="en-US" sz="2800" b="1" dirty="0" smtClean="0"/>
              <a:t>코딩 및 구현</a:t>
            </a:r>
            <a:endParaRPr lang="en-US" altLang="ko-KR" sz="2800" b="1" dirty="0" smtClean="0"/>
          </a:p>
          <a:p>
            <a:pPr>
              <a:buFontTx/>
              <a:buChar char="-"/>
            </a:pPr>
            <a:r>
              <a:rPr lang="ko-KR" altLang="en-US" sz="2400" dirty="0" smtClean="0"/>
              <a:t>개발환경</a:t>
            </a:r>
            <a:endParaRPr lang="en-US" altLang="ko-KR" sz="2400" dirty="0" smtClean="0"/>
          </a:p>
          <a:p>
            <a:pPr>
              <a:buFontTx/>
              <a:buChar char="-"/>
            </a:pPr>
            <a:r>
              <a:rPr lang="en-US" altLang="ko-KR" sz="2400" dirty="0" smtClean="0"/>
              <a:t>Spring MVC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코딩</a:t>
            </a:r>
            <a:endParaRPr lang="en-US" altLang="ko-KR" sz="2400" dirty="0" smtClean="0"/>
          </a:p>
          <a:p>
            <a:pPr>
              <a:buFontTx/>
              <a:buChar char="-"/>
            </a:pPr>
            <a:r>
              <a:rPr lang="ko-KR" altLang="en-US" sz="2400" dirty="0" smtClean="0"/>
              <a:t>주요기</a:t>
            </a:r>
            <a:r>
              <a:rPr lang="ko-KR" altLang="en-US" sz="2400" dirty="0"/>
              <a:t>능</a:t>
            </a:r>
            <a:endParaRPr lang="en-US" altLang="ko-K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주제선정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/>
              <a:t>사이트 명 </a:t>
            </a:r>
            <a:r>
              <a:rPr lang="en-US" altLang="ko-KR" sz="2400" b="1" dirty="0" smtClean="0"/>
              <a:t>:  Spring Community</a:t>
            </a:r>
          </a:p>
          <a:p>
            <a:endParaRPr lang="en-US" altLang="ko-KR" sz="2400" dirty="0" smtClean="0"/>
          </a:p>
          <a:p>
            <a:r>
              <a:rPr lang="ko-KR" altLang="en-US" sz="2400" b="1" dirty="0" smtClean="0"/>
              <a:t>개발 목적 </a:t>
            </a:r>
            <a:r>
              <a:rPr lang="en-US" altLang="ko-KR" sz="2400" b="1" dirty="0" smtClean="0"/>
              <a:t>: </a:t>
            </a:r>
            <a:r>
              <a:rPr lang="ko-KR" altLang="en-US" sz="2400" b="1" dirty="0" smtClean="0"/>
              <a:t> </a:t>
            </a:r>
            <a:endParaRPr lang="en-US" altLang="ko-KR" sz="2400" b="1" dirty="0" smtClean="0"/>
          </a:p>
          <a:p>
            <a:pPr>
              <a:buFontTx/>
              <a:buChar char="-"/>
            </a:pPr>
            <a:r>
              <a:rPr lang="en-US" altLang="ko-KR" sz="2000" dirty="0" smtClean="0"/>
              <a:t>Spring </a:t>
            </a:r>
            <a:r>
              <a:rPr lang="ko-KR" altLang="en-US" sz="2000" dirty="0" smtClean="0"/>
              <a:t>학습용으로 </a:t>
            </a:r>
            <a:r>
              <a:rPr lang="en-US" altLang="ko-KR" sz="2000" dirty="0" smtClean="0"/>
              <a:t>JspStudy.co.kr </a:t>
            </a:r>
            <a:r>
              <a:rPr lang="ko-KR" altLang="en-US" sz="2000" dirty="0" smtClean="0"/>
              <a:t>사이트를 벤치마킹 한 </a:t>
            </a:r>
            <a:r>
              <a:rPr lang="en-US" altLang="ko-KR" sz="2000" dirty="0" smtClean="0"/>
              <a:t>site</a:t>
            </a:r>
            <a:r>
              <a:rPr lang="ko-KR" altLang="en-US" sz="2000" dirty="0" smtClean="0"/>
              <a:t>를 개발</a:t>
            </a:r>
            <a:endParaRPr lang="en-US" altLang="ko-KR" sz="2000" dirty="0" smtClean="0"/>
          </a:p>
          <a:p>
            <a:pPr>
              <a:buFontTx/>
              <a:buChar char="-"/>
            </a:pPr>
            <a:r>
              <a:rPr lang="ko-KR" altLang="en-US" sz="2000" dirty="0"/>
              <a:t>회원 가입</a:t>
            </a:r>
            <a:r>
              <a:rPr lang="en-US" altLang="ko-KR" sz="2000" dirty="0"/>
              <a:t>, </a:t>
            </a:r>
            <a:r>
              <a:rPr lang="ko-KR" altLang="en-US" sz="2000" dirty="0"/>
              <a:t>게시판</a:t>
            </a:r>
            <a:r>
              <a:rPr lang="en-US" altLang="ko-KR" sz="2000" dirty="0"/>
              <a:t>, </a:t>
            </a:r>
            <a:r>
              <a:rPr lang="ko-KR" altLang="en-US" sz="2000" dirty="0"/>
              <a:t>파일 업로드 기능이 있는 </a:t>
            </a:r>
            <a:r>
              <a:rPr lang="ko-KR" altLang="en-US" sz="2000" dirty="0" smtClean="0"/>
              <a:t>사이트</a:t>
            </a:r>
            <a:endParaRPr lang="en-US" altLang="ko-KR" sz="2000" dirty="0" smtClean="0"/>
          </a:p>
          <a:p>
            <a:pPr>
              <a:buNone/>
            </a:pPr>
            <a:r>
              <a:rPr lang="en-US" altLang="ko-KR" sz="2400" dirty="0" smtClean="0"/>
              <a:t>   </a:t>
            </a:r>
          </a:p>
          <a:p>
            <a:r>
              <a:rPr lang="ko-KR" altLang="en-US" sz="2400" b="1" dirty="0" smtClean="0"/>
              <a:t>팀원 및 업무 분담 </a:t>
            </a:r>
            <a:r>
              <a:rPr lang="en-US" altLang="ko-KR" sz="2400" b="1" dirty="0" smtClean="0"/>
              <a:t>:</a:t>
            </a:r>
          </a:p>
          <a:p>
            <a:pPr>
              <a:buFontTx/>
              <a:buChar char="-"/>
            </a:pPr>
            <a:r>
              <a:rPr lang="ko-KR" altLang="en-US" sz="1800" dirty="0" smtClean="0"/>
              <a:t>양</a:t>
            </a:r>
            <a:r>
              <a:rPr lang="ko-KR" altLang="en-US" sz="1800" dirty="0" smtClean="0"/>
              <a:t>성</a:t>
            </a:r>
            <a:r>
              <a:rPr lang="ko-KR" altLang="en-US" sz="1800" dirty="0" smtClean="0"/>
              <a:t>문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디자인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회원가입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자료실 코딩</a:t>
            </a:r>
            <a:endParaRPr lang="en-US" altLang="ko-KR" sz="1800" dirty="0" smtClean="0"/>
          </a:p>
          <a:p>
            <a:pPr>
              <a:buFontTx/>
              <a:buChar char="-"/>
            </a:pPr>
            <a:r>
              <a:rPr lang="ko-KR" altLang="en-US" sz="1800" dirty="0" smtClean="0"/>
              <a:t>강지훈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디자인</a:t>
            </a:r>
            <a:endParaRPr lang="en-US" altLang="ko-KR" sz="1800" dirty="0" smtClean="0"/>
          </a:p>
          <a:p>
            <a:pPr>
              <a:buFontTx/>
              <a:buChar char="-"/>
            </a:pPr>
            <a:r>
              <a:rPr lang="ko-KR" altLang="en-US" sz="1800" dirty="0" smtClean="0"/>
              <a:t>강태욱 </a:t>
            </a:r>
            <a:r>
              <a:rPr lang="en-US" altLang="ko-KR" sz="1800" dirty="0" smtClean="0"/>
              <a:t>: DB</a:t>
            </a:r>
            <a:r>
              <a:rPr lang="ko-KR" altLang="en-US" sz="1800" dirty="0" smtClean="0"/>
              <a:t>설계</a:t>
            </a:r>
            <a:r>
              <a:rPr lang="en-US" altLang="ko-KR" sz="1800" dirty="0" smtClean="0"/>
              <a:t>,  </a:t>
            </a:r>
            <a:r>
              <a:rPr lang="ko-KR" altLang="en-US" sz="1800" dirty="0" smtClean="0"/>
              <a:t>자유게시판  코딩</a:t>
            </a:r>
            <a:endParaRPr lang="en-US" altLang="ko-KR" sz="1800" dirty="0" smtClean="0"/>
          </a:p>
          <a:p>
            <a:pPr>
              <a:buFontTx/>
              <a:buChar char="-"/>
            </a:pPr>
            <a:r>
              <a:rPr lang="ko-KR" altLang="en-US" sz="1800" dirty="0" smtClean="0"/>
              <a:t>나상준 </a:t>
            </a:r>
            <a:r>
              <a:rPr lang="en-US" altLang="ko-KR" sz="1800" dirty="0" smtClean="0"/>
              <a:t>: DB</a:t>
            </a:r>
            <a:r>
              <a:rPr lang="ko-KR" altLang="en-US" sz="1800" dirty="0" smtClean="0"/>
              <a:t>설계</a:t>
            </a:r>
            <a:r>
              <a:rPr lang="en-US" altLang="ko-KR" sz="1800" dirty="0" smtClean="0"/>
              <a:t>,  </a:t>
            </a:r>
            <a:r>
              <a:rPr lang="ko-KR" altLang="en-US" sz="1800" dirty="0" smtClean="0"/>
              <a:t>공지게시판 코딩</a:t>
            </a:r>
            <a:endParaRPr lang="en-US" altLang="ko-KR" sz="18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DB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r>
              <a:rPr lang="en-US" altLang="ko-KR" sz="2400" b="1" dirty="0" smtClean="0"/>
              <a:t>DBMS </a:t>
            </a:r>
            <a:r>
              <a:rPr lang="ko-KR" altLang="en-US" sz="2400" b="1" dirty="0" smtClean="0"/>
              <a:t>선정</a:t>
            </a:r>
            <a:endParaRPr lang="en-US" altLang="ko-KR" sz="2400" b="1" dirty="0" smtClean="0"/>
          </a:p>
          <a:p>
            <a:pPr>
              <a:buFontTx/>
              <a:buChar char="-"/>
            </a:pPr>
            <a:r>
              <a:rPr lang="en-US" altLang="ko-KR" sz="2000" dirty="0" smtClean="0"/>
              <a:t>Oracle 11g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ko-KR" altLang="en-US" sz="2000" dirty="0" smtClean="0"/>
              <a:t>선정 이유 </a:t>
            </a:r>
            <a:r>
              <a:rPr lang="en-US" altLang="ko-KR" sz="2000" dirty="0" smtClean="0"/>
              <a:t>:  </a:t>
            </a:r>
            <a:r>
              <a:rPr lang="ko-KR" altLang="en-US" sz="2000" dirty="0" smtClean="0"/>
              <a:t>최종 스프링으로 구현하기 위해 </a:t>
            </a:r>
            <a:r>
              <a:rPr lang="en-US" altLang="ko-KR" sz="2000" dirty="0" smtClean="0"/>
              <a:t>Oracle</a:t>
            </a:r>
          </a:p>
          <a:p>
            <a:pPr>
              <a:buNone/>
            </a:pPr>
            <a:r>
              <a:rPr lang="en-US" altLang="ko-KR" sz="2000" dirty="0" smtClean="0"/>
              <a:t>                  </a:t>
            </a:r>
            <a:r>
              <a:rPr lang="ko-KR" altLang="en-US" sz="2000" dirty="0" smtClean="0"/>
              <a:t>결정</a:t>
            </a:r>
            <a:endParaRPr lang="en-US" altLang="ko-KR" sz="20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4" name="그림 3" descr="oracle11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42" y="3136674"/>
            <a:ext cx="2286016" cy="1221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en-US" altLang="ko-KR" dirty="0"/>
              <a:t>DB </a:t>
            </a:r>
            <a:r>
              <a:rPr lang="ko-KR" altLang="en-US" dirty="0"/>
              <a:t>설계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r>
              <a:rPr lang="ko-KR" altLang="en-US" sz="2400" b="1" dirty="0" smtClean="0"/>
              <a:t>설계 </a:t>
            </a:r>
            <a:r>
              <a:rPr lang="en-US" altLang="ko-KR" sz="2400" b="1" dirty="0" smtClean="0"/>
              <a:t>Flow</a:t>
            </a: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ko-KR" altLang="en-US" sz="2400" b="1" dirty="0" smtClean="0"/>
              <a:t>개념적 설계</a:t>
            </a:r>
            <a:endParaRPr lang="en-US" altLang="ko-KR" sz="2400" b="1" dirty="0" smtClean="0"/>
          </a:p>
          <a:p>
            <a:pPr>
              <a:buFontTx/>
              <a:buChar char="-"/>
            </a:pPr>
            <a:r>
              <a:rPr lang="ko-KR" altLang="en-US" sz="2000" dirty="0" smtClean="0"/>
              <a:t>회원가입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게시판에 필요한 개체 선정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각 개체간의 관계 설정 및 </a:t>
            </a:r>
            <a:r>
              <a:rPr lang="ko-KR" altLang="en-US" sz="2000" dirty="0" err="1"/>
              <a:t>릴레이션</a:t>
            </a:r>
            <a:r>
              <a:rPr lang="ko-KR" altLang="en-US" sz="2000" dirty="0"/>
              <a:t> 스키마 정의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sp>
        <p:nvSpPr>
          <p:cNvPr id="4" name="오른쪽 화살표 3"/>
          <p:cNvSpPr/>
          <p:nvPr/>
        </p:nvSpPr>
        <p:spPr>
          <a:xfrm>
            <a:off x="3143240" y="2944938"/>
            <a:ext cx="50006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500166" y="2858066"/>
            <a:ext cx="1357322" cy="64294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>
                <a:solidFill>
                  <a:schemeClr val="tx1"/>
                </a:solidFill>
              </a:rPr>
              <a:t>개념적설계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57620" y="2858066"/>
            <a:ext cx="1357322" cy="64294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>
                <a:solidFill>
                  <a:schemeClr val="tx1"/>
                </a:solidFill>
              </a:rPr>
              <a:t>논리적설계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5500694" y="2944938"/>
            <a:ext cx="50006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215074" y="2858066"/>
            <a:ext cx="1357322" cy="64294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>
                <a:solidFill>
                  <a:schemeClr val="tx1"/>
                </a:solidFill>
              </a:rPr>
              <a:t>물리적설계</a:t>
            </a:r>
            <a:r>
              <a:rPr lang="ko-KR" altLang="en-US" b="1" dirty="0" smtClean="0">
                <a:solidFill>
                  <a:schemeClr val="tx1"/>
                </a:solidFill>
              </a:rPr>
              <a:t> 및 구현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en-US" altLang="ko-KR" dirty="0"/>
              <a:t>DB </a:t>
            </a:r>
            <a:r>
              <a:rPr lang="ko-KR" altLang="en-US" dirty="0"/>
              <a:t>설계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altLang="ko-KR" sz="2400" dirty="0" smtClean="0"/>
          </a:p>
          <a:p>
            <a:r>
              <a:rPr lang="ko-KR" altLang="en-US" sz="2400" b="1" dirty="0" smtClean="0"/>
              <a:t>논리적 설계</a:t>
            </a:r>
            <a:endParaRPr lang="en-US" altLang="ko-KR" sz="2400" b="1" dirty="0" smtClean="0"/>
          </a:p>
          <a:p>
            <a:pPr>
              <a:buFontTx/>
              <a:buChar char="-"/>
            </a:pPr>
            <a:r>
              <a:rPr lang="ko-KR" altLang="en-US" sz="2000" dirty="0" smtClean="0"/>
              <a:t>회원가입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게시판에 필요한 논리적 스키마 생성</a:t>
            </a:r>
            <a:endParaRPr lang="en-US" altLang="ko-KR" sz="2000" dirty="0" smtClean="0"/>
          </a:p>
          <a:p>
            <a:pPr>
              <a:buFontTx/>
              <a:buChar char="-"/>
            </a:pPr>
            <a:r>
              <a:rPr lang="ko-KR" altLang="en-US" sz="2000" dirty="0" smtClean="0"/>
              <a:t>정규화를 통해 이상적인 </a:t>
            </a:r>
            <a:r>
              <a:rPr lang="ko-KR" altLang="en-US" sz="2000" dirty="0" err="1" smtClean="0"/>
              <a:t>릴레이션</a:t>
            </a:r>
            <a:r>
              <a:rPr lang="ko-KR" altLang="en-US" sz="2000" dirty="0" smtClean="0"/>
              <a:t> 구조 생성</a:t>
            </a:r>
            <a:endParaRPr lang="en-US" altLang="ko-KR" sz="2000" b="1" dirty="0" smtClean="0"/>
          </a:p>
          <a:p>
            <a:pPr>
              <a:buFontTx/>
              <a:buChar char="-"/>
            </a:pPr>
            <a:r>
              <a:rPr lang="ko-KR" altLang="en-US" sz="2000" dirty="0" smtClean="0"/>
              <a:t>정규화 과정 </a:t>
            </a:r>
            <a:r>
              <a:rPr lang="en-US" altLang="ko-KR" sz="2000" dirty="0" smtClean="0"/>
              <a:t>: 1NF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-&gt; 2NF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-&gt; 3NF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ko-KR" altLang="en-US" sz="2000" b="1" dirty="0" smtClean="0"/>
              <a:t>공지사항 테이블 분활</a:t>
            </a:r>
            <a:endParaRPr lang="en-US" altLang="ko-KR" sz="2000" b="1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4558" y="4380706"/>
            <a:ext cx="481965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DB </a:t>
            </a:r>
            <a:r>
              <a:rPr lang="ko-KR" altLang="en-US" dirty="0"/>
              <a:t>설계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/>
              <a:t>물리적 설계</a:t>
            </a:r>
            <a:endParaRPr lang="en-US" altLang="ko-KR" sz="2400" b="1" dirty="0" smtClean="0"/>
          </a:p>
          <a:p>
            <a:pPr>
              <a:buFontTx/>
              <a:buChar char="-"/>
            </a:pPr>
            <a:r>
              <a:rPr lang="en-US" altLang="ko-KR" sz="2400" dirty="0" smtClean="0"/>
              <a:t>Oracle DBMS</a:t>
            </a:r>
            <a:r>
              <a:rPr lang="ko-KR" altLang="en-US" sz="2400" dirty="0" smtClean="0"/>
              <a:t>에 맞는 구조로 변환</a:t>
            </a: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r>
              <a:rPr lang="ko-KR" altLang="en-US" sz="2400" b="1" dirty="0" smtClean="0"/>
              <a:t>구현</a:t>
            </a:r>
            <a:endParaRPr lang="en-US" altLang="ko-KR" sz="2400" b="1" dirty="0" smtClean="0"/>
          </a:p>
          <a:p>
            <a:pPr>
              <a:buFontTx/>
              <a:buChar char="-"/>
            </a:pPr>
            <a:r>
              <a:rPr lang="en-US" altLang="ko-KR" sz="2000" dirty="0" smtClean="0"/>
              <a:t>DBMS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DDL</a:t>
            </a:r>
            <a:r>
              <a:rPr lang="ko-KR" altLang="en-US" sz="2000" dirty="0" smtClean="0"/>
              <a:t>로 </a:t>
            </a:r>
            <a:r>
              <a:rPr lang="en-US" altLang="ko-KR" sz="2000" dirty="0" smtClean="0"/>
              <a:t>DB</a:t>
            </a:r>
            <a:r>
              <a:rPr lang="ko-KR" altLang="en-US" sz="2000" dirty="0" smtClean="0"/>
              <a:t>생성</a:t>
            </a:r>
            <a:endParaRPr lang="en-US" altLang="ko-KR" sz="20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3645024"/>
            <a:ext cx="5789443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DB </a:t>
            </a:r>
            <a:r>
              <a:rPr lang="ko-KR" altLang="en-US" dirty="0" smtClean="0"/>
              <a:t>설계</a:t>
            </a:r>
            <a:r>
              <a:rPr lang="en-US" altLang="ko-KR" dirty="0" smtClean="0"/>
              <a:t>_</a:t>
            </a:r>
            <a:r>
              <a:rPr lang="ko-KR" altLang="en-US" dirty="0" smtClean="0"/>
              <a:t>모든 테이블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3608" y="2204864"/>
            <a:ext cx="8064896" cy="4059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</a:t>
            </a:r>
            <a:r>
              <a:rPr lang="ko-KR" altLang="en-US" dirty="0" smtClean="0"/>
              <a:t>일정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285852" y="1928802"/>
          <a:ext cx="7262841" cy="3571900"/>
        </p:xfrm>
        <a:graphic>
          <a:graphicData uri="http://schemas.openxmlformats.org/drawingml/2006/table">
            <a:tbl>
              <a:tblPr/>
              <a:tblGrid>
                <a:gridCol w="1143086"/>
                <a:gridCol w="244653"/>
                <a:gridCol w="244653"/>
                <a:gridCol w="244653"/>
                <a:gridCol w="244653"/>
                <a:gridCol w="245339"/>
                <a:gridCol w="244653"/>
                <a:gridCol w="244653"/>
                <a:gridCol w="215491"/>
                <a:gridCol w="273815"/>
                <a:gridCol w="245339"/>
                <a:gridCol w="244653"/>
                <a:gridCol w="244653"/>
                <a:gridCol w="244653"/>
                <a:gridCol w="244653"/>
                <a:gridCol w="245339"/>
                <a:gridCol w="244653"/>
                <a:gridCol w="244653"/>
                <a:gridCol w="244653"/>
                <a:gridCol w="244653"/>
                <a:gridCol w="245339"/>
                <a:gridCol w="244653"/>
                <a:gridCol w="244653"/>
                <a:gridCol w="244653"/>
                <a:gridCol w="244653"/>
                <a:gridCol w="245339"/>
              </a:tblGrid>
              <a:tr h="621498"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latin typeface="맑은 고딕"/>
                          <a:ea typeface="맑은 고딕"/>
                          <a:cs typeface="Times New Roman"/>
                        </a:rPr>
                        <a:t>일정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latin typeface="맑은 고딕"/>
                          <a:ea typeface="맑은 고딕"/>
                          <a:cs typeface="Times New Roman"/>
                        </a:rPr>
                        <a:t>단계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6D9F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맑은 고딕"/>
                          <a:ea typeface="맑은 고딕"/>
                          <a:cs typeface="Times New Roman"/>
                        </a:rPr>
                        <a:t>1</a:t>
                      </a:r>
                      <a:r>
                        <a:rPr lang="ko-KR" sz="900" b="1" kern="100">
                          <a:latin typeface="맑은 고딕"/>
                          <a:ea typeface="맑은 고딕"/>
                          <a:cs typeface="Times New Roman"/>
                        </a:rPr>
                        <a:t>주차</a:t>
                      </a: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2~3</a:t>
                      </a:r>
                      <a:r>
                        <a:rPr 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주차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4~5</a:t>
                      </a:r>
                      <a:r>
                        <a:rPr 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주차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6~7</a:t>
                      </a:r>
                      <a:r>
                        <a:rPr 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주차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8</a:t>
                      </a:r>
                      <a:r>
                        <a:rPr 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주차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628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>
                          <a:latin typeface="맑은 고딕"/>
                          <a:ea typeface="맑은 고딕"/>
                          <a:cs typeface="Times New Roman"/>
                        </a:rPr>
                        <a:t>계획</a:t>
                      </a: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solidFill>
                          <a:srgbClr val="FFFF00"/>
                        </a:solidFill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solidFill>
                          <a:srgbClr val="FFFF00"/>
                        </a:solidFill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solidFill>
                          <a:srgbClr val="FFFF00"/>
                        </a:solidFill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solidFill>
                          <a:srgbClr val="FFFF00"/>
                        </a:solidFill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solidFill>
                          <a:srgbClr val="FFFF00"/>
                        </a:solidFill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20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맑은 고딕"/>
                          <a:ea typeface="맑은 고딕"/>
                          <a:cs typeface="Times New Roman"/>
                        </a:rPr>
                        <a:t>DB</a:t>
                      </a: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3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>
                          <a:latin typeface="맑은 고딕"/>
                          <a:ea typeface="맑은 고딕"/>
                          <a:cs typeface="Times New Roman"/>
                        </a:rPr>
                        <a:t>디자인</a:t>
                      </a: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1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코딩</a:t>
                      </a:r>
                      <a:r>
                        <a:rPr lang="en-US" altLang="ko-KR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altLang="en-US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및 구현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8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900" b="1" kern="100" dirty="0">
                          <a:latin typeface="맑은 고딕"/>
                          <a:ea typeface="맑은 고딕"/>
                          <a:cs typeface="Times New Roman"/>
                        </a:rPr>
                        <a:t>테스트</a:t>
                      </a: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1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보완</a:t>
                      </a:r>
                      <a:endParaRPr lang="en-US" altLang="ko-KR" sz="900" b="1" kern="100" dirty="0" smtClean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9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122" marR="62122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</a:t>
            </a:r>
            <a:r>
              <a:rPr lang="ko-KR" altLang="en-US" dirty="0" smtClean="0"/>
              <a:t>개발 환경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r>
              <a:rPr lang="ko-KR" altLang="en-US" sz="2400" dirty="0" smtClean="0"/>
              <a:t>운영체제 </a:t>
            </a:r>
            <a:r>
              <a:rPr lang="en-US" altLang="ko-KR" sz="2400" dirty="0" smtClean="0"/>
              <a:t>:</a:t>
            </a:r>
          </a:p>
          <a:p>
            <a:pPr>
              <a:buFontTx/>
              <a:buChar char="-"/>
            </a:pPr>
            <a:r>
              <a:rPr lang="en-US" altLang="ko-KR" sz="2000" dirty="0" smtClean="0"/>
              <a:t>Window 7</a:t>
            </a:r>
          </a:p>
          <a:p>
            <a:pPr>
              <a:buNone/>
            </a:pPr>
            <a:endParaRPr lang="en-US" altLang="ko-KR" sz="2400" dirty="0" smtClean="0"/>
          </a:p>
          <a:p>
            <a:r>
              <a:rPr lang="en-US" altLang="ko-KR" sz="2400" dirty="0" smtClean="0"/>
              <a:t>Tool &amp; </a:t>
            </a:r>
            <a:r>
              <a:rPr lang="ko-KR" altLang="en-US" sz="2400" dirty="0" smtClean="0"/>
              <a:t>프레임워크</a:t>
            </a:r>
            <a:endParaRPr lang="en-US" altLang="ko-KR" sz="2400" dirty="0" smtClean="0"/>
          </a:p>
          <a:p>
            <a:pPr>
              <a:buFontTx/>
              <a:buChar char="-"/>
            </a:pPr>
            <a:r>
              <a:rPr lang="en-US" altLang="ko-KR" sz="2000" dirty="0" smtClean="0"/>
              <a:t>Eclipse 4.5.1, jdk8, </a:t>
            </a:r>
            <a:r>
              <a:rPr lang="en-US" altLang="ko-KR" sz="2000" dirty="0" err="1" smtClean="0"/>
              <a:t>Jsp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Jquery</a:t>
            </a:r>
            <a:r>
              <a:rPr lang="en-US" altLang="ko-KR" sz="2000" dirty="0" smtClean="0"/>
              <a:t>, JavaScript, Ajax, html5</a:t>
            </a:r>
          </a:p>
          <a:p>
            <a:pPr>
              <a:buFontTx/>
              <a:buChar char="-"/>
            </a:pPr>
            <a:r>
              <a:rPr lang="en-US" altLang="ko-KR" sz="2000" dirty="0" smtClean="0"/>
              <a:t>Bootstrap, Spring 4.0</a:t>
            </a:r>
          </a:p>
          <a:p>
            <a:pPr>
              <a:buFontTx/>
              <a:buChar char="-"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1026" name="Picture 2" descr="C:\Users\user\Desktop\Project\ppt\eclips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3174" y="5072074"/>
            <a:ext cx="1555752" cy="933451"/>
          </a:xfrm>
          <a:prstGeom prst="rect">
            <a:avLst/>
          </a:prstGeom>
          <a:noFill/>
        </p:spPr>
      </p:pic>
      <p:pic>
        <p:nvPicPr>
          <p:cNvPr id="1027" name="Picture 3" descr="C:\Users\user\Desktop\Project\ppt\jav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5098316"/>
            <a:ext cx="1357322" cy="831014"/>
          </a:xfrm>
          <a:prstGeom prst="rect">
            <a:avLst/>
          </a:prstGeom>
          <a:noFill/>
        </p:spPr>
      </p:pic>
      <p:pic>
        <p:nvPicPr>
          <p:cNvPr id="1028" name="Picture 4" descr="C:\Users\user\Desktop\Project\ppt\jQuery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43860" y="5143512"/>
            <a:ext cx="1156900" cy="785818"/>
          </a:xfrm>
          <a:prstGeom prst="rect">
            <a:avLst/>
          </a:prstGeom>
          <a:noFill/>
        </p:spPr>
      </p:pic>
      <p:pic>
        <p:nvPicPr>
          <p:cNvPr id="1029" name="Picture 5" descr="C:\Users\user\Desktop\Project\ppt\spring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388" y="5214950"/>
            <a:ext cx="2071702" cy="5650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개발 </a:t>
            </a:r>
            <a:r>
              <a:rPr lang="en-US" altLang="ko-KR" dirty="0" smtClean="0"/>
              <a:t>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r>
              <a:rPr lang="ko-KR" altLang="en-US" sz="2400" dirty="0" smtClean="0"/>
              <a:t>개발 </a:t>
            </a:r>
            <a:r>
              <a:rPr lang="en-US" altLang="ko-KR" sz="2400" dirty="0" smtClean="0"/>
              <a:t>Flow</a:t>
            </a:r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sp>
        <p:nvSpPr>
          <p:cNvPr id="4" name="오른쪽 화살표 3"/>
          <p:cNvSpPr/>
          <p:nvPr/>
        </p:nvSpPr>
        <p:spPr>
          <a:xfrm>
            <a:off x="3428992" y="3587310"/>
            <a:ext cx="500066" cy="48463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285852" y="2928934"/>
            <a:ext cx="1857388" cy="1857388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dirty="0" smtClean="0">
                <a:solidFill>
                  <a:schemeClr val="tx1"/>
                </a:solidFill>
              </a:rPr>
              <a:t>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Model2 MVC </a:t>
            </a:r>
            <a:r>
              <a:rPr lang="ko-KR" altLang="en-US" b="1" dirty="0" smtClean="0">
                <a:solidFill>
                  <a:schemeClr val="tx1"/>
                </a:solidFill>
              </a:rPr>
              <a:t>코딩 및 구현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143372" y="2928934"/>
            <a:ext cx="1857388" cy="1857388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dirty="0" smtClean="0">
                <a:solidFill>
                  <a:schemeClr val="tx1"/>
                </a:solidFill>
              </a:rPr>
              <a:t>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Spring MVC   </a:t>
            </a:r>
            <a:r>
              <a:rPr lang="ko-KR" altLang="en-US" b="1" dirty="0" smtClean="0">
                <a:solidFill>
                  <a:schemeClr val="tx1"/>
                </a:solidFill>
              </a:rPr>
              <a:t>코딩 으로 변경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929454" y="2928934"/>
            <a:ext cx="1857388" cy="1857388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</a:rPr>
              <a:t>Final</a:t>
            </a:r>
          </a:p>
          <a:p>
            <a:pPr algn="ctr"/>
            <a:r>
              <a:rPr lang="en-US" altLang="ko-KR" sz="1600" b="1" dirty="0" smtClean="0">
                <a:solidFill>
                  <a:schemeClr val="tx1"/>
                </a:solidFill>
              </a:rPr>
              <a:t>Secure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코딩 적용</a:t>
            </a:r>
            <a:endParaRPr lang="en-US" altLang="ko-KR" sz="16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dirty="0" smtClean="0">
                <a:solidFill>
                  <a:schemeClr val="tx1"/>
                </a:solidFill>
              </a:rPr>
              <a:t>Maven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적용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6215074" y="3571876"/>
            <a:ext cx="500066" cy="48463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Spring MVC </a:t>
            </a:r>
            <a:r>
              <a:rPr lang="ko-KR" altLang="en-US" dirty="0" smtClean="0"/>
              <a:t>구조 개발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 </a:t>
            </a:r>
            <a:r>
              <a:rPr lang="en-US" altLang="ko-KR" sz="2400" dirty="0" smtClean="0"/>
              <a:t>Spring MVC </a:t>
            </a:r>
            <a:r>
              <a:rPr lang="ko-KR" altLang="en-US" sz="2400" dirty="0" smtClean="0"/>
              <a:t>구조로 개발한 순서도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pPr marL="82296" indent="0">
              <a:buNone/>
            </a:pPr>
            <a:r>
              <a:rPr lang="en-US" altLang="ko-KR" sz="2000" b="1" dirty="0" err="1" smtClean="0"/>
              <a:t>TotalboardController</a:t>
            </a:r>
            <a:r>
              <a:rPr lang="ko-KR" altLang="en-US" sz="2000" b="1" dirty="0" smtClean="0"/>
              <a:t>의 </a:t>
            </a:r>
            <a:r>
              <a:rPr lang="en-US" altLang="ko-KR" sz="2000" b="1" dirty="0" smtClean="0"/>
              <a:t>list </a:t>
            </a:r>
            <a:r>
              <a:rPr lang="ko-KR" altLang="en-US" sz="2000" b="1" dirty="0" err="1" smtClean="0"/>
              <a:t>메서드에서</a:t>
            </a:r>
            <a:r>
              <a:rPr lang="ko-KR" altLang="en-US" sz="2000" b="1" dirty="0" smtClean="0"/>
              <a:t> </a:t>
            </a:r>
            <a:r>
              <a:rPr lang="en-US" altLang="ko-KR" sz="2000" b="1" dirty="0" err="1" smtClean="0"/>
              <a:t>Jsp</a:t>
            </a:r>
            <a:r>
              <a:rPr lang="ko-KR" altLang="en-US" sz="2000" b="1" dirty="0" smtClean="0"/>
              <a:t> 생성과정</a:t>
            </a:r>
            <a:endParaRPr lang="en-US" altLang="ko-KR" sz="2000" b="1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>
            <a:off x="1834209" y="3018438"/>
            <a:ext cx="2593775" cy="206674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prstClr val="white"/>
                </a:solidFill>
              </a:rPr>
              <a:t>스프링 웹  </a:t>
            </a:r>
            <a:r>
              <a:rPr lang="en-US" altLang="ko-KR" b="1" dirty="0" smtClean="0">
                <a:solidFill>
                  <a:prstClr val="white"/>
                </a:solidFill>
              </a:rPr>
              <a:t>MVC</a:t>
            </a:r>
          </a:p>
          <a:p>
            <a:pPr algn="ctr"/>
            <a:endParaRPr lang="en-US" altLang="ko-KR" b="1" dirty="0" smtClean="0">
              <a:solidFill>
                <a:prstClr val="white"/>
              </a:solidFill>
            </a:endParaRPr>
          </a:p>
          <a:p>
            <a:pPr algn="ctr"/>
            <a:endParaRPr lang="en-US" altLang="ko-KR" b="1" dirty="0">
              <a:solidFill>
                <a:prstClr val="white"/>
              </a:solidFill>
            </a:endParaRPr>
          </a:p>
          <a:p>
            <a:pPr algn="ctr"/>
            <a:endParaRPr lang="en-US" altLang="ko-KR" b="1" dirty="0" smtClean="0">
              <a:solidFill>
                <a:prstClr val="white"/>
              </a:solidFill>
            </a:endParaRPr>
          </a:p>
          <a:p>
            <a:pPr algn="ctr"/>
            <a:endParaRPr lang="en-US" altLang="ko-KR" b="1" dirty="0">
              <a:solidFill>
                <a:prstClr val="white"/>
              </a:solidFill>
            </a:endParaRPr>
          </a:p>
          <a:p>
            <a:pPr algn="ctr"/>
            <a:endParaRPr lang="ko-KR" altLang="en-US" b="1" dirty="0">
              <a:solidFill>
                <a:prstClr val="white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1117103" y="3645024"/>
            <a:ext cx="646585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15"/>
          <p:cNvSpPr/>
          <p:nvPr/>
        </p:nvSpPr>
        <p:spPr>
          <a:xfrm>
            <a:off x="6228184" y="3623538"/>
            <a:ext cx="2592288" cy="8443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>
                <a:solidFill>
                  <a:prstClr val="white"/>
                </a:solidFill>
              </a:rPr>
              <a:t>TotalBoardController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1600" y="3284984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prstClr val="black"/>
                </a:solidFill>
              </a:rPr>
              <a:t>①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요청</a:t>
            </a:r>
            <a:endParaRPr lang="ko-KR" altLang="en-US" sz="1600" b="1" dirty="0">
              <a:solidFill>
                <a:prstClr val="black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644008" y="3594502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prstClr val="black"/>
                </a:solidFill>
              </a:rPr>
              <a:t>②</a:t>
            </a:r>
            <a:r>
              <a:rPr lang="en-US" altLang="ko-KR" sz="1600" b="1" dirty="0" smtClean="0">
                <a:solidFill>
                  <a:prstClr val="black"/>
                </a:solidFill>
              </a:rPr>
              <a:t>list</a:t>
            </a:r>
            <a:endParaRPr lang="ko-KR" altLang="en-US" sz="1600" b="1" dirty="0">
              <a:solidFill>
                <a:prstClr val="black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27984" y="4653136"/>
            <a:ext cx="1778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prstClr val="black"/>
                </a:solidFill>
              </a:rPr>
              <a:t>③</a:t>
            </a:r>
            <a:r>
              <a:rPr lang="en-US" altLang="ko-KR" sz="1600" b="1" dirty="0" err="1" smtClean="0">
                <a:solidFill>
                  <a:prstClr val="black"/>
                </a:solidFill>
              </a:rPr>
              <a:t>ModelAndVew</a:t>
            </a:r>
            <a:endParaRPr lang="ko-KR" altLang="en-US" sz="1600" b="1" dirty="0">
              <a:solidFill>
                <a:prstClr val="black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004048" y="5420072"/>
            <a:ext cx="146791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>
                <a:solidFill>
                  <a:prstClr val="white"/>
                </a:solidFill>
              </a:rPr>
              <a:t>board.jsp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00870" y="5661248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prstClr val="black"/>
                </a:solidFill>
              </a:rPr>
              <a:t>④</a:t>
            </a:r>
            <a:r>
              <a:rPr lang="ko-KR" altLang="en-US" sz="1600" b="1" dirty="0" err="1" smtClean="0">
                <a:solidFill>
                  <a:prstClr val="black"/>
                </a:solidFill>
              </a:rPr>
              <a:t>뷰이름으로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 </a:t>
            </a:r>
            <a:endParaRPr lang="en-US" altLang="ko-KR" sz="1600" b="1" dirty="0" smtClean="0">
              <a:solidFill>
                <a:prstClr val="black"/>
              </a:solidFill>
            </a:endParaRPr>
          </a:p>
          <a:p>
            <a:r>
              <a:rPr lang="ko-KR" altLang="en-US" sz="1600" b="1" dirty="0" smtClean="0">
                <a:solidFill>
                  <a:prstClr val="black"/>
                </a:solidFill>
              </a:rPr>
              <a:t>  실제 </a:t>
            </a:r>
            <a:r>
              <a:rPr lang="ko-KR" altLang="en-US" sz="1600" b="1" dirty="0" err="1" smtClean="0">
                <a:solidFill>
                  <a:prstClr val="black"/>
                </a:solidFill>
              </a:rPr>
              <a:t>뷰</a:t>
            </a:r>
            <a:r>
              <a:rPr lang="ko-KR" altLang="en-US" sz="1600" b="1" dirty="0" smtClean="0">
                <a:solidFill>
                  <a:prstClr val="black"/>
                </a:solidFill>
              </a:rPr>
              <a:t> 확인</a:t>
            </a:r>
            <a:endParaRPr lang="ko-KR" altLang="en-US" sz="1600" b="1" dirty="0">
              <a:solidFill>
                <a:prstClr val="black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907704" y="3660993"/>
            <a:ext cx="2448272" cy="56009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>
                <a:solidFill>
                  <a:prstClr val="white"/>
                </a:solidFill>
              </a:rPr>
              <a:t>simpleUrlHandlerMapping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907704" y="4309065"/>
            <a:ext cx="2448272" cy="56009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>
                <a:solidFill>
                  <a:prstClr val="white"/>
                </a:solidFill>
              </a:rPr>
              <a:t>InternalResourceViewResolver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cxnSp>
        <p:nvCxnSpPr>
          <p:cNvPr id="66" name="꺾인 연결선 65"/>
          <p:cNvCxnSpPr>
            <a:stCxn id="63" idx="2"/>
          </p:cNvCxnSpPr>
          <p:nvPr/>
        </p:nvCxnSpPr>
        <p:spPr>
          <a:xfrm rot="16200000" flipH="1">
            <a:off x="3678188" y="4322812"/>
            <a:ext cx="779512" cy="1872208"/>
          </a:xfrm>
          <a:prstGeom prst="bentConnector2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62" idx="3"/>
          </p:cNvCxnSpPr>
          <p:nvPr/>
        </p:nvCxnSpPr>
        <p:spPr>
          <a:xfrm flipV="1">
            <a:off x="4355976" y="3941040"/>
            <a:ext cx="1872208" cy="1"/>
          </a:xfrm>
          <a:prstGeom prst="bentConnector3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6" idx="2"/>
          </p:cNvCxnSpPr>
          <p:nvPr/>
        </p:nvCxnSpPr>
        <p:spPr>
          <a:xfrm rot="5400000">
            <a:off x="5883533" y="3012341"/>
            <a:ext cx="185246" cy="3096344"/>
          </a:xfrm>
          <a:prstGeom prst="bentConnector2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5000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Spring </a:t>
            </a:r>
            <a:r>
              <a:rPr lang="ko-KR" altLang="en-US" dirty="0" smtClean="0"/>
              <a:t>게시판 코딩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35608" y="1447800"/>
            <a:ext cx="7279796" cy="5053034"/>
          </a:xfrm>
        </p:spPr>
        <p:txBody>
          <a:bodyPr>
            <a:normAutofit/>
          </a:bodyPr>
          <a:lstStyle/>
          <a:p>
            <a:r>
              <a:rPr lang="ko-KR" altLang="en-US" sz="2400" b="1" dirty="0" smtClean="0"/>
              <a:t>글 목록 보기 코딩</a:t>
            </a:r>
            <a:endParaRPr lang="en-US" altLang="ko-KR" sz="2400" b="1" dirty="0"/>
          </a:p>
          <a:p>
            <a:endParaRPr lang="en-US" altLang="ko-KR" sz="2400" b="1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489188"/>
            <a:ext cx="4896544" cy="4186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1600" y="2780928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DaoImpl</a:t>
            </a:r>
            <a:r>
              <a:rPr lang="en-US" altLang="ko-KR" b="1" dirty="0" smtClean="0"/>
              <a:t> class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3968" y="2195572"/>
            <a:ext cx="1879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Controller class</a:t>
            </a:r>
            <a:endParaRPr lang="ko-KR" altLang="en-US" b="1" dirty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3152696"/>
            <a:ext cx="4464495" cy="164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971600" y="4355812"/>
            <a:ext cx="1500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mapper xml</a:t>
            </a:r>
            <a:endParaRPr lang="ko-KR" altLang="en-US" b="1" dirty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54950"/>
            <a:ext cx="4355976" cy="2130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59817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</a:t>
            </a:r>
            <a:r>
              <a:rPr lang="en-US" altLang="ko-KR" dirty="0" err="1" smtClean="0"/>
              <a:t>Jquery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주요 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35608" y="1447800"/>
            <a:ext cx="7279796" cy="5053034"/>
          </a:xfrm>
        </p:spPr>
        <p:txBody>
          <a:bodyPr>
            <a:normAutofit/>
          </a:bodyPr>
          <a:lstStyle/>
          <a:p>
            <a:r>
              <a:rPr lang="ko-KR" altLang="en-US" sz="2400" b="1" dirty="0" smtClean="0"/>
              <a:t>알림 메시지 기능</a:t>
            </a:r>
            <a:endParaRPr lang="en-US" altLang="ko-KR" sz="2400" b="1" dirty="0" smtClean="0"/>
          </a:p>
          <a:p>
            <a:pPr>
              <a:buFontTx/>
              <a:buChar char="-"/>
            </a:pPr>
            <a:r>
              <a:rPr lang="ko-KR" altLang="en-US" sz="2400" dirty="0" smtClean="0"/>
              <a:t>필수 입력 미 입력 시 나 잘못 입력 시 알림 노출하는 기능</a:t>
            </a:r>
            <a:endParaRPr lang="en-US" altLang="ko-KR" sz="2400" dirty="0" smtClean="0"/>
          </a:p>
          <a:p>
            <a:pPr>
              <a:buFontTx/>
              <a:buChar char="-"/>
            </a:pPr>
            <a:endParaRPr lang="en-US" altLang="ko-KR" sz="2400" dirty="0" smtClean="0"/>
          </a:p>
          <a:p>
            <a:r>
              <a:rPr lang="en-US" altLang="ko-KR" sz="2400" b="1" dirty="0" err="1" smtClean="0"/>
              <a:t>Jquery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이용하여 알림 메시지 노출</a:t>
            </a:r>
            <a:endParaRPr lang="en-US" altLang="ko-KR" sz="2400" b="1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19869" y="4357694"/>
            <a:ext cx="27527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9741" y="4000504"/>
            <a:ext cx="519844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직사각형 9"/>
          <p:cNvSpPr/>
          <p:nvPr/>
        </p:nvSpPr>
        <p:spPr>
          <a:xfrm>
            <a:off x="7215206" y="4929198"/>
            <a:ext cx="142876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</a:t>
            </a:r>
            <a:r>
              <a:rPr lang="ko-KR" altLang="en-US" dirty="0" smtClean="0"/>
              <a:t>주요 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파일 업로드</a:t>
            </a:r>
            <a:endParaRPr lang="en-US" altLang="ko-KR" sz="2400" dirty="0" smtClean="0"/>
          </a:p>
          <a:p>
            <a:pPr>
              <a:buFontTx/>
              <a:buChar char="-"/>
            </a:pPr>
            <a:r>
              <a:rPr lang="ko-KR" altLang="en-US" sz="2000" dirty="0" smtClean="0"/>
              <a:t>파일 업로드를 할 수 있고 여러 개의 파일을 동시에 업로드 할 수 있는 기능</a:t>
            </a:r>
            <a:endParaRPr lang="en-US" altLang="ko-KR" sz="2000" dirty="0" smtClean="0"/>
          </a:p>
          <a:p>
            <a:pPr>
              <a:buFontTx/>
              <a:buChar char="-"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914873"/>
            <a:ext cx="5256282" cy="37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시연 화면</a:t>
            </a:r>
            <a:r>
              <a:rPr lang="en-US" altLang="ko-KR" dirty="0" smtClean="0"/>
              <a:t>_</a:t>
            </a:r>
            <a:r>
              <a:rPr lang="ko-KR" altLang="en-US" dirty="0" smtClean="0"/>
              <a:t>회원가</a:t>
            </a:r>
            <a:r>
              <a:rPr lang="ko-KR" altLang="en-US" dirty="0"/>
              <a:t>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45" y="1743350"/>
            <a:ext cx="6130255" cy="4998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1546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시연 화면</a:t>
            </a:r>
            <a:r>
              <a:rPr lang="en-US" altLang="ko-KR" dirty="0" smtClean="0"/>
              <a:t>_</a:t>
            </a:r>
            <a:r>
              <a:rPr lang="ko-KR" altLang="en-US" dirty="0" smtClean="0"/>
              <a:t>로그인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8" y="1679294"/>
            <a:ext cx="6506220" cy="5134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시연 화면</a:t>
            </a:r>
            <a:r>
              <a:rPr lang="en-US" altLang="ko-KR" dirty="0" smtClean="0"/>
              <a:t>_</a:t>
            </a:r>
            <a:r>
              <a:rPr lang="ko-KR" altLang="en-US" dirty="0" smtClean="0"/>
              <a:t>로그인 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12" y="1695652"/>
            <a:ext cx="6211788" cy="5045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5042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시연 화면</a:t>
            </a:r>
            <a:r>
              <a:rPr lang="en-US" altLang="ko-KR" dirty="0" smtClean="0"/>
              <a:t>_</a:t>
            </a:r>
            <a:r>
              <a:rPr lang="ko-KR" altLang="en-US" dirty="0" smtClean="0"/>
              <a:t>자유게시</a:t>
            </a:r>
            <a:r>
              <a:rPr lang="ko-KR" altLang="en-US" dirty="0"/>
              <a:t>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916832"/>
            <a:ext cx="7070407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5042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시연 화면</a:t>
            </a:r>
            <a:r>
              <a:rPr lang="en-US" altLang="ko-KR" dirty="0" smtClean="0"/>
              <a:t>_</a:t>
            </a:r>
            <a:r>
              <a:rPr lang="ko-KR" altLang="en-US" dirty="0" smtClean="0"/>
              <a:t>글 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863" y="1844824"/>
            <a:ext cx="7216601" cy="493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40106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35608" y="2564904"/>
            <a:ext cx="7498080" cy="1143000"/>
          </a:xfrm>
        </p:spPr>
        <p:txBody>
          <a:bodyPr/>
          <a:lstStyle/>
          <a:p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40106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태양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태양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태양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641</TotalTime>
  <Words>378</Words>
  <Application>Microsoft Office PowerPoint</Application>
  <PresentationFormat>화면 슬라이드 쇼(4:3)</PresentationFormat>
  <Paragraphs>208</Paragraphs>
  <Slides>21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태양</vt:lpstr>
      <vt:lpstr>Web 개발 프로젝트 발표</vt:lpstr>
      <vt:lpstr>목차</vt:lpstr>
      <vt:lpstr>1.주제선정</vt:lpstr>
      <vt:lpstr>2.1 DB 설계</vt:lpstr>
      <vt:lpstr>2.1 DB 설계 </vt:lpstr>
      <vt:lpstr>2.1 DB 설계</vt:lpstr>
      <vt:lpstr>2.1 DB 설계</vt:lpstr>
      <vt:lpstr>2. DB 설계_모든 테이블</vt:lpstr>
      <vt:lpstr>2.2일정</vt:lpstr>
      <vt:lpstr>3.1개발 환경</vt:lpstr>
      <vt:lpstr>3.2 개발 Flow</vt:lpstr>
      <vt:lpstr>3.3 Spring MVC 구조 개발</vt:lpstr>
      <vt:lpstr>3.3 Spring 게시판 코딩</vt:lpstr>
      <vt:lpstr>3.4 Jquery 주요 기능</vt:lpstr>
      <vt:lpstr>3.4 주요 기능</vt:lpstr>
      <vt:lpstr>4. 시연 화면_회원가입</vt:lpstr>
      <vt:lpstr>4. 시연 화면_로그인</vt:lpstr>
      <vt:lpstr>4. 시연 화면_로그인 후</vt:lpstr>
      <vt:lpstr>4. 시연 화면_자유게시판</vt:lpstr>
      <vt:lpstr>4. 시연 화면_글 보기</vt:lpstr>
      <vt:lpstr>감사합니다.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 프로젝트 발표</dc:title>
  <dc:creator>user</dc:creator>
  <cp:lastModifiedBy>user</cp:lastModifiedBy>
  <cp:revision>106</cp:revision>
  <dcterms:created xsi:type="dcterms:W3CDTF">2016-04-22T00:57:53Z</dcterms:created>
  <dcterms:modified xsi:type="dcterms:W3CDTF">2016-04-26T09:05:15Z</dcterms:modified>
</cp:coreProperties>
</file>