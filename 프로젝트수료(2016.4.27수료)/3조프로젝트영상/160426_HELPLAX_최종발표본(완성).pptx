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444" r:id="rId2"/>
    <p:sldId id="259" r:id="rId3"/>
    <p:sldId id="260" r:id="rId4"/>
    <p:sldId id="258" r:id="rId5"/>
    <p:sldId id="261" r:id="rId6"/>
    <p:sldId id="438" r:id="rId7"/>
    <p:sldId id="370" r:id="rId8"/>
    <p:sldId id="369" r:id="rId9"/>
    <p:sldId id="437" r:id="rId10"/>
    <p:sldId id="439" r:id="rId11"/>
    <p:sldId id="420" r:id="rId12"/>
    <p:sldId id="422" r:id="rId13"/>
    <p:sldId id="436" r:id="rId14"/>
    <p:sldId id="442" r:id="rId15"/>
    <p:sldId id="446" r:id="rId16"/>
    <p:sldId id="445" r:id="rId17"/>
    <p:sldId id="431" r:id="rId18"/>
    <p:sldId id="432" r:id="rId19"/>
    <p:sldId id="433" r:id="rId20"/>
    <p:sldId id="347" r:id="rId21"/>
    <p:sldId id="440" r:id="rId2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A35"/>
    <a:srgbClr val="C1392B"/>
    <a:srgbClr val="8D42C6"/>
    <a:srgbClr val="9BBB58"/>
    <a:srgbClr val="297FB8"/>
    <a:srgbClr val="16A086"/>
    <a:srgbClr val="F39C11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62" autoAdjust="0"/>
    <p:restoredTop sz="94746" autoAdjust="0"/>
  </p:normalViewPr>
  <p:slideViewPr>
    <p:cSldViewPr snapToGrid="0">
      <p:cViewPr>
        <p:scale>
          <a:sx n="66" d="100"/>
          <a:sy n="66" d="100"/>
        </p:scale>
        <p:origin x="-876" y="-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038519-11D9-43DC-A6A7-A5B23CE6CFAA}" type="datetimeFigureOut">
              <a:rPr lang="ko-KR" altLang="en-US" smtClean="0"/>
              <a:pPr/>
              <a:t>2016-04-26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C47F67-4B9C-45D8-A946-546354AC94C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47F67-4B9C-45D8-A946-546354AC94CC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47F67-4B9C-45D8-A946-546354AC94CC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47F67-4B9C-45D8-A946-546354AC94CC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47F67-4B9C-45D8-A946-546354AC94CC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47F67-4B9C-45D8-A946-546354AC94CC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2FC5E-D5AF-4D07-9FBC-7E3824851F9E}" type="datetimeFigureOut">
              <a:rPr lang="es-ES" smtClean="0"/>
              <a:pPr/>
              <a:t>26/04/2016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5C631-4678-4CD5-9176-4470F9C2BF62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="" xmlns:p14="http://schemas.microsoft.com/office/powerpoint/2010/main" val="2343971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2FC5E-D5AF-4D07-9FBC-7E3824851F9E}" type="datetimeFigureOut">
              <a:rPr lang="es-ES" smtClean="0"/>
              <a:pPr/>
              <a:t>26/04/2016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5C631-4678-4CD5-9176-4470F9C2BF62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="" xmlns:p14="http://schemas.microsoft.com/office/powerpoint/2010/main" val="1100399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2FC5E-D5AF-4D07-9FBC-7E3824851F9E}" type="datetimeFigureOut">
              <a:rPr lang="es-ES" smtClean="0"/>
              <a:pPr/>
              <a:t>26/04/2016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5C631-4678-4CD5-9176-4470F9C2BF62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="" xmlns:p14="http://schemas.microsoft.com/office/powerpoint/2010/main" val="1374284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2FC5E-D5AF-4D07-9FBC-7E3824851F9E}" type="datetimeFigureOut">
              <a:rPr lang="es-ES" smtClean="0"/>
              <a:pPr/>
              <a:t>26/04/2016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5C631-4678-4CD5-9176-4470F9C2BF62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="" xmlns:p14="http://schemas.microsoft.com/office/powerpoint/2010/main" val="1980394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2FC5E-D5AF-4D07-9FBC-7E3824851F9E}" type="datetimeFigureOut">
              <a:rPr lang="es-ES" smtClean="0"/>
              <a:pPr/>
              <a:t>26/04/2016</a:t>
            </a:fld>
            <a:endParaRPr lang="es-ES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5C631-4678-4CD5-9176-4470F9C2BF62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="" xmlns:p14="http://schemas.microsoft.com/office/powerpoint/2010/main" val="3893070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2FC5E-D5AF-4D07-9FBC-7E3824851F9E}" type="datetimeFigureOut">
              <a:rPr lang="es-ES" smtClean="0"/>
              <a:pPr/>
              <a:t>26/04/2016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5C631-4678-4CD5-9176-4470F9C2BF62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="" xmlns:p14="http://schemas.microsoft.com/office/powerpoint/2010/main" val="4238491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2FC5E-D5AF-4D07-9FBC-7E3824851F9E}" type="datetimeFigureOut">
              <a:rPr lang="es-ES" smtClean="0"/>
              <a:pPr/>
              <a:t>26/04/2016</a:t>
            </a:fld>
            <a:endParaRPr lang="es-ES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5C631-4678-4CD5-9176-4470F9C2BF62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="" xmlns:p14="http://schemas.microsoft.com/office/powerpoint/2010/main" val="3413758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2FC5E-D5AF-4D07-9FBC-7E3824851F9E}" type="datetimeFigureOut">
              <a:rPr lang="es-ES" smtClean="0"/>
              <a:pPr/>
              <a:t>26/04/2016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5C631-4678-4CD5-9176-4470F9C2BF62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="" xmlns:p14="http://schemas.microsoft.com/office/powerpoint/2010/main" val="1947887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2FC5E-D5AF-4D07-9FBC-7E3824851F9E}" type="datetimeFigureOut">
              <a:rPr lang="es-ES" smtClean="0"/>
              <a:pPr/>
              <a:t>26/04/2016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5C631-4678-4CD5-9176-4470F9C2BF62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="" xmlns:p14="http://schemas.microsoft.com/office/powerpoint/2010/main" val="1834287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2FC5E-D5AF-4D07-9FBC-7E3824851F9E}" type="datetimeFigureOut">
              <a:rPr lang="es-ES" smtClean="0"/>
              <a:pPr/>
              <a:t>26/04/2016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5C631-4678-4CD5-9176-4470F9C2BF62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="" xmlns:p14="http://schemas.microsoft.com/office/powerpoint/2010/main" val="2619016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2FC5E-D5AF-4D07-9FBC-7E3824851F9E}" type="datetimeFigureOut">
              <a:rPr lang="es-ES" smtClean="0"/>
              <a:pPr/>
              <a:t>26/04/2016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5C631-4678-4CD5-9176-4470F9C2BF62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="" xmlns:p14="http://schemas.microsoft.com/office/powerpoint/2010/main" val="232902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62FC5E-D5AF-4D07-9FBC-7E3824851F9E}" type="datetimeFigureOut">
              <a:rPr lang="es-ES" smtClean="0"/>
              <a:pPr/>
              <a:t>26/04/2016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5C631-4678-4CD5-9176-4470F9C2BF62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="" xmlns:p14="http://schemas.microsoft.com/office/powerpoint/2010/main" val="928509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AutoShape 2" descr="http://localhost:8090/Helplax/images/Logo_white.svg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3252" name="AutoShape 4" descr="http://localhost:8090/Helplax/images/Logo_white.svg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3254" name="AutoShape 6" descr="http://localhost:8090/Helplax/images/Logo_white.svg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4456769" y="858186"/>
            <a:ext cx="32784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dirty="0" smtClean="0">
                <a:solidFill>
                  <a:schemeClr val="bg1">
                    <a:lumMod val="75000"/>
                  </a:schemeClr>
                </a:solidFill>
                <a:latin typeface="Verdana" pitchFamily="34" charset="0"/>
                <a:cs typeface="Verdana" pitchFamily="34" charset="0"/>
              </a:rPr>
              <a:t>HELPLAX</a:t>
            </a:r>
            <a:endParaRPr lang="ko-KR" altLang="en-US" sz="5400" dirty="0">
              <a:solidFill>
                <a:schemeClr val="bg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52640" y="1778977"/>
            <a:ext cx="7686720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500" dirty="0" smtClean="0">
                <a:solidFill>
                  <a:schemeClr val="bg1"/>
                </a:solidFill>
                <a:latin typeface="HY중고딕" pitchFamily="18" charset="-127"/>
                <a:ea typeface="HY중고딕" pitchFamily="18" charset="-127"/>
              </a:rPr>
              <a:t>김경동 김태수 장선미 조주현</a:t>
            </a:r>
            <a:endParaRPr lang="en-US" altLang="ko-KR" sz="4500" dirty="0" smtClean="0">
              <a:solidFill>
                <a:schemeClr val="bg1"/>
              </a:solidFill>
              <a:latin typeface="HY중고딕" pitchFamily="18" charset="-127"/>
              <a:ea typeface="HY중고딕" pitchFamily="18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69927" y="2637971"/>
            <a:ext cx="2452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solidFill>
                  <a:schemeClr val="bg1">
                    <a:lumMod val="75000"/>
                  </a:schemeClr>
                </a:solidFill>
                <a:latin typeface="Verdana" pitchFamily="34" charset="0"/>
                <a:cs typeface="Verdana" pitchFamily="34" charset="0"/>
              </a:rPr>
              <a:t>www.helplax.com</a:t>
            </a:r>
            <a:endParaRPr lang="ko-KR" altLang="en-US" sz="2000" dirty="0">
              <a:solidFill>
                <a:schemeClr val="bg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19" name="Rectángulo redondeado 9"/>
          <p:cNvSpPr/>
          <p:nvPr/>
        </p:nvSpPr>
        <p:spPr>
          <a:xfrm>
            <a:off x="5422985" y="4645190"/>
            <a:ext cx="1346030" cy="1346030"/>
          </a:xfrm>
          <a:prstGeom prst="roundRect">
            <a:avLst/>
          </a:prstGeom>
          <a:solidFill>
            <a:srgbClr val="F39C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20" name="Picture 4" descr="C:\Users\user\Desktop\down\hotel-maid (1)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9346" y="4811551"/>
            <a:ext cx="1013308" cy="10133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79082040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redondeado 9"/>
          <p:cNvSpPr/>
          <p:nvPr/>
        </p:nvSpPr>
        <p:spPr>
          <a:xfrm>
            <a:off x="5361602" y="2148733"/>
            <a:ext cx="1346030" cy="1346030"/>
          </a:xfrm>
          <a:prstGeom prst="roundRect">
            <a:avLst/>
          </a:prstGeom>
          <a:solidFill>
            <a:srgbClr val="F39C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TextBox 12"/>
          <p:cNvSpPr txBox="1"/>
          <p:nvPr/>
        </p:nvSpPr>
        <p:spPr>
          <a:xfrm>
            <a:off x="4456769" y="3511094"/>
            <a:ext cx="32784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dirty="0" smtClean="0">
                <a:solidFill>
                  <a:schemeClr val="bg1"/>
                </a:solidFill>
                <a:latin typeface="Verdana" pitchFamily="34" charset="0"/>
                <a:cs typeface="Verdana" pitchFamily="34" charset="0"/>
              </a:rPr>
              <a:t>HELPLAX</a:t>
            </a:r>
            <a:endParaRPr lang="ko-KR" altLang="en-US" sz="5400" dirty="0">
              <a:solidFill>
                <a:schemeClr val="bg1"/>
              </a:solidFill>
              <a:latin typeface="Verdana" pitchFamily="34" charset="0"/>
              <a:cs typeface="Verdana" pitchFamily="34" charset="0"/>
            </a:endParaRPr>
          </a:p>
        </p:txBody>
      </p:sp>
      <p:pic>
        <p:nvPicPr>
          <p:cNvPr id="2052" name="Picture 4" descr="C:\Users\user\Desktop\down\hotel-maid (1)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27963" y="2315094"/>
            <a:ext cx="1013308" cy="1013308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4529802" y="4216824"/>
            <a:ext cx="313239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600" dirty="0" smtClean="0">
                <a:solidFill>
                  <a:schemeClr val="bg1">
                    <a:lumMod val="75000"/>
                  </a:schemeClr>
                </a:solidFill>
                <a:latin typeface="Verdana" pitchFamily="34" charset="0"/>
                <a:cs typeface="Verdana" pitchFamily="34" charset="0"/>
              </a:rPr>
              <a:t>www.helplax.com</a:t>
            </a:r>
            <a:endParaRPr lang="ko-KR" altLang="en-US" sz="2600" dirty="0">
              <a:solidFill>
                <a:schemeClr val="bg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53250" name="AutoShape 2" descr="http://localhost:8090/Helplax/images/Logo_white.svg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3252" name="AutoShape 4" descr="http://localhost:8090/Helplax/images/Logo_white.svg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3254" name="AutoShape 6" descr="http://localhost:8090/Helplax/images/Logo_white.svg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79082040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5637795" y="1651473"/>
            <a:ext cx="5181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smtClean="0">
                <a:solidFill>
                  <a:schemeClr val="bg1"/>
                </a:solidFill>
                <a:latin typeface="HY중고딕" pitchFamily="18" charset="-127"/>
                <a:ea typeface="HY중고딕" pitchFamily="18" charset="-127"/>
              </a:rPr>
              <a:t>벤치마킹</a:t>
            </a:r>
            <a:endParaRPr lang="en-US" altLang="ko-KR" sz="3600" dirty="0" smtClean="0">
              <a:solidFill>
                <a:schemeClr val="bg1"/>
              </a:solidFill>
              <a:latin typeface="HY중고딕" pitchFamily="18" charset="-127"/>
              <a:ea typeface="HY중고딕" pitchFamily="18" charset="-127"/>
            </a:endParaRPr>
          </a:p>
          <a:p>
            <a:r>
              <a:rPr lang="ko-KR" altLang="en-US" sz="3600" dirty="0" smtClean="0">
                <a:solidFill>
                  <a:schemeClr val="bg1"/>
                </a:solidFill>
                <a:latin typeface="HY중고딕" pitchFamily="18" charset="-127"/>
                <a:ea typeface="HY중고딕" pitchFamily="18" charset="-127"/>
              </a:rPr>
              <a:t>개발환경 </a:t>
            </a:r>
            <a:r>
              <a:rPr lang="en-US" altLang="ko-KR" sz="3600" dirty="0" smtClean="0">
                <a:solidFill>
                  <a:schemeClr val="bg1"/>
                </a:solidFill>
                <a:latin typeface="HY중고딕" pitchFamily="18" charset="-127"/>
                <a:ea typeface="HY중고딕" pitchFamily="18" charset="-127"/>
              </a:rPr>
              <a:t>&amp; </a:t>
            </a:r>
            <a:r>
              <a:rPr lang="ko-KR" altLang="en-US" sz="3600" dirty="0" smtClean="0">
                <a:solidFill>
                  <a:schemeClr val="bg1"/>
                </a:solidFill>
                <a:latin typeface="HY중고딕" pitchFamily="18" charset="-127"/>
                <a:ea typeface="HY중고딕" pitchFamily="18" charset="-127"/>
              </a:rPr>
              <a:t>일정</a:t>
            </a:r>
            <a:endParaRPr lang="en-US" altLang="ko-KR" sz="3600" dirty="0" smtClean="0">
              <a:solidFill>
                <a:schemeClr val="bg1"/>
              </a:solidFill>
              <a:latin typeface="HY중고딕" pitchFamily="18" charset="-127"/>
              <a:ea typeface="HY중고딕" pitchFamily="18" charset="-127"/>
            </a:endParaRPr>
          </a:p>
          <a:p>
            <a:r>
              <a:rPr lang="en-US" altLang="ko-KR" sz="3600" dirty="0" smtClean="0">
                <a:solidFill>
                  <a:schemeClr val="bg1"/>
                </a:solidFill>
                <a:latin typeface="HY중고딕" pitchFamily="18" charset="-127"/>
                <a:ea typeface="HY중고딕" pitchFamily="18" charset="-127"/>
              </a:rPr>
              <a:t>DB</a:t>
            </a:r>
            <a:r>
              <a:rPr lang="ko-KR" altLang="en-US" sz="3600" dirty="0" smtClean="0">
                <a:solidFill>
                  <a:schemeClr val="bg1"/>
                </a:solidFill>
                <a:latin typeface="HY중고딕" pitchFamily="18" charset="-127"/>
                <a:ea typeface="HY중고딕" pitchFamily="18" charset="-127"/>
              </a:rPr>
              <a:t>설계</a:t>
            </a:r>
            <a:endParaRPr lang="en-US" altLang="ko-KR" sz="3600" dirty="0" smtClean="0">
              <a:solidFill>
                <a:schemeClr val="bg1"/>
              </a:solidFill>
              <a:latin typeface="HY중고딕" pitchFamily="18" charset="-127"/>
              <a:ea typeface="HY중고딕" pitchFamily="18" charset="-127"/>
            </a:endParaRPr>
          </a:p>
          <a:p>
            <a:r>
              <a:rPr lang="ko-KR" altLang="en-US" sz="3600" dirty="0" smtClean="0">
                <a:solidFill>
                  <a:schemeClr val="bg1"/>
                </a:solidFill>
                <a:latin typeface="HY중고딕" pitchFamily="18" charset="-127"/>
                <a:ea typeface="HY중고딕" pitchFamily="18" charset="-127"/>
              </a:rPr>
              <a:t>스토리보드</a:t>
            </a:r>
            <a:endParaRPr lang="en-US" altLang="ko-KR" sz="3600" dirty="0" smtClean="0">
              <a:solidFill>
                <a:schemeClr val="bg1"/>
              </a:solidFill>
              <a:latin typeface="HY중고딕" pitchFamily="18" charset="-127"/>
              <a:ea typeface="HY중고딕" pitchFamily="18" charset="-127"/>
            </a:endParaRPr>
          </a:p>
          <a:p>
            <a:r>
              <a:rPr lang="ko-KR" altLang="en-US" sz="3600" dirty="0" smtClean="0">
                <a:solidFill>
                  <a:schemeClr val="bg1"/>
                </a:solidFill>
                <a:latin typeface="HY중고딕" pitchFamily="18" charset="-127"/>
                <a:ea typeface="HY중고딕" pitchFamily="18" charset="-127"/>
              </a:rPr>
              <a:t>핵심기능 </a:t>
            </a:r>
            <a:r>
              <a:rPr lang="en-US" altLang="ko-KR" sz="3600" dirty="0" smtClean="0">
                <a:solidFill>
                  <a:schemeClr val="bg1"/>
                </a:solidFill>
                <a:latin typeface="HY중고딕" pitchFamily="18" charset="-127"/>
                <a:ea typeface="HY중고딕" pitchFamily="18" charset="-127"/>
              </a:rPr>
              <a:t>&amp;</a:t>
            </a:r>
            <a:r>
              <a:rPr lang="ko-KR" altLang="en-US" sz="3600" dirty="0" smtClean="0">
                <a:solidFill>
                  <a:schemeClr val="bg1"/>
                </a:solidFill>
                <a:latin typeface="HY중고딕" pitchFamily="18" charset="-127"/>
                <a:ea typeface="HY중고딕" pitchFamily="18" charset="-127"/>
              </a:rPr>
              <a:t> 소스코드</a:t>
            </a:r>
            <a:endParaRPr lang="en-US" altLang="ko-KR" sz="3600" dirty="0" smtClean="0">
              <a:solidFill>
                <a:schemeClr val="bg1"/>
              </a:solidFill>
              <a:latin typeface="HY중고딕" pitchFamily="18" charset="-127"/>
              <a:ea typeface="HY중고딕" pitchFamily="18" charset="-127"/>
            </a:endParaRPr>
          </a:p>
          <a:p>
            <a:r>
              <a:rPr lang="ko-KR" altLang="en-US" sz="3600" dirty="0" smtClean="0">
                <a:solidFill>
                  <a:schemeClr val="bg1"/>
                </a:solidFill>
                <a:latin typeface="HY중고딕" pitchFamily="18" charset="-127"/>
                <a:ea typeface="HY중고딕" pitchFamily="18" charset="-127"/>
              </a:rPr>
              <a:t>시연</a:t>
            </a:r>
            <a:endParaRPr lang="en-US" altLang="ko-KR" sz="3600" dirty="0" smtClean="0">
              <a:solidFill>
                <a:schemeClr val="bg1"/>
              </a:solidFill>
              <a:latin typeface="HY중고딕" pitchFamily="18" charset="-127"/>
              <a:ea typeface="HY중고딕" pitchFamily="18" charset="-127"/>
            </a:endParaRPr>
          </a:p>
        </p:txBody>
      </p:sp>
      <p:pic>
        <p:nvPicPr>
          <p:cNvPr id="22" name="Picture 4" descr="C:\Users\user\Desktop\down\hotel-maid (1)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791" y="212795"/>
            <a:ext cx="609600" cy="609600"/>
          </a:xfrm>
          <a:prstGeom prst="rect">
            <a:avLst/>
          </a:prstGeom>
          <a:noFill/>
        </p:spPr>
      </p:pic>
      <p:sp>
        <p:nvSpPr>
          <p:cNvPr id="23" name="TextBox 22"/>
          <p:cNvSpPr txBox="1"/>
          <p:nvPr/>
        </p:nvSpPr>
        <p:spPr>
          <a:xfrm>
            <a:off x="772805" y="331307"/>
            <a:ext cx="1101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chemeClr val="bg1">
                    <a:lumMod val="75000"/>
                  </a:schemeClr>
                </a:solidFill>
                <a:latin typeface="Verdana" pitchFamily="34" charset="0"/>
                <a:cs typeface="Verdana" pitchFamily="34" charset="0"/>
              </a:rPr>
              <a:t>HELPLAX</a:t>
            </a: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022327" y="6435660"/>
            <a:ext cx="1775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bg1">
                    <a:lumMod val="75000"/>
                  </a:schemeClr>
                </a:solidFill>
                <a:latin typeface="Verdana" pitchFamily="34" charset="0"/>
                <a:cs typeface="Verdana" pitchFamily="34" charset="0"/>
              </a:rPr>
              <a:t>www.helplax.com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781317" y="588219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  <a:latin typeface="HY중고딕" pitchFamily="18" charset="-127"/>
                <a:ea typeface="HY중고딕" pitchFamily="18" charset="-127"/>
              </a:rPr>
              <a:t>목차</a:t>
            </a:r>
            <a:endParaRPr lang="en-US" altLang="ko-KR" dirty="0" smtClean="0">
              <a:solidFill>
                <a:schemeClr val="bg1"/>
              </a:solidFill>
              <a:latin typeface="HY중고딕" pitchFamily="18" charset="-127"/>
              <a:ea typeface="HY중고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2157578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C:\Users\user\Desktop\PPT\벤치마킹.PNG"/>
          <p:cNvPicPr>
            <a:picLocks noChangeAspect="1" noChangeArrowheads="1"/>
          </p:cNvPicPr>
          <p:nvPr/>
        </p:nvPicPr>
        <p:blipFill>
          <a:blip r:embed="rId2"/>
          <a:srcRect b="26464"/>
          <a:stretch>
            <a:fillRect/>
          </a:stretch>
        </p:blipFill>
        <p:spPr bwMode="auto">
          <a:xfrm>
            <a:off x="4938506" y="577436"/>
            <a:ext cx="6290636" cy="2761150"/>
          </a:xfrm>
          <a:prstGeom prst="rect">
            <a:avLst/>
          </a:prstGeom>
          <a:noFill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64251" y="3560204"/>
            <a:ext cx="6278900" cy="253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4" descr="C:\Users\user\Desktop\down\hotel-maid (1)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791" y="212795"/>
            <a:ext cx="609600" cy="609600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772805" y="331307"/>
            <a:ext cx="1101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chemeClr val="bg1">
                    <a:lumMod val="75000"/>
                  </a:schemeClr>
                </a:solidFill>
                <a:latin typeface="Verdana" pitchFamily="34" charset="0"/>
                <a:cs typeface="Verdana" pitchFamily="34" charset="0"/>
              </a:rPr>
              <a:t>HELPLAX</a:t>
            </a: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22327" y="6435660"/>
            <a:ext cx="1775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bg1">
                    <a:lumMod val="75000"/>
                  </a:schemeClr>
                </a:solidFill>
                <a:latin typeface="Verdana" pitchFamily="34" charset="0"/>
                <a:cs typeface="Verdana" pitchFamily="34" charset="0"/>
              </a:rPr>
              <a:t>www.helplax.com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81317" y="58821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  <a:latin typeface="HY중고딕" pitchFamily="18" charset="-127"/>
                <a:ea typeface="HY중고딕" pitchFamily="18" charset="-127"/>
              </a:rPr>
              <a:t>벤치마킹</a:t>
            </a:r>
            <a:endParaRPr lang="en-US" altLang="ko-KR" dirty="0" smtClean="0">
              <a:solidFill>
                <a:schemeClr val="bg1"/>
              </a:solidFill>
              <a:latin typeface="HY중고딕" pitchFamily="18" charset="-127"/>
              <a:ea typeface="HY중고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3437517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9322" y="4356991"/>
            <a:ext cx="5539408" cy="1430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" name="Picture 4" descr="C:\Users\user\Desktop\down\hotel-maid (1).png"/>
          <p:cNvPicPr>
            <a:picLocks noChangeAspect="1" noChangeArrowheads="1"/>
          </p:cNvPicPr>
          <p:nvPr/>
        </p:nvPicPr>
        <p:blipFill>
          <a:blip r:embed="rId3" cstate="print">
            <a:lum bright="-40000"/>
          </a:blip>
          <a:srcRect/>
          <a:stretch>
            <a:fillRect/>
          </a:stretch>
        </p:blipFill>
        <p:spPr bwMode="auto">
          <a:xfrm>
            <a:off x="251791" y="212795"/>
            <a:ext cx="609600" cy="609600"/>
          </a:xfrm>
          <a:prstGeom prst="rect">
            <a:avLst/>
          </a:prstGeom>
          <a:noFill/>
        </p:spPr>
      </p:pic>
      <p:pic>
        <p:nvPicPr>
          <p:cNvPr id="99339" name="Picture 1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96284" y="679418"/>
            <a:ext cx="6466634" cy="361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10022327" y="6435660"/>
            <a:ext cx="1775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bg1">
                    <a:lumMod val="75000"/>
                  </a:schemeClr>
                </a:solidFill>
                <a:latin typeface="Verdana" pitchFamily="34" charset="0"/>
                <a:cs typeface="Verdana" pitchFamily="34" charset="0"/>
              </a:rPr>
              <a:t>www.helplax.com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2805" y="331307"/>
            <a:ext cx="1101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chemeClr val="bg1">
                    <a:lumMod val="75000"/>
                  </a:schemeClr>
                </a:solidFill>
                <a:latin typeface="Verdana" pitchFamily="34" charset="0"/>
                <a:cs typeface="Verdana" pitchFamily="34" charset="0"/>
              </a:rPr>
              <a:t>HELPLAX</a:t>
            </a: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781317" y="58821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solidFill>
                  <a:schemeClr val="bg1">
                    <a:lumMod val="75000"/>
                  </a:schemeClr>
                </a:solidFill>
                <a:latin typeface="HY중고딕" pitchFamily="18" charset="-127"/>
                <a:ea typeface="HY중고딕" pitchFamily="18" charset="-127"/>
              </a:rPr>
              <a:t>벤치마킹</a:t>
            </a:r>
            <a:endParaRPr lang="en-US" altLang="ko-KR" dirty="0" smtClean="0">
              <a:solidFill>
                <a:schemeClr val="bg1">
                  <a:lumMod val="75000"/>
                </a:schemeClr>
              </a:solidFill>
              <a:latin typeface="HY중고딕" pitchFamily="18" charset="-127"/>
              <a:ea typeface="HY중고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1667716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 descr="http://www.worldstatesmen.org/nz.gif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0022327" y="6435660"/>
            <a:ext cx="1775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bg1">
                    <a:lumMod val="75000"/>
                  </a:schemeClr>
                </a:solidFill>
                <a:latin typeface="Verdana" pitchFamily="34" charset="0"/>
                <a:cs typeface="Verdana" pitchFamily="34" charset="0"/>
              </a:rPr>
              <a:t>www.helplax.com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1570306" y="1081771"/>
            <a:ext cx="9051388" cy="4919547"/>
            <a:chOff x="1353693" y="1012874"/>
            <a:chExt cx="9051388" cy="4919547"/>
          </a:xfrm>
        </p:grpSpPr>
        <p:pic>
          <p:nvPicPr>
            <p:cNvPr id="1028" name="Picture 4" descr="http://uhak.innofish.net/wp-content/uploads/2015/01/%EB%89%B4%EC%A7%88%EB%9E%9C%EB%93%9C.jpg"/>
            <p:cNvPicPr>
              <a:picLocks noChangeAspect="1" noChangeArrowheads="1"/>
            </p:cNvPicPr>
            <p:nvPr/>
          </p:nvPicPr>
          <p:blipFill>
            <a:blip r:embed="rId2"/>
            <a:srcRect t="2780"/>
            <a:stretch>
              <a:fillRect/>
            </a:stretch>
          </p:blipFill>
          <p:spPr bwMode="auto">
            <a:xfrm>
              <a:off x="1353693" y="1012874"/>
              <a:ext cx="9051388" cy="4919547"/>
            </a:xfrm>
            <a:prstGeom prst="rect">
              <a:avLst/>
            </a:prstGeom>
            <a:noFill/>
          </p:spPr>
        </p:pic>
        <p:sp>
          <p:nvSpPr>
            <p:cNvPr id="10" name="Rectángulo redondeado 9"/>
            <p:cNvSpPr/>
            <p:nvPr/>
          </p:nvSpPr>
          <p:spPr>
            <a:xfrm>
              <a:off x="5313544" y="1319465"/>
              <a:ext cx="1131686" cy="1131686"/>
            </a:xfrm>
            <a:prstGeom prst="roundRect">
              <a:avLst/>
            </a:prstGeom>
            <a:solidFill>
              <a:srgbClr val="F39C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328595" y="2448042"/>
              <a:ext cx="1101584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600" dirty="0" smtClean="0">
                  <a:solidFill>
                    <a:schemeClr val="bg1"/>
                  </a:solidFill>
                  <a:latin typeface="Verdana" pitchFamily="34" charset="0"/>
                  <a:cs typeface="Verdana" pitchFamily="34" charset="0"/>
                </a:rPr>
                <a:t>HELPLAX</a:t>
              </a:r>
              <a:endParaRPr lang="en-US" altLang="ko-KR" sz="1400" dirty="0" smtClean="0">
                <a:solidFill>
                  <a:schemeClr val="bg1"/>
                </a:solidFill>
                <a:latin typeface="Verdana" pitchFamily="34" charset="0"/>
                <a:cs typeface="Verdana" pitchFamily="34" charset="0"/>
              </a:endParaRPr>
            </a:p>
            <a:p>
              <a:pPr algn="ctr"/>
              <a:r>
                <a:rPr lang="en-US" altLang="ko-KR" sz="1400" dirty="0" smtClean="0">
                  <a:solidFill>
                    <a:schemeClr val="bg1"/>
                  </a:solidFill>
                  <a:latin typeface="Verdana" pitchFamily="34" charset="0"/>
                  <a:cs typeface="Verdana" pitchFamily="34" charset="0"/>
                </a:rPr>
                <a:t>in</a:t>
              </a:r>
              <a:endParaRPr lang="ko-KR" altLang="en-US" sz="1400" dirty="0">
                <a:solidFill>
                  <a:schemeClr val="bg1"/>
                </a:solidFill>
                <a:latin typeface="Verdana" pitchFamily="34" charset="0"/>
                <a:cs typeface="Verdana" pitchFamily="34" charset="0"/>
              </a:endParaRPr>
            </a:p>
          </p:txBody>
        </p:sp>
        <p:pic>
          <p:nvPicPr>
            <p:cNvPr id="12" name="Picture 4" descr="C:\Users\user\Desktop\down\hotel-maid (1)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453414" y="1459335"/>
              <a:ext cx="851946" cy="851946"/>
            </a:xfrm>
            <a:prstGeom prst="rect">
              <a:avLst/>
            </a:prstGeom>
            <a:noFill/>
          </p:spPr>
        </p:pic>
      </p:grpSp>
      <p:pic>
        <p:nvPicPr>
          <p:cNvPr id="15" name="Picture 4" descr="C:\Users\user\Desktop\down\hotel-maid (1).png"/>
          <p:cNvPicPr>
            <a:picLocks noChangeAspect="1" noChangeArrowheads="1"/>
          </p:cNvPicPr>
          <p:nvPr/>
        </p:nvPicPr>
        <p:blipFill>
          <a:blip r:embed="rId4" cstate="print">
            <a:lum bright="-40000"/>
          </a:blip>
          <a:srcRect/>
          <a:stretch>
            <a:fillRect/>
          </a:stretch>
        </p:blipFill>
        <p:spPr bwMode="auto">
          <a:xfrm>
            <a:off x="251791" y="212795"/>
            <a:ext cx="609600" cy="609600"/>
          </a:xfrm>
          <a:prstGeom prst="rect">
            <a:avLst/>
          </a:prstGeom>
          <a:noFill/>
        </p:spPr>
      </p:pic>
      <p:sp>
        <p:nvSpPr>
          <p:cNvPr id="16" name="TextBox 15"/>
          <p:cNvSpPr txBox="1"/>
          <p:nvPr/>
        </p:nvSpPr>
        <p:spPr>
          <a:xfrm>
            <a:off x="772805" y="331307"/>
            <a:ext cx="1101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chemeClr val="bg1">
                    <a:lumMod val="75000"/>
                  </a:schemeClr>
                </a:solidFill>
                <a:latin typeface="Verdana" pitchFamily="34" charset="0"/>
                <a:cs typeface="Verdana" pitchFamily="34" charset="0"/>
              </a:rPr>
              <a:t>HELPLAX</a:t>
            </a: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781317" y="58821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solidFill>
                  <a:schemeClr val="bg1">
                    <a:lumMod val="75000"/>
                  </a:schemeClr>
                </a:solidFill>
                <a:latin typeface="HY중고딕" pitchFamily="18" charset="-127"/>
                <a:ea typeface="HY중고딕" pitchFamily="18" charset="-127"/>
              </a:rPr>
              <a:t>주제선정</a:t>
            </a:r>
            <a:endParaRPr lang="en-US" altLang="ko-KR" dirty="0" smtClean="0">
              <a:solidFill>
                <a:schemeClr val="bg1">
                  <a:lumMod val="75000"/>
                </a:schemeClr>
              </a:solidFill>
              <a:latin typeface="HY중고딕" pitchFamily="18" charset="-127"/>
              <a:ea typeface="HY중고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1667716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 descr="C:\Users\user\Desktop\down\hotel-maid (1).png"/>
          <p:cNvPicPr>
            <a:picLocks noChangeAspect="1" noChangeArrowheads="1"/>
          </p:cNvPicPr>
          <p:nvPr/>
        </p:nvPicPr>
        <p:blipFill>
          <a:blip r:embed="rId2" cstate="print">
            <a:lum bright="-40000"/>
          </a:blip>
          <a:srcRect/>
          <a:stretch>
            <a:fillRect/>
          </a:stretch>
        </p:blipFill>
        <p:spPr bwMode="auto">
          <a:xfrm>
            <a:off x="251791" y="212795"/>
            <a:ext cx="609600" cy="609600"/>
          </a:xfrm>
          <a:prstGeom prst="rect">
            <a:avLst/>
          </a:prstGeom>
          <a:noFill/>
        </p:spPr>
      </p:pic>
      <p:sp>
        <p:nvSpPr>
          <p:cNvPr id="16" name="TextBox 15"/>
          <p:cNvSpPr txBox="1"/>
          <p:nvPr/>
        </p:nvSpPr>
        <p:spPr>
          <a:xfrm>
            <a:off x="772805" y="331307"/>
            <a:ext cx="1101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chemeClr val="bg1">
                    <a:lumMod val="75000"/>
                  </a:schemeClr>
                </a:solidFill>
                <a:latin typeface="Verdana" pitchFamily="34" charset="0"/>
                <a:cs typeface="Verdana" pitchFamily="34" charset="0"/>
              </a:rPr>
              <a:t>HELPLAX</a:t>
            </a: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022327" y="6435660"/>
            <a:ext cx="1775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bg1">
                    <a:lumMod val="75000"/>
                  </a:schemeClr>
                </a:solidFill>
                <a:latin typeface="Verdana" pitchFamily="34" charset="0"/>
                <a:cs typeface="Verdana" pitchFamily="34" charset="0"/>
              </a:rPr>
              <a:t>www.helplax.com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781317" y="58821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solidFill>
                  <a:schemeClr val="bg1">
                    <a:lumMod val="75000"/>
                  </a:schemeClr>
                </a:solidFill>
                <a:latin typeface="HY중고딕" pitchFamily="18" charset="-127"/>
                <a:ea typeface="HY중고딕" pitchFamily="18" charset="-127"/>
              </a:rPr>
              <a:t>개발환경</a:t>
            </a:r>
            <a:endParaRPr lang="en-US" altLang="ko-KR" dirty="0" smtClean="0">
              <a:solidFill>
                <a:schemeClr val="bg1">
                  <a:lumMod val="75000"/>
                </a:schemeClr>
              </a:solidFill>
              <a:latin typeface="HY중고딕" pitchFamily="18" charset="-127"/>
              <a:ea typeface="HY중고딕" pitchFamily="18" charset="-127"/>
            </a:endParaRPr>
          </a:p>
        </p:txBody>
      </p:sp>
      <p:grpSp>
        <p:nvGrpSpPr>
          <p:cNvPr id="21" name="그룹 20"/>
          <p:cNvGrpSpPr/>
          <p:nvPr/>
        </p:nvGrpSpPr>
        <p:grpSpPr>
          <a:xfrm>
            <a:off x="1044443" y="2017784"/>
            <a:ext cx="10103115" cy="2822433"/>
            <a:chOff x="797114" y="1832311"/>
            <a:chExt cx="10103115" cy="2822433"/>
          </a:xfrm>
        </p:grpSpPr>
        <p:pic>
          <p:nvPicPr>
            <p:cNvPr id="9" name="Picture 2" descr="http://cfile2.uf.tistory.com/image/02363A3A516233A72B820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158839" y="1988146"/>
              <a:ext cx="1141858" cy="1136368"/>
            </a:xfrm>
            <a:prstGeom prst="rect">
              <a:avLst/>
            </a:prstGeom>
            <a:noFill/>
          </p:spPr>
        </p:pic>
        <p:pic>
          <p:nvPicPr>
            <p:cNvPr id="12" name="Picture 10" descr="https://thenewboston.com/photos/users/287/original/763608fe4b09e466e0398762d27396a8.pn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764698" y="3232613"/>
              <a:ext cx="2068028" cy="1230970"/>
            </a:xfrm>
            <a:prstGeom prst="rect">
              <a:avLst/>
            </a:prstGeom>
            <a:noFill/>
          </p:spPr>
        </p:pic>
        <p:pic>
          <p:nvPicPr>
            <p:cNvPr id="3077" name="Picture 5" descr="https://upload.wikimedia.org/wikipedia/commons/thumb/1/1d/AmazonWebservices_Logo.svg/2000px-AmazonWebservices_Logo.svg.pn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920875" y="2234244"/>
              <a:ext cx="2038350" cy="815340"/>
            </a:xfrm>
            <a:prstGeom prst="rect">
              <a:avLst/>
            </a:prstGeom>
            <a:noFill/>
          </p:spPr>
        </p:pic>
        <p:pic>
          <p:nvPicPr>
            <p:cNvPr id="49154" name="Picture 2" descr="https://upload.wikimedia.org/wikipedia/en/thumb/6/62/MySQL.svg/1280px-MySQL.svg.pn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529339" y="2138577"/>
              <a:ext cx="2043792" cy="1057024"/>
            </a:xfrm>
            <a:prstGeom prst="rect">
              <a:avLst/>
            </a:prstGeom>
            <a:noFill/>
          </p:spPr>
        </p:pic>
        <p:pic>
          <p:nvPicPr>
            <p:cNvPr id="52226" name="Picture 2" descr="https://welego.org/public/files/2015/06/jquery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97114" y="3564692"/>
              <a:ext cx="2180102" cy="1090052"/>
            </a:xfrm>
            <a:prstGeom prst="rect">
              <a:avLst/>
            </a:prstGeom>
            <a:noFill/>
          </p:spPr>
        </p:pic>
        <p:pic>
          <p:nvPicPr>
            <p:cNvPr id="52228" name="Picture 4" descr="https://upload.wikimedia.org/wikipedia/commons/thumb/a/a1/AJAX_logo_by_gengns.svg/2000px-AJAX_logo_by_gengns.svg.png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2912836" y="3621359"/>
              <a:ext cx="1455964" cy="698862"/>
            </a:xfrm>
            <a:prstGeom prst="rect">
              <a:avLst/>
            </a:prstGeom>
            <a:noFill/>
          </p:spPr>
        </p:pic>
        <p:pic>
          <p:nvPicPr>
            <p:cNvPr id="52230" name="Picture 6" descr="https://eclipse.org/eclipse.org-common/themes/solstice/public/images/logo/eclipse-800x188.png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4516665" y="3782206"/>
              <a:ext cx="2145392" cy="504168"/>
            </a:xfrm>
            <a:prstGeom prst="rect">
              <a:avLst/>
            </a:prstGeom>
            <a:noFill/>
          </p:spPr>
        </p:pic>
        <p:pic>
          <p:nvPicPr>
            <p:cNvPr id="11" name="Picture 8" descr="http://www.eclipse.org/xtend/images/java8_logo.png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6975941" y="1832311"/>
              <a:ext cx="1359874" cy="1451666"/>
            </a:xfrm>
            <a:prstGeom prst="rect">
              <a:avLst/>
            </a:prstGeom>
            <a:noFill/>
          </p:spPr>
        </p:pic>
        <p:pic>
          <p:nvPicPr>
            <p:cNvPr id="52232" name="Picture 8" descr="http://bmdm.com/wp-content/uploads/bootstrap.png"/>
            <p:cNvPicPr>
              <a:picLocks noChangeAspect="1" noChangeArrowheads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8884559" y="3445085"/>
              <a:ext cx="2015670" cy="930310"/>
            </a:xfrm>
            <a:prstGeom prst="rect">
              <a:avLst/>
            </a:prstGeom>
            <a:noFill/>
          </p:spPr>
        </p:pic>
        <p:pic>
          <p:nvPicPr>
            <p:cNvPr id="52234" name="Picture 10" descr="https://www.planet-source-code.com/vb/2010Redesign/images/LangugeHomePages/HTML5_CSS_JavaScript.png"/>
            <p:cNvPicPr>
              <a:picLocks noChangeAspect="1" noChangeArrowheads="1"/>
            </p:cNvPicPr>
            <p:nvPr/>
          </p:nvPicPr>
          <p:blipFill>
            <a:blip r:embed="rId12"/>
            <a:srcRect/>
            <a:stretch>
              <a:fillRect/>
            </a:stretch>
          </p:blipFill>
          <p:spPr bwMode="auto">
            <a:xfrm>
              <a:off x="8624206" y="2015504"/>
              <a:ext cx="2130880" cy="124856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="" xmlns:p14="http://schemas.microsoft.com/office/powerpoint/2010/main" val="131667716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37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119069370"/>
              </p:ext>
            </p:extLst>
          </p:nvPr>
        </p:nvGraphicFramePr>
        <p:xfrm>
          <a:off x="-87072" y="2193991"/>
          <a:ext cx="11032072" cy="2346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425"/>
                <a:gridCol w="1068070"/>
                <a:gridCol w="1046511"/>
                <a:gridCol w="1046511"/>
                <a:gridCol w="1046511"/>
                <a:gridCol w="1046511"/>
                <a:gridCol w="1046511"/>
                <a:gridCol w="1046511"/>
                <a:gridCol w="1046511"/>
              </a:tblGrid>
              <a:tr h="307037"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Roboto Condensed" panose="02000000000000000000" pitchFamily="2" charset="0"/>
                        <a:ea typeface="Roboto Condensed" panose="02000000000000000000" pitchFamily="2" charset="0"/>
                      </a:endParaRPr>
                    </a:p>
                  </a:txBody>
                  <a:tcPr marL="121924" marR="121924" marT="60951" marB="6095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+mj-ea"/>
                          <a:ea typeface="+mj-ea"/>
                        </a:rPr>
                        <a:t>1</a:t>
                      </a:r>
                      <a:r>
                        <a:rPr lang="ko-KR" altLang="en-US" sz="1800" b="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+mj-ea"/>
                          <a:ea typeface="+mj-ea"/>
                        </a:rPr>
                        <a:t>주차</a:t>
                      </a:r>
                      <a:endParaRPr lang="en-US" sz="18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marL="121924" marR="121924" marT="60951" marB="60951">
                    <a:lnL w="12700" cmpd="sng">
                      <a:noFill/>
                    </a:lnL>
                    <a:lnB w="38100" cmpd="sng">
                      <a:noFill/>
                    </a:lnB>
                    <a:solidFill>
                      <a:srgbClr val="F39C1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+mj-ea"/>
                          <a:ea typeface="+mj-ea"/>
                        </a:rPr>
                        <a:t>2</a:t>
                      </a:r>
                      <a:r>
                        <a:rPr lang="ko-KR" altLang="en-US" sz="1800" b="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+mj-ea"/>
                          <a:ea typeface="+mj-ea"/>
                        </a:rPr>
                        <a:t>주차</a:t>
                      </a:r>
                      <a:endParaRPr lang="en-US" sz="18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marL="121924" marR="121924" marT="60951" marB="60951">
                    <a:lnB w="38100" cmpd="sng">
                      <a:noFill/>
                    </a:lnB>
                    <a:solidFill>
                      <a:srgbClr val="16A0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+mj-ea"/>
                          <a:ea typeface="+mj-ea"/>
                        </a:rPr>
                        <a:t>3</a:t>
                      </a:r>
                      <a:r>
                        <a:rPr lang="ko-KR" altLang="en-US" sz="1800" b="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+mj-ea"/>
                          <a:ea typeface="+mj-ea"/>
                        </a:rPr>
                        <a:t>주차</a:t>
                      </a:r>
                      <a:endParaRPr lang="en-US" sz="18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marL="121924" marR="121924" marT="60951" marB="60951">
                    <a:lnB w="38100" cmpd="sng">
                      <a:noFill/>
                    </a:lnB>
                    <a:solidFill>
                      <a:srgbClr val="297F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+mj-ea"/>
                          <a:ea typeface="+mj-ea"/>
                        </a:rPr>
                        <a:t>4</a:t>
                      </a:r>
                      <a:r>
                        <a:rPr lang="ko-KR" altLang="en-US" sz="1800" b="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+mj-ea"/>
                          <a:ea typeface="+mj-ea"/>
                        </a:rPr>
                        <a:t>주차</a:t>
                      </a:r>
                      <a:endParaRPr lang="en-US" sz="18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marL="121924" marR="121924" marT="60951" marB="60951">
                    <a:lnB w="38100" cmpd="sng">
                      <a:noFill/>
                    </a:lnB>
                    <a:solidFill>
                      <a:srgbClr val="9BBB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+mj-ea"/>
                          <a:ea typeface="+mj-ea"/>
                        </a:rPr>
                        <a:t>5</a:t>
                      </a:r>
                      <a:r>
                        <a:rPr lang="ko-KR" altLang="en-US" sz="1800" b="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+mj-ea"/>
                          <a:ea typeface="+mj-ea"/>
                        </a:rPr>
                        <a:t>주차</a:t>
                      </a:r>
                      <a:endParaRPr lang="en-US" sz="1800" b="0" dirty="0">
                        <a:solidFill>
                          <a:srgbClr val="222A35"/>
                        </a:solidFill>
                        <a:latin typeface="+mj-ea"/>
                        <a:ea typeface="+mj-ea"/>
                      </a:endParaRPr>
                    </a:p>
                  </a:txBody>
                  <a:tcPr marL="121924" marR="121924" marT="60951" marB="60951">
                    <a:lnB w="38100" cmpd="sng">
                      <a:noFill/>
                    </a:lnB>
                    <a:solidFill>
                      <a:srgbClr val="8D42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6</a:t>
                      </a:r>
                      <a:r>
                        <a:rPr lang="ko-KR" altLang="en-US" sz="1800" b="0" dirty="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주차</a:t>
                      </a:r>
                      <a:endParaRPr lang="en-US" sz="1800" b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121924" marR="121924" marT="60951" marB="60951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7</a:t>
                      </a:r>
                      <a:r>
                        <a:rPr lang="ko-KR" altLang="en-US" sz="1800" b="0" dirty="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주차</a:t>
                      </a:r>
                      <a:endParaRPr lang="en-US" sz="1800" b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121924" marR="121924" marT="60951" marB="60951">
                    <a:lnB w="38100" cmpd="sng"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8</a:t>
                      </a:r>
                      <a:r>
                        <a:rPr lang="ko-KR" altLang="en-US" sz="1800" b="0" dirty="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주차</a:t>
                      </a:r>
                      <a:endParaRPr lang="en-US" sz="1800" b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121924" marR="121924" marT="60951" marB="60951">
                    <a:lnB w="38100" cmpd="sng">
                      <a:noFill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</a:tr>
              <a:tr h="409388">
                <a:tc>
                  <a:txBody>
                    <a:bodyPr/>
                    <a:lstStyle/>
                    <a:p>
                      <a:pPr algn="r"/>
                      <a:r>
                        <a:rPr lang="ko-KR" altLang="en-US" sz="160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+mj-ea"/>
                          <a:ea typeface="+mj-ea"/>
                        </a:rPr>
                        <a:t>디자인</a:t>
                      </a:r>
                      <a:endParaRPr lang="en-US" sz="1600" dirty="0">
                        <a:solidFill>
                          <a:schemeClr val="bg1">
                            <a:lumMod val="9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marL="121924" marR="121924" marT="60951" marB="60951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bg1">
                            <a:lumMod val="95000"/>
                          </a:schemeClr>
                        </a:solidFill>
                        <a:latin typeface="Raleway" panose="020B0003030101060003" pitchFamily="34" charset="0"/>
                      </a:endParaRPr>
                    </a:p>
                  </a:txBody>
                  <a:tcPr marL="121924" marR="121924" marT="60951" marB="60951">
                    <a:lnL w="12700" cmpd="sng">
                      <a:noFill/>
                    </a:lnL>
                    <a:lnR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Source Sans Pro Light"/>
                      </a:endParaRPr>
                    </a:p>
                  </a:txBody>
                  <a:tcPr marL="121924" marR="121924" marT="60951" marB="60951">
                    <a:lnL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Source Sans Pro Light"/>
                      </a:endParaRPr>
                    </a:p>
                  </a:txBody>
                  <a:tcPr marL="121924" marR="121924" marT="60951" marB="60951">
                    <a:lnL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Source Sans Pro Light"/>
                      </a:endParaRPr>
                    </a:p>
                  </a:txBody>
                  <a:tcPr marL="121924" marR="121924" marT="60951" marB="60951">
                    <a:lnL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Source Sans Pro Light"/>
                      </a:endParaRPr>
                    </a:p>
                  </a:txBody>
                  <a:tcPr marL="121924" marR="121924" marT="60951" marB="60951">
                    <a:lnL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Source Sans Pro Light"/>
                      </a:endParaRPr>
                    </a:p>
                  </a:txBody>
                  <a:tcPr marL="121924" marR="121924" marT="60951" marB="60951">
                    <a:lnL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Source Sans Pro Light"/>
                      </a:endParaRPr>
                    </a:p>
                  </a:txBody>
                  <a:tcPr marL="121924" marR="121924" marT="60951" marB="60951">
                    <a:lnL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Source Sans Pro Light"/>
                      </a:endParaRPr>
                    </a:p>
                  </a:txBody>
                  <a:tcPr marL="121924" marR="121924" marT="60951" marB="60951">
                    <a:lnL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9388">
                <a:tc>
                  <a:txBody>
                    <a:bodyPr/>
                    <a:lstStyle/>
                    <a:p>
                      <a:pPr algn="r"/>
                      <a:r>
                        <a:rPr lang="ko-KR" altLang="en-US" sz="1600" baseline="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+mj-ea"/>
                          <a:ea typeface="+mj-ea"/>
                        </a:rPr>
                        <a:t>데이터베이스</a:t>
                      </a:r>
                      <a:r>
                        <a:rPr lang="en-US" altLang="ko-KR" sz="1600" baseline="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en-US" sz="160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+mj-ea"/>
                          <a:ea typeface="+mj-ea"/>
                        </a:rPr>
                        <a:t>설계</a:t>
                      </a:r>
                      <a:endParaRPr lang="en-US" sz="1600" dirty="0">
                        <a:solidFill>
                          <a:schemeClr val="bg1">
                            <a:lumMod val="9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marL="121924" marR="121924" marT="60951" marB="6095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bg1">
                            <a:lumMod val="95000"/>
                          </a:schemeClr>
                        </a:solidFill>
                        <a:latin typeface="Raleway" panose="020B0003030101060003" pitchFamily="34" charset="0"/>
                      </a:endParaRPr>
                    </a:p>
                  </a:txBody>
                  <a:tcPr marL="121924" marR="121924" marT="60951" marB="60951">
                    <a:lnL w="12700" cmpd="sng">
                      <a:noFill/>
                    </a:lnL>
                    <a:lnR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Source Sans Pro Light"/>
                      </a:endParaRPr>
                    </a:p>
                  </a:txBody>
                  <a:tcPr marL="121924" marR="121924" marT="60951" marB="60951">
                    <a:lnL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Source Sans Pro Light"/>
                      </a:endParaRPr>
                    </a:p>
                  </a:txBody>
                  <a:tcPr marL="121924" marR="121924" marT="60951" marB="60951">
                    <a:lnL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Source Sans Pro Light"/>
                      </a:endParaRPr>
                    </a:p>
                  </a:txBody>
                  <a:tcPr marL="121924" marR="121924" marT="60951" marB="60951">
                    <a:lnL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Source Sans Pro Light"/>
                      </a:endParaRPr>
                    </a:p>
                  </a:txBody>
                  <a:tcPr marL="121924" marR="121924" marT="60951" marB="60951">
                    <a:lnL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Source Sans Pro Light"/>
                      </a:endParaRPr>
                    </a:p>
                  </a:txBody>
                  <a:tcPr marL="121924" marR="121924" marT="60951" marB="60951">
                    <a:lnL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Source Sans Pro Light"/>
                      </a:endParaRPr>
                    </a:p>
                  </a:txBody>
                  <a:tcPr marL="121924" marR="121924" marT="60951" marB="60951">
                    <a:lnL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Source Sans Pro Light"/>
                      </a:endParaRPr>
                    </a:p>
                  </a:txBody>
                  <a:tcPr marL="121924" marR="121924" marT="60951" marB="60951">
                    <a:lnL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9388">
                <a:tc>
                  <a:txBody>
                    <a:bodyPr/>
                    <a:lstStyle/>
                    <a:p>
                      <a:pPr algn="r"/>
                      <a:r>
                        <a:rPr lang="ko-KR" altLang="en-US" sz="160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+mj-ea"/>
                          <a:ea typeface="+mj-ea"/>
                        </a:rPr>
                        <a:t>시스템구축</a:t>
                      </a:r>
                      <a:endParaRPr lang="en-US" sz="1600" dirty="0" smtClean="0">
                        <a:solidFill>
                          <a:schemeClr val="bg1">
                            <a:lumMod val="9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marL="121924" marR="121924" marT="60951" marB="6095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 smtClean="0">
                        <a:solidFill>
                          <a:schemeClr val="bg1">
                            <a:lumMod val="95000"/>
                          </a:schemeClr>
                        </a:solidFill>
                        <a:latin typeface="Raleway" panose="020B0003030101060003" pitchFamily="34" charset="0"/>
                      </a:endParaRPr>
                    </a:p>
                  </a:txBody>
                  <a:tcPr marL="121924" marR="121924" marT="60951" marB="60951">
                    <a:lnL w="12700" cmpd="sng">
                      <a:noFill/>
                    </a:lnL>
                    <a:lnR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Source Sans Pro Light"/>
                      </a:endParaRPr>
                    </a:p>
                  </a:txBody>
                  <a:tcPr marL="121924" marR="121924" marT="60951" marB="60951">
                    <a:lnL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Source Sans Pro Light"/>
                      </a:endParaRPr>
                    </a:p>
                  </a:txBody>
                  <a:tcPr marL="121924" marR="121924" marT="60951" marB="60951">
                    <a:lnL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Source Sans Pro Light"/>
                      </a:endParaRPr>
                    </a:p>
                  </a:txBody>
                  <a:tcPr marL="121924" marR="121924" marT="60951" marB="60951">
                    <a:lnL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Source Sans Pro Light"/>
                      </a:endParaRPr>
                    </a:p>
                  </a:txBody>
                  <a:tcPr marL="121924" marR="121924" marT="60951" marB="60951">
                    <a:lnL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Source Sans Pro Light"/>
                      </a:endParaRPr>
                    </a:p>
                  </a:txBody>
                  <a:tcPr marL="121924" marR="121924" marT="60951" marB="60951">
                    <a:lnL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Source Sans Pro Light"/>
                      </a:endParaRPr>
                    </a:p>
                  </a:txBody>
                  <a:tcPr marL="121924" marR="121924" marT="60951" marB="60951">
                    <a:lnL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Source Sans Pro Light"/>
                      </a:endParaRPr>
                    </a:p>
                  </a:txBody>
                  <a:tcPr marL="121924" marR="121924" marT="60951" marB="60951">
                    <a:lnL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9388">
                <a:tc>
                  <a:txBody>
                    <a:bodyPr/>
                    <a:lstStyle/>
                    <a:p>
                      <a:pPr algn="r"/>
                      <a:r>
                        <a:rPr lang="ko-KR" altLang="en-US" sz="160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+mj-ea"/>
                          <a:ea typeface="+mj-ea"/>
                        </a:rPr>
                        <a:t>시스템 디버깅</a:t>
                      </a:r>
                      <a:endParaRPr lang="en-US" sz="1600" dirty="0">
                        <a:solidFill>
                          <a:schemeClr val="bg1">
                            <a:lumMod val="9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marL="121924" marR="121924" marT="60951" marB="6095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bg1">
                            <a:lumMod val="95000"/>
                          </a:schemeClr>
                        </a:solidFill>
                        <a:latin typeface="Raleway" panose="020B0003030101060003" pitchFamily="34" charset="0"/>
                      </a:endParaRPr>
                    </a:p>
                  </a:txBody>
                  <a:tcPr marL="121924" marR="121924" marT="60951" marB="60951">
                    <a:lnL w="12700" cmpd="sng">
                      <a:noFill/>
                    </a:lnL>
                    <a:lnR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Source Sans Pro Light"/>
                      </a:endParaRPr>
                    </a:p>
                  </a:txBody>
                  <a:tcPr marL="121924" marR="121924" marT="60951" marB="60951">
                    <a:lnL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Source Sans Pro Light"/>
                      </a:endParaRPr>
                    </a:p>
                  </a:txBody>
                  <a:tcPr marL="121924" marR="121924" marT="60951" marB="60951">
                    <a:lnL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Source Sans Pro Light"/>
                      </a:endParaRPr>
                    </a:p>
                  </a:txBody>
                  <a:tcPr marL="121924" marR="121924" marT="60951" marB="60951">
                    <a:lnL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Source Sans Pro Light"/>
                      </a:endParaRPr>
                    </a:p>
                  </a:txBody>
                  <a:tcPr marL="121924" marR="121924" marT="60951" marB="60951">
                    <a:lnL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Source Sans Pro Light"/>
                      </a:endParaRPr>
                    </a:p>
                  </a:txBody>
                  <a:tcPr marL="121924" marR="121924" marT="60951" marB="60951">
                    <a:lnL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Source Sans Pro Light"/>
                      </a:endParaRPr>
                    </a:p>
                  </a:txBody>
                  <a:tcPr marL="121924" marR="121924" marT="60951" marB="60951">
                    <a:lnL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Source Sans Pro Light"/>
                      </a:endParaRPr>
                    </a:p>
                  </a:txBody>
                  <a:tcPr marL="121924" marR="121924" marT="60951" marB="60951">
                    <a:lnL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8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9" name="Conector recto 8"/>
          <p:cNvCxnSpPr/>
          <p:nvPr/>
        </p:nvCxnSpPr>
        <p:spPr>
          <a:xfrm flipV="1">
            <a:off x="3598284" y="2844680"/>
            <a:ext cx="7380000" cy="8490"/>
          </a:xfrm>
          <a:prstGeom prst="line">
            <a:avLst/>
          </a:prstGeom>
          <a:ln w="25400">
            <a:solidFill>
              <a:srgbClr val="C13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/>
          <p:cNvCxnSpPr/>
          <p:nvPr/>
        </p:nvCxnSpPr>
        <p:spPr>
          <a:xfrm>
            <a:off x="3446489" y="3391018"/>
            <a:ext cx="2297396" cy="4050"/>
          </a:xfrm>
          <a:prstGeom prst="line">
            <a:avLst/>
          </a:prstGeom>
          <a:ln w="25400">
            <a:solidFill>
              <a:srgbClr val="F39C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/>
          <p:cNvCxnSpPr/>
          <p:nvPr/>
        </p:nvCxnSpPr>
        <p:spPr>
          <a:xfrm>
            <a:off x="7818416" y="4327094"/>
            <a:ext cx="2520000" cy="0"/>
          </a:xfrm>
          <a:prstGeom prst="line">
            <a:avLst/>
          </a:prstGeom>
          <a:ln w="25400">
            <a:solidFill>
              <a:srgbClr val="297F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/>
          <p:cNvCxnSpPr/>
          <p:nvPr/>
        </p:nvCxnSpPr>
        <p:spPr>
          <a:xfrm>
            <a:off x="4938578" y="3853302"/>
            <a:ext cx="2880000" cy="0"/>
          </a:xfrm>
          <a:prstGeom prst="line">
            <a:avLst/>
          </a:prstGeom>
          <a:ln w="25400">
            <a:solidFill>
              <a:srgbClr val="16A0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22327" y="6435660"/>
            <a:ext cx="1775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bg1">
                    <a:lumMod val="75000"/>
                  </a:schemeClr>
                </a:solidFill>
                <a:latin typeface="Verdana" pitchFamily="34" charset="0"/>
                <a:cs typeface="Verdana" pitchFamily="34" charset="0"/>
              </a:rPr>
              <a:t>www.helplax.com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  <p:pic>
        <p:nvPicPr>
          <p:cNvPr id="16" name="Picture 4" descr="C:\Users\user\Desktop\down\hotel-maid (1)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791" y="212795"/>
            <a:ext cx="609600" cy="609600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772805" y="331307"/>
            <a:ext cx="1101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chemeClr val="bg1">
                    <a:lumMod val="75000"/>
                  </a:schemeClr>
                </a:solidFill>
                <a:latin typeface="Verdana" pitchFamily="34" charset="0"/>
                <a:cs typeface="Verdana" pitchFamily="34" charset="0"/>
              </a:rPr>
              <a:t>HELPLAX</a:t>
            </a: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781317" y="58821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  <a:latin typeface="HY중고딕" pitchFamily="18" charset="-127"/>
                <a:ea typeface="HY중고딕" pitchFamily="18" charset="-127"/>
              </a:rPr>
              <a:t>개발일정</a:t>
            </a:r>
            <a:endParaRPr lang="en-US" altLang="ko-KR" dirty="0" smtClean="0">
              <a:solidFill>
                <a:schemeClr val="bg1"/>
              </a:solidFill>
              <a:latin typeface="HY중고딕" pitchFamily="18" charset="-127"/>
              <a:ea typeface="HY중고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1621538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1402" y="1048043"/>
            <a:ext cx="11849198" cy="4761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4" descr="C:\Users\user\Desktop\down\hotel-maid (1).png"/>
          <p:cNvPicPr>
            <a:picLocks noChangeAspect="1" noChangeArrowheads="1"/>
          </p:cNvPicPr>
          <p:nvPr/>
        </p:nvPicPr>
        <p:blipFill>
          <a:blip r:embed="rId4" cstate="print">
            <a:lum bright="-40000"/>
          </a:blip>
          <a:srcRect/>
          <a:stretch>
            <a:fillRect/>
          </a:stretch>
        </p:blipFill>
        <p:spPr bwMode="auto">
          <a:xfrm>
            <a:off x="251791" y="212795"/>
            <a:ext cx="609600" cy="6096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772805" y="331307"/>
            <a:ext cx="1101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chemeClr val="bg1">
                    <a:lumMod val="75000"/>
                  </a:schemeClr>
                </a:solidFill>
                <a:latin typeface="Verdana" pitchFamily="34" charset="0"/>
                <a:cs typeface="Verdana" pitchFamily="34" charset="0"/>
              </a:rPr>
              <a:t>HELPLAX</a:t>
            </a: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22327" y="6435660"/>
            <a:ext cx="1775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bg1">
                    <a:lumMod val="75000"/>
                  </a:schemeClr>
                </a:solidFill>
                <a:latin typeface="Verdana" pitchFamily="34" charset="0"/>
                <a:cs typeface="Verdana" pitchFamily="34" charset="0"/>
              </a:rPr>
              <a:t>www.helplax.com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81317" y="588219"/>
            <a:ext cx="9829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solidFill>
                  <a:schemeClr val="bg1">
                    <a:lumMod val="75000"/>
                  </a:schemeClr>
                </a:solidFill>
                <a:latin typeface="HY중고딕" pitchFamily="18" charset="-127"/>
                <a:ea typeface="HY중고딕" pitchFamily="18" charset="-127"/>
              </a:rPr>
              <a:t>DB</a:t>
            </a:r>
            <a:r>
              <a:rPr lang="ko-KR" altLang="en-US" dirty="0" smtClean="0">
                <a:solidFill>
                  <a:schemeClr val="bg1">
                    <a:lumMod val="75000"/>
                  </a:schemeClr>
                </a:solidFill>
                <a:latin typeface="HY중고딕" pitchFamily="18" charset="-127"/>
                <a:ea typeface="HY중고딕" pitchFamily="18" charset="-127"/>
              </a:rPr>
              <a:t>설계</a:t>
            </a:r>
            <a:endParaRPr lang="en-US" altLang="ko-KR" dirty="0" smtClean="0">
              <a:solidFill>
                <a:schemeClr val="bg1">
                  <a:lumMod val="75000"/>
                </a:schemeClr>
              </a:solidFill>
              <a:latin typeface="HY중고딕" pitchFamily="18" charset="-127"/>
              <a:ea typeface="HY중고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1667716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C:\Users\user\Desktop\down\hotel-maid (1).png"/>
          <p:cNvPicPr>
            <a:picLocks noChangeAspect="1" noChangeArrowheads="1"/>
          </p:cNvPicPr>
          <p:nvPr/>
        </p:nvPicPr>
        <p:blipFill>
          <a:blip r:embed="rId3" cstate="print">
            <a:lum bright="-40000"/>
          </a:blip>
          <a:srcRect/>
          <a:stretch>
            <a:fillRect/>
          </a:stretch>
        </p:blipFill>
        <p:spPr bwMode="auto">
          <a:xfrm>
            <a:off x="251791" y="212795"/>
            <a:ext cx="609600" cy="6096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772805" y="331307"/>
            <a:ext cx="1101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chemeClr val="bg1">
                    <a:lumMod val="75000"/>
                  </a:schemeClr>
                </a:solidFill>
                <a:latin typeface="Verdana" pitchFamily="34" charset="0"/>
                <a:cs typeface="Verdana" pitchFamily="34" charset="0"/>
              </a:rPr>
              <a:t>HELPLAX</a:t>
            </a: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22327" y="6435660"/>
            <a:ext cx="1775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bg1">
                    <a:lumMod val="75000"/>
                  </a:schemeClr>
                </a:solidFill>
                <a:latin typeface="Verdana" pitchFamily="34" charset="0"/>
                <a:cs typeface="Verdana" pitchFamily="34" charset="0"/>
              </a:rPr>
              <a:t>www.helplax.com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  <p:pic>
        <p:nvPicPr>
          <p:cNvPr id="70658" name="Picture 2" descr="C:\Users\user\Desktop\스토리보드\스토리보드1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58808" y="1117150"/>
            <a:ext cx="4680000" cy="2626598"/>
          </a:xfrm>
          <a:prstGeom prst="rect">
            <a:avLst/>
          </a:prstGeom>
          <a:noFill/>
        </p:spPr>
      </p:pic>
      <p:pic>
        <p:nvPicPr>
          <p:cNvPr id="70659" name="Picture 3" descr="C:\Users\user\Desktop\스토리보드\2.png"/>
          <p:cNvPicPr>
            <a:picLocks noChangeAspect="1" noChangeArrowheads="1"/>
          </p:cNvPicPr>
          <p:nvPr/>
        </p:nvPicPr>
        <p:blipFill>
          <a:blip r:embed="rId5" cstate="print"/>
          <a:srcRect t="9996"/>
          <a:stretch>
            <a:fillRect/>
          </a:stretch>
        </p:blipFill>
        <p:spPr bwMode="auto">
          <a:xfrm>
            <a:off x="1050568" y="3903208"/>
            <a:ext cx="4680000" cy="2307027"/>
          </a:xfrm>
          <a:prstGeom prst="rect">
            <a:avLst/>
          </a:prstGeom>
          <a:noFill/>
        </p:spPr>
      </p:pic>
      <p:pic>
        <p:nvPicPr>
          <p:cNvPr id="70660" name="Picture 4" descr="C:\Users\user\Desktop\스토리보드\3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236612" y="346872"/>
            <a:ext cx="2520000" cy="1419815"/>
          </a:xfrm>
          <a:prstGeom prst="rect">
            <a:avLst/>
          </a:prstGeom>
          <a:noFill/>
        </p:spPr>
      </p:pic>
      <p:pic>
        <p:nvPicPr>
          <p:cNvPr id="70661" name="Picture 5" descr="C:\Users\user\Desktop\스토리보드\4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236514" y="1915545"/>
            <a:ext cx="2520000" cy="1419815"/>
          </a:xfrm>
          <a:prstGeom prst="rect">
            <a:avLst/>
          </a:prstGeom>
          <a:noFill/>
        </p:spPr>
      </p:pic>
      <p:pic>
        <p:nvPicPr>
          <p:cNvPr id="70662" name="Picture 6" descr="C:\Users\user\Desktop\스토리보드\5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236513" y="3484218"/>
            <a:ext cx="2520000" cy="1419815"/>
          </a:xfrm>
          <a:prstGeom prst="rect">
            <a:avLst/>
          </a:prstGeom>
          <a:noFill/>
        </p:spPr>
      </p:pic>
      <p:pic>
        <p:nvPicPr>
          <p:cNvPr id="15" name="Picture 2" descr="C:\Users\user\Desktop\피피티 이미지 캡쳐\워커정보 열람.PNG"/>
          <p:cNvPicPr>
            <a:picLocks noChangeAspect="1" noChangeArrowheads="1"/>
          </p:cNvPicPr>
          <p:nvPr/>
        </p:nvPicPr>
        <p:blipFill>
          <a:blip r:embed="rId9" cstate="print"/>
          <a:srcRect r="1310"/>
          <a:stretch>
            <a:fillRect/>
          </a:stretch>
        </p:blipFill>
        <p:spPr bwMode="auto">
          <a:xfrm>
            <a:off x="8867518" y="3527013"/>
            <a:ext cx="2520000" cy="1386322"/>
          </a:xfrm>
          <a:prstGeom prst="rect">
            <a:avLst/>
          </a:prstGeom>
          <a:noFill/>
        </p:spPr>
      </p:pic>
      <p:pic>
        <p:nvPicPr>
          <p:cNvPr id="70664" name="Picture 8" descr="C:\Users\user\Desktop\스토리보드\7.pn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8877495" y="319635"/>
            <a:ext cx="2520000" cy="1419815"/>
          </a:xfrm>
          <a:prstGeom prst="rect">
            <a:avLst/>
          </a:prstGeom>
          <a:noFill/>
        </p:spPr>
      </p:pic>
      <p:pic>
        <p:nvPicPr>
          <p:cNvPr id="70665" name="Picture 9" descr="C:\Users\user\Desktop\스토리보드\8.pn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8877949" y="1923324"/>
            <a:ext cx="2520000" cy="1419815"/>
          </a:xfrm>
          <a:prstGeom prst="rect">
            <a:avLst/>
          </a:prstGeom>
          <a:noFill/>
        </p:spPr>
      </p:pic>
      <p:sp>
        <p:nvSpPr>
          <p:cNvPr id="18" name="직사각형 17"/>
          <p:cNvSpPr/>
          <p:nvPr/>
        </p:nvSpPr>
        <p:spPr>
          <a:xfrm>
            <a:off x="781317" y="588219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solidFill>
                  <a:schemeClr val="bg1">
                    <a:lumMod val="75000"/>
                  </a:schemeClr>
                </a:solidFill>
                <a:latin typeface="HY중고딕" pitchFamily="18" charset="-127"/>
                <a:ea typeface="HY중고딕" pitchFamily="18" charset="-127"/>
              </a:rPr>
              <a:t>스토리보드</a:t>
            </a:r>
            <a:endParaRPr lang="en-US" altLang="ko-KR" dirty="0" smtClean="0">
              <a:solidFill>
                <a:schemeClr val="bg1">
                  <a:lumMod val="75000"/>
                </a:schemeClr>
              </a:solidFill>
              <a:latin typeface="HY중고딕" pitchFamily="18" charset="-127"/>
              <a:ea typeface="HY중고딕" pitchFamily="18" charset="-127"/>
            </a:endParaRPr>
          </a:p>
        </p:txBody>
      </p:sp>
      <p:pic>
        <p:nvPicPr>
          <p:cNvPr id="19" name="Picture 2" descr="C:\Users\user\Desktop\피피티 이미지 캡쳐\api주소등록.PN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246055" y="5052892"/>
            <a:ext cx="2520000" cy="1223164"/>
          </a:xfrm>
          <a:prstGeom prst="rect">
            <a:avLst/>
          </a:prstGeom>
          <a:noFill/>
        </p:spPr>
      </p:pic>
      <p:pic>
        <p:nvPicPr>
          <p:cNvPr id="20" name="Picture 2" descr="C:\Users\user\Desktop\피피티 이미지 캡쳐\고객 서비스등록.png"/>
          <p:cNvPicPr>
            <a:picLocks noChangeAspect="1" noChangeArrowheads="1"/>
          </p:cNvPicPr>
          <p:nvPr/>
        </p:nvPicPr>
        <p:blipFill>
          <a:blip r:embed="rId13" cstate="print"/>
          <a:srcRect t="5262" b="2871"/>
          <a:stretch>
            <a:fillRect/>
          </a:stretch>
        </p:blipFill>
        <p:spPr bwMode="auto">
          <a:xfrm>
            <a:off x="8889956" y="5097208"/>
            <a:ext cx="2520000" cy="11788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31667716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user\Desktop\피피티 이미지 캡쳐\워커가 고객을 찾음.PNG"/>
          <p:cNvPicPr>
            <a:picLocks noChangeAspect="1" noChangeArrowheads="1"/>
          </p:cNvPicPr>
          <p:nvPr/>
        </p:nvPicPr>
        <p:blipFill>
          <a:blip r:embed="rId2"/>
          <a:srcRect r="1548"/>
          <a:stretch>
            <a:fillRect/>
          </a:stretch>
        </p:blipFill>
        <p:spPr bwMode="auto">
          <a:xfrm>
            <a:off x="1596000" y="1222763"/>
            <a:ext cx="9000000" cy="4412475"/>
          </a:xfrm>
          <a:prstGeom prst="rect">
            <a:avLst/>
          </a:prstGeom>
          <a:noFill/>
        </p:spPr>
      </p:pic>
      <p:pic>
        <p:nvPicPr>
          <p:cNvPr id="6" name="Picture 4" descr="C:\Users\user\Desktop\down\hotel-maid (1).png"/>
          <p:cNvPicPr>
            <a:picLocks noChangeAspect="1" noChangeArrowheads="1"/>
          </p:cNvPicPr>
          <p:nvPr/>
        </p:nvPicPr>
        <p:blipFill>
          <a:blip r:embed="rId3" cstate="print">
            <a:lum bright="-40000"/>
          </a:blip>
          <a:srcRect/>
          <a:stretch>
            <a:fillRect/>
          </a:stretch>
        </p:blipFill>
        <p:spPr bwMode="auto">
          <a:xfrm>
            <a:off x="251791" y="212795"/>
            <a:ext cx="609600" cy="6096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772805" y="331307"/>
            <a:ext cx="1101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chemeClr val="bg1">
                    <a:lumMod val="75000"/>
                  </a:schemeClr>
                </a:solidFill>
                <a:latin typeface="Verdana" pitchFamily="34" charset="0"/>
                <a:cs typeface="Verdana" pitchFamily="34" charset="0"/>
              </a:rPr>
              <a:t>HELPLAX</a:t>
            </a: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781317" y="588219"/>
            <a:ext cx="23583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solidFill>
                  <a:schemeClr val="bg1">
                    <a:lumMod val="75000"/>
                  </a:schemeClr>
                </a:solidFill>
                <a:latin typeface="HY중고딕" pitchFamily="18" charset="-127"/>
                <a:ea typeface="HY중고딕" pitchFamily="18" charset="-127"/>
              </a:rPr>
              <a:t>핵심기능 </a:t>
            </a:r>
            <a:r>
              <a:rPr lang="en-US" altLang="ko-KR" dirty="0" smtClean="0">
                <a:solidFill>
                  <a:schemeClr val="bg1">
                    <a:lumMod val="75000"/>
                  </a:schemeClr>
                </a:solidFill>
                <a:latin typeface="HY중고딕" pitchFamily="18" charset="-127"/>
                <a:ea typeface="HY중고딕" pitchFamily="18" charset="-127"/>
              </a:rPr>
              <a:t>&amp;</a:t>
            </a:r>
            <a:r>
              <a:rPr lang="ko-KR" altLang="en-US" dirty="0" smtClean="0">
                <a:solidFill>
                  <a:schemeClr val="bg1">
                    <a:lumMod val="75000"/>
                  </a:schemeClr>
                </a:solidFill>
                <a:latin typeface="HY중고딕" pitchFamily="18" charset="-127"/>
                <a:ea typeface="HY중고딕" pitchFamily="18" charset="-127"/>
              </a:rPr>
              <a:t> 소스코드</a:t>
            </a:r>
            <a:endParaRPr lang="en-US" altLang="ko-KR" dirty="0" smtClean="0">
              <a:solidFill>
                <a:schemeClr val="bg1">
                  <a:lumMod val="75000"/>
                </a:schemeClr>
              </a:solidFill>
              <a:latin typeface="HY중고딕" pitchFamily="18" charset="-127"/>
              <a:ea typeface="HY중고딕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22327" y="6435660"/>
            <a:ext cx="1775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bg1">
                    <a:lumMod val="75000"/>
                  </a:schemeClr>
                </a:solidFill>
                <a:latin typeface="Verdana" pitchFamily="34" charset="0"/>
                <a:cs typeface="Verdana" pitchFamily="34" charset="0"/>
              </a:rPr>
              <a:t>www.helplax.com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1667716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user\Desktop\피피티 이미지 캡쳐\api검색결과.PNG"/>
          <p:cNvPicPr>
            <a:picLocks noChangeAspect="1" noChangeArrowheads="1"/>
          </p:cNvPicPr>
          <p:nvPr/>
        </p:nvPicPr>
        <p:blipFill>
          <a:blip r:embed="rId2"/>
          <a:srcRect r="1429" b="638"/>
          <a:stretch>
            <a:fillRect/>
          </a:stretch>
        </p:blipFill>
        <p:spPr bwMode="auto">
          <a:xfrm>
            <a:off x="1596000" y="1185802"/>
            <a:ext cx="9000000" cy="4457776"/>
          </a:xfrm>
          <a:prstGeom prst="rect">
            <a:avLst/>
          </a:prstGeom>
          <a:noFill/>
        </p:spPr>
      </p:pic>
      <p:pic>
        <p:nvPicPr>
          <p:cNvPr id="6" name="Picture 4" descr="C:\Users\user\Desktop\down\hotel-maid (1).png"/>
          <p:cNvPicPr>
            <a:picLocks noChangeAspect="1" noChangeArrowheads="1"/>
          </p:cNvPicPr>
          <p:nvPr/>
        </p:nvPicPr>
        <p:blipFill>
          <a:blip r:embed="rId3" cstate="print">
            <a:lum bright="-40000"/>
          </a:blip>
          <a:srcRect/>
          <a:stretch>
            <a:fillRect/>
          </a:stretch>
        </p:blipFill>
        <p:spPr bwMode="auto">
          <a:xfrm>
            <a:off x="251791" y="212795"/>
            <a:ext cx="609600" cy="6096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772805" y="331307"/>
            <a:ext cx="1101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chemeClr val="bg1">
                    <a:lumMod val="75000"/>
                  </a:schemeClr>
                </a:solidFill>
                <a:latin typeface="Verdana" pitchFamily="34" charset="0"/>
                <a:cs typeface="Verdana" pitchFamily="34" charset="0"/>
              </a:rPr>
              <a:t>HELPLAX</a:t>
            </a: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781317" y="588219"/>
            <a:ext cx="23583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solidFill>
                  <a:schemeClr val="bg1">
                    <a:lumMod val="75000"/>
                  </a:schemeClr>
                </a:solidFill>
                <a:latin typeface="HY중고딕" pitchFamily="18" charset="-127"/>
                <a:ea typeface="HY중고딕" pitchFamily="18" charset="-127"/>
              </a:rPr>
              <a:t>핵심기능 </a:t>
            </a:r>
            <a:r>
              <a:rPr lang="en-US" altLang="ko-KR" dirty="0" smtClean="0">
                <a:solidFill>
                  <a:schemeClr val="bg1">
                    <a:lumMod val="75000"/>
                  </a:schemeClr>
                </a:solidFill>
                <a:latin typeface="HY중고딕" pitchFamily="18" charset="-127"/>
                <a:ea typeface="HY중고딕" pitchFamily="18" charset="-127"/>
              </a:rPr>
              <a:t>&amp;</a:t>
            </a:r>
            <a:r>
              <a:rPr lang="ko-KR" altLang="en-US" dirty="0" smtClean="0">
                <a:solidFill>
                  <a:schemeClr val="bg1">
                    <a:lumMod val="75000"/>
                  </a:schemeClr>
                </a:solidFill>
                <a:latin typeface="HY중고딕" pitchFamily="18" charset="-127"/>
                <a:ea typeface="HY중고딕" pitchFamily="18" charset="-127"/>
              </a:rPr>
              <a:t> 소스코드</a:t>
            </a:r>
            <a:endParaRPr lang="en-US" altLang="ko-KR" dirty="0" smtClean="0">
              <a:solidFill>
                <a:schemeClr val="bg1">
                  <a:lumMod val="75000"/>
                </a:schemeClr>
              </a:solidFill>
              <a:latin typeface="HY중고딕" pitchFamily="18" charset="-127"/>
              <a:ea typeface="HY중고딕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22327" y="6449728"/>
            <a:ext cx="1775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bg1">
                    <a:lumMod val="75000"/>
                  </a:schemeClr>
                </a:solidFill>
                <a:latin typeface="Verdana" pitchFamily="34" charset="0"/>
                <a:cs typeface="Verdana" pitchFamily="34" charset="0"/>
              </a:rPr>
              <a:t>www.helplax.com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1667716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49651" y="2251877"/>
            <a:ext cx="2828925" cy="13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48400" y="1289392"/>
            <a:ext cx="5181600" cy="263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07192" y="4385484"/>
            <a:ext cx="3771900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191477" y="4918883"/>
            <a:ext cx="532447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455058" y="1156043"/>
            <a:ext cx="3189514" cy="887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모서리가 둥근 직사각형 10"/>
          <p:cNvSpPr/>
          <p:nvPr/>
        </p:nvSpPr>
        <p:spPr>
          <a:xfrm>
            <a:off x="3904343" y="1226121"/>
            <a:ext cx="696686" cy="71120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구부러진 연결선 12"/>
          <p:cNvCxnSpPr/>
          <p:nvPr/>
        </p:nvCxnSpPr>
        <p:spPr>
          <a:xfrm rot="10800000" flipV="1">
            <a:off x="4905830" y="3562931"/>
            <a:ext cx="1103085" cy="754743"/>
          </a:xfrm>
          <a:prstGeom prst="curvedConnector3">
            <a:avLst>
              <a:gd name="adj1" fmla="val 50000"/>
            </a:avLst>
          </a:prstGeom>
          <a:ln w="158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구부러진 연결선 14"/>
          <p:cNvCxnSpPr>
            <a:stCxn id="14340" idx="3"/>
            <a:endCxn id="14341" idx="1"/>
          </p:cNvCxnSpPr>
          <p:nvPr/>
        </p:nvCxnSpPr>
        <p:spPr>
          <a:xfrm flipV="1">
            <a:off x="5079092" y="5380846"/>
            <a:ext cx="1112385" cy="1"/>
          </a:xfrm>
          <a:prstGeom prst="curved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모서리가 둥근 직사각형 16"/>
          <p:cNvSpPr/>
          <p:nvPr/>
        </p:nvSpPr>
        <p:spPr>
          <a:xfrm>
            <a:off x="2148114" y="2909783"/>
            <a:ext cx="1422400" cy="188686"/>
          </a:xfrm>
          <a:prstGeom prst="round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구부러진 연결선 18"/>
          <p:cNvCxnSpPr>
            <a:stCxn id="11" idx="3"/>
          </p:cNvCxnSpPr>
          <p:nvPr/>
        </p:nvCxnSpPr>
        <p:spPr>
          <a:xfrm>
            <a:off x="4601029" y="1581721"/>
            <a:ext cx="1464491" cy="6148"/>
          </a:xfrm>
          <a:prstGeom prst="curvedConnector3">
            <a:avLst>
              <a:gd name="adj1" fmla="val 50000"/>
            </a:avLst>
          </a:prstGeom>
          <a:ln w="158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모서리가 둥근 직사각형 19"/>
          <p:cNvSpPr/>
          <p:nvPr/>
        </p:nvSpPr>
        <p:spPr>
          <a:xfrm>
            <a:off x="6516914" y="2155035"/>
            <a:ext cx="1349829" cy="18868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모서리가 둥근 직사각형 21"/>
          <p:cNvSpPr/>
          <p:nvPr/>
        </p:nvSpPr>
        <p:spPr>
          <a:xfrm>
            <a:off x="6763657" y="3185549"/>
            <a:ext cx="2032000" cy="2032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모서리가 둥근 직사각형 22"/>
          <p:cNvSpPr/>
          <p:nvPr/>
        </p:nvSpPr>
        <p:spPr>
          <a:xfrm>
            <a:off x="2554514" y="4390246"/>
            <a:ext cx="957943" cy="23222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Picture 4" descr="C:\Users\user\Desktop\down\hotel-maid (1).png"/>
          <p:cNvPicPr>
            <a:picLocks noChangeAspect="1" noChangeArrowheads="1"/>
          </p:cNvPicPr>
          <p:nvPr/>
        </p:nvPicPr>
        <p:blipFill>
          <a:blip r:embed="rId7" cstate="print">
            <a:lum bright="-40000"/>
          </a:blip>
          <a:srcRect/>
          <a:stretch>
            <a:fillRect/>
          </a:stretch>
        </p:blipFill>
        <p:spPr bwMode="auto">
          <a:xfrm>
            <a:off x="251791" y="212795"/>
            <a:ext cx="609600" cy="609600"/>
          </a:xfrm>
          <a:prstGeom prst="rect">
            <a:avLst/>
          </a:prstGeom>
          <a:noFill/>
        </p:spPr>
      </p:pic>
      <p:sp>
        <p:nvSpPr>
          <p:cNvPr id="21" name="TextBox 20"/>
          <p:cNvSpPr txBox="1"/>
          <p:nvPr/>
        </p:nvSpPr>
        <p:spPr>
          <a:xfrm>
            <a:off x="772805" y="331307"/>
            <a:ext cx="1101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chemeClr val="bg1">
                    <a:lumMod val="75000"/>
                  </a:schemeClr>
                </a:solidFill>
                <a:latin typeface="Verdana" pitchFamily="34" charset="0"/>
                <a:cs typeface="Verdana" pitchFamily="34" charset="0"/>
              </a:rPr>
              <a:t>HELPLAX</a:t>
            </a: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81317" y="588219"/>
            <a:ext cx="23583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solidFill>
                  <a:schemeClr val="bg1">
                    <a:lumMod val="75000"/>
                  </a:schemeClr>
                </a:solidFill>
                <a:latin typeface="HY중고딕" pitchFamily="18" charset="-127"/>
                <a:ea typeface="HY중고딕" pitchFamily="18" charset="-127"/>
              </a:rPr>
              <a:t>핵심기능 </a:t>
            </a:r>
            <a:r>
              <a:rPr lang="en-US" altLang="ko-KR" dirty="0" smtClean="0">
                <a:solidFill>
                  <a:schemeClr val="bg1">
                    <a:lumMod val="75000"/>
                  </a:schemeClr>
                </a:solidFill>
                <a:latin typeface="HY중고딕" pitchFamily="18" charset="-127"/>
                <a:ea typeface="HY중고딕" pitchFamily="18" charset="-127"/>
              </a:rPr>
              <a:t>&amp;</a:t>
            </a:r>
            <a:r>
              <a:rPr lang="ko-KR" altLang="en-US" dirty="0" smtClean="0">
                <a:solidFill>
                  <a:schemeClr val="bg1">
                    <a:lumMod val="75000"/>
                  </a:schemeClr>
                </a:solidFill>
                <a:latin typeface="HY중고딕" pitchFamily="18" charset="-127"/>
                <a:ea typeface="HY중고딕" pitchFamily="18" charset="-127"/>
              </a:rPr>
              <a:t> 소스코드</a:t>
            </a:r>
            <a:endParaRPr lang="en-US" altLang="ko-KR" dirty="0" smtClean="0">
              <a:solidFill>
                <a:schemeClr val="bg1">
                  <a:lumMod val="75000"/>
                </a:schemeClr>
              </a:solidFill>
              <a:latin typeface="HY중고딕" pitchFamily="18" charset="-127"/>
              <a:ea typeface="HY중고딕" pitchFamily="18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022327" y="6435660"/>
            <a:ext cx="1775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bg1">
                    <a:lumMod val="75000"/>
                  </a:schemeClr>
                </a:solidFill>
                <a:latin typeface="Verdana" pitchFamily="34" charset="0"/>
                <a:cs typeface="Verdana" pitchFamily="34" charset="0"/>
              </a:rPr>
              <a:t>www.helplax.com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1667716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C:\Users\user\Desktop\down\hotel-maid (1).png"/>
          <p:cNvPicPr>
            <a:picLocks noChangeAspect="1" noChangeArrowheads="1"/>
          </p:cNvPicPr>
          <p:nvPr/>
        </p:nvPicPr>
        <p:blipFill>
          <a:blip r:embed="rId3" cstate="print">
            <a:lum bright="-40000"/>
          </a:blip>
          <a:srcRect/>
          <a:stretch>
            <a:fillRect/>
          </a:stretch>
        </p:blipFill>
        <p:spPr bwMode="auto">
          <a:xfrm>
            <a:off x="251791" y="212795"/>
            <a:ext cx="609600" cy="6096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772805" y="331307"/>
            <a:ext cx="1101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chemeClr val="bg1">
                    <a:lumMod val="75000"/>
                  </a:schemeClr>
                </a:solidFill>
                <a:latin typeface="Verdana" pitchFamily="34" charset="0"/>
                <a:cs typeface="Verdana" pitchFamily="34" charset="0"/>
              </a:rPr>
              <a:t>HELPLAX</a:t>
            </a: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22327" y="6435660"/>
            <a:ext cx="1775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bg1">
                    <a:lumMod val="75000"/>
                  </a:schemeClr>
                </a:solidFill>
                <a:latin typeface="Verdana" pitchFamily="34" charset="0"/>
                <a:cs typeface="Verdana" pitchFamily="34" charset="0"/>
              </a:rPr>
              <a:t>www.helplax.com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781317" y="588219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solidFill>
                  <a:schemeClr val="bg1">
                    <a:lumMod val="75000"/>
                  </a:schemeClr>
                </a:solidFill>
                <a:latin typeface="HY중고딕" pitchFamily="18" charset="-127"/>
                <a:ea typeface="HY중고딕" pitchFamily="18" charset="-127"/>
              </a:rPr>
              <a:t>스토리보드</a:t>
            </a:r>
            <a:endParaRPr lang="en-US" altLang="ko-KR" dirty="0" smtClean="0">
              <a:solidFill>
                <a:schemeClr val="bg1">
                  <a:lumMod val="75000"/>
                </a:schemeClr>
              </a:solidFill>
              <a:latin typeface="HY중고딕" pitchFamily="18" charset="-127"/>
              <a:ea typeface="HY중고딕" pitchFamily="18" charset="-127"/>
            </a:endParaRPr>
          </a:p>
        </p:txBody>
      </p:sp>
      <p:grpSp>
        <p:nvGrpSpPr>
          <p:cNvPr id="38" name="그룹 37"/>
          <p:cNvGrpSpPr/>
          <p:nvPr/>
        </p:nvGrpSpPr>
        <p:grpSpPr>
          <a:xfrm>
            <a:off x="2222211" y="1725157"/>
            <a:ext cx="7747578" cy="3407687"/>
            <a:chOff x="2222211" y="2137737"/>
            <a:chExt cx="7747578" cy="3407687"/>
          </a:xfrm>
        </p:grpSpPr>
        <p:grpSp>
          <p:nvGrpSpPr>
            <p:cNvPr id="75" name="그룹 74"/>
            <p:cNvGrpSpPr/>
            <p:nvPr/>
          </p:nvGrpSpPr>
          <p:grpSpPr>
            <a:xfrm>
              <a:off x="2222211" y="2137737"/>
              <a:ext cx="7747578" cy="2582526"/>
              <a:chOff x="2505251" y="1495366"/>
              <a:chExt cx="7458211" cy="3343921"/>
            </a:xfrm>
          </p:grpSpPr>
          <p:pic>
            <p:nvPicPr>
              <p:cNvPr id="1035" name="Picture 11" descr="C:\Users\user\Desktop\down\people (11)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rcRect/>
              <a:stretch>
                <a:fillRect/>
              </a:stretch>
            </p:blipFill>
            <p:spPr bwMode="auto">
              <a:xfrm>
                <a:off x="2505251" y="2489528"/>
                <a:ext cx="1440000" cy="1440000"/>
              </a:xfrm>
              <a:prstGeom prst="rect">
                <a:avLst/>
              </a:prstGeom>
              <a:noFill/>
            </p:spPr>
          </p:pic>
          <p:grpSp>
            <p:nvGrpSpPr>
              <p:cNvPr id="64" name="그룹 63"/>
              <p:cNvGrpSpPr/>
              <p:nvPr/>
            </p:nvGrpSpPr>
            <p:grpSpPr>
              <a:xfrm>
                <a:off x="7111910" y="1495366"/>
                <a:ext cx="2851552" cy="868008"/>
                <a:chOff x="8096648" y="791981"/>
                <a:chExt cx="2851552" cy="868008"/>
              </a:xfrm>
            </p:grpSpPr>
            <p:pic>
              <p:nvPicPr>
                <p:cNvPr id="48" name="Picture 7" descr="C:\Users\user\Desktop\down\people (8).png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duotone>
                    <a:prstClr val="black"/>
                    <a:schemeClr val="tx2">
                      <a:tint val="45000"/>
                      <a:satMod val="400000"/>
                    </a:schemeClr>
                  </a:duotone>
                  <a:lum contrast="-40000"/>
                </a:blip>
                <a:srcRect/>
                <a:stretch>
                  <a:fillRect/>
                </a:stretch>
              </p:blipFill>
              <p:spPr bwMode="auto">
                <a:xfrm>
                  <a:off x="8096648" y="791981"/>
                  <a:ext cx="868008" cy="868008"/>
                </a:xfrm>
                <a:prstGeom prst="rect">
                  <a:avLst/>
                </a:prstGeom>
                <a:noFill/>
              </p:spPr>
            </p:pic>
            <p:pic>
              <p:nvPicPr>
                <p:cNvPr id="60" name="Picture 7" descr="C:\Users\user\Desktop\down\people (8).png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duotone>
                    <a:prstClr val="black"/>
                    <a:schemeClr val="tx2">
                      <a:tint val="45000"/>
                      <a:satMod val="400000"/>
                    </a:schemeClr>
                  </a:duotone>
                  <a:lum contrast="-40000"/>
                </a:blip>
                <a:srcRect/>
                <a:stretch>
                  <a:fillRect/>
                </a:stretch>
              </p:blipFill>
              <p:spPr bwMode="auto">
                <a:xfrm>
                  <a:off x="9088420" y="791981"/>
                  <a:ext cx="868008" cy="868008"/>
                </a:xfrm>
                <a:prstGeom prst="rect">
                  <a:avLst/>
                </a:prstGeom>
                <a:noFill/>
              </p:spPr>
            </p:pic>
            <p:pic>
              <p:nvPicPr>
                <p:cNvPr id="61" name="Picture 7" descr="C:\Users\user\Desktop\down\people (8).png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duotone>
                    <a:prstClr val="black"/>
                    <a:schemeClr val="tx2">
                      <a:tint val="45000"/>
                      <a:satMod val="400000"/>
                    </a:schemeClr>
                  </a:duotone>
                  <a:lum contrast="-40000"/>
                </a:blip>
                <a:srcRect/>
                <a:stretch>
                  <a:fillRect/>
                </a:stretch>
              </p:blipFill>
              <p:spPr bwMode="auto">
                <a:xfrm>
                  <a:off x="10080192" y="791981"/>
                  <a:ext cx="868008" cy="868008"/>
                </a:xfrm>
                <a:prstGeom prst="rect">
                  <a:avLst/>
                </a:prstGeom>
                <a:noFill/>
              </p:spPr>
            </p:pic>
          </p:grpSp>
          <p:grpSp>
            <p:nvGrpSpPr>
              <p:cNvPr id="65" name="그룹 64"/>
              <p:cNvGrpSpPr/>
              <p:nvPr/>
            </p:nvGrpSpPr>
            <p:grpSpPr>
              <a:xfrm>
                <a:off x="7111910" y="2733323"/>
                <a:ext cx="2851552" cy="868008"/>
                <a:chOff x="8096648" y="791981"/>
                <a:chExt cx="2851552" cy="868008"/>
              </a:xfrm>
            </p:grpSpPr>
            <p:pic>
              <p:nvPicPr>
                <p:cNvPr id="66" name="Picture 7" descr="C:\Users\user\Desktop\down\people (8).png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duotone>
                    <a:prstClr val="black"/>
                    <a:schemeClr val="tx2">
                      <a:tint val="45000"/>
                      <a:satMod val="400000"/>
                    </a:schemeClr>
                  </a:duotone>
                  <a:lum contrast="-40000"/>
                </a:blip>
                <a:srcRect/>
                <a:stretch>
                  <a:fillRect/>
                </a:stretch>
              </p:blipFill>
              <p:spPr bwMode="auto">
                <a:xfrm>
                  <a:off x="8096648" y="791981"/>
                  <a:ext cx="868008" cy="868008"/>
                </a:xfrm>
                <a:prstGeom prst="rect">
                  <a:avLst/>
                </a:prstGeom>
                <a:noFill/>
              </p:spPr>
            </p:pic>
            <p:pic>
              <p:nvPicPr>
                <p:cNvPr id="67" name="Picture 7" descr="C:\Users\user\Desktop\down\people (8).png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duotone>
                    <a:prstClr val="black"/>
                    <a:schemeClr val="tx2">
                      <a:tint val="45000"/>
                      <a:satMod val="400000"/>
                    </a:schemeClr>
                  </a:duotone>
                  <a:lum contrast="-40000"/>
                </a:blip>
                <a:srcRect/>
                <a:stretch>
                  <a:fillRect/>
                </a:stretch>
              </p:blipFill>
              <p:spPr bwMode="auto">
                <a:xfrm>
                  <a:off x="9088420" y="791981"/>
                  <a:ext cx="868008" cy="868008"/>
                </a:xfrm>
                <a:prstGeom prst="rect">
                  <a:avLst/>
                </a:prstGeom>
                <a:noFill/>
              </p:spPr>
            </p:pic>
            <p:pic>
              <p:nvPicPr>
                <p:cNvPr id="68" name="Picture 7" descr="C:\Users\user\Desktop\down\people (8).png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duotone>
                    <a:prstClr val="black"/>
                    <a:schemeClr val="tx2">
                      <a:tint val="45000"/>
                      <a:satMod val="400000"/>
                    </a:schemeClr>
                  </a:duotone>
                  <a:lum contrast="-40000"/>
                </a:blip>
                <a:srcRect/>
                <a:stretch>
                  <a:fillRect/>
                </a:stretch>
              </p:blipFill>
              <p:spPr bwMode="auto">
                <a:xfrm>
                  <a:off x="10080192" y="791981"/>
                  <a:ext cx="868008" cy="868008"/>
                </a:xfrm>
                <a:prstGeom prst="rect">
                  <a:avLst/>
                </a:prstGeom>
                <a:noFill/>
              </p:spPr>
            </p:pic>
          </p:grpSp>
          <p:grpSp>
            <p:nvGrpSpPr>
              <p:cNvPr id="69" name="그룹 68"/>
              <p:cNvGrpSpPr/>
              <p:nvPr/>
            </p:nvGrpSpPr>
            <p:grpSpPr>
              <a:xfrm>
                <a:off x="7111910" y="3971279"/>
                <a:ext cx="2851552" cy="868008"/>
                <a:chOff x="8096648" y="791981"/>
                <a:chExt cx="2851552" cy="868008"/>
              </a:xfrm>
            </p:grpSpPr>
            <p:pic>
              <p:nvPicPr>
                <p:cNvPr id="70" name="Picture 7" descr="C:\Users\user\Desktop\down\people (8).png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duotone>
                    <a:prstClr val="black"/>
                    <a:schemeClr val="tx2">
                      <a:tint val="45000"/>
                      <a:satMod val="400000"/>
                    </a:schemeClr>
                  </a:duotone>
                  <a:lum contrast="-40000"/>
                </a:blip>
                <a:srcRect/>
                <a:stretch>
                  <a:fillRect/>
                </a:stretch>
              </p:blipFill>
              <p:spPr bwMode="auto">
                <a:xfrm>
                  <a:off x="8096648" y="791981"/>
                  <a:ext cx="868008" cy="868008"/>
                </a:xfrm>
                <a:prstGeom prst="rect">
                  <a:avLst/>
                </a:prstGeom>
                <a:noFill/>
              </p:spPr>
            </p:pic>
            <p:pic>
              <p:nvPicPr>
                <p:cNvPr id="71" name="Picture 7" descr="C:\Users\user\Desktop\down\people (8).png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duotone>
                    <a:prstClr val="black"/>
                    <a:schemeClr val="tx2">
                      <a:tint val="45000"/>
                      <a:satMod val="400000"/>
                    </a:schemeClr>
                  </a:duotone>
                  <a:lum contrast="-40000"/>
                </a:blip>
                <a:srcRect/>
                <a:stretch>
                  <a:fillRect/>
                </a:stretch>
              </p:blipFill>
              <p:spPr bwMode="auto">
                <a:xfrm>
                  <a:off x="9088420" y="791981"/>
                  <a:ext cx="868008" cy="868008"/>
                </a:xfrm>
                <a:prstGeom prst="rect">
                  <a:avLst/>
                </a:prstGeom>
                <a:noFill/>
              </p:spPr>
            </p:pic>
            <p:pic>
              <p:nvPicPr>
                <p:cNvPr id="72" name="Picture 7" descr="C:\Users\user\Desktop\down\people (8).png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duotone>
                    <a:prstClr val="black"/>
                    <a:schemeClr val="tx2">
                      <a:tint val="45000"/>
                      <a:satMod val="400000"/>
                    </a:schemeClr>
                  </a:duotone>
                  <a:lum contrast="-40000"/>
                </a:blip>
                <a:srcRect/>
                <a:stretch>
                  <a:fillRect/>
                </a:stretch>
              </p:blipFill>
              <p:spPr bwMode="auto">
                <a:xfrm>
                  <a:off x="10080192" y="791981"/>
                  <a:ext cx="868008" cy="868008"/>
                </a:xfrm>
                <a:prstGeom prst="rect">
                  <a:avLst/>
                </a:prstGeom>
                <a:noFill/>
              </p:spPr>
            </p:pic>
          </p:grpSp>
          <p:sp>
            <p:nvSpPr>
              <p:cNvPr id="73" name="오른쪽 화살표 72"/>
              <p:cNvSpPr/>
              <p:nvPr/>
            </p:nvSpPr>
            <p:spPr>
              <a:xfrm rot="10800000">
                <a:off x="4451412" y="2743200"/>
                <a:ext cx="1817652" cy="900332"/>
              </a:xfrm>
              <a:prstGeom prst="right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3" name="TextBox 32"/>
            <p:cNvSpPr txBox="1"/>
            <p:nvPr/>
          </p:nvSpPr>
          <p:spPr>
            <a:xfrm>
              <a:off x="2583546" y="5145314"/>
              <a:ext cx="7553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 smtClean="0"/>
                <a:t>고 객</a:t>
              </a:r>
              <a:endParaRPr lang="ko-KR" altLang="en-US" sz="2000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149776" y="5145314"/>
              <a:ext cx="7553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 smtClean="0"/>
                <a:t>워 커</a:t>
              </a:r>
              <a:endParaRPr lang="ko-KR" altLang="en-US" sz="2000" dirty="0"/>
            </a:p>
          </p:txBody>
        </p:sp>
      </p:grpSp>
    </p:spTree>
    <p:extLst>
      <p:ext uri="{BB962C8B-B14F-4D97-AF65-F5344CB8AC3E}">
        <p14:creationId xmlns="" xmlns:p14="http://schemas.microsoft.com/office/powerpoint/2010/main" val="131667716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C:\Users\user\Desktop\down\hotel-maid (1).png"/>
          <p:cNvPicPr>
            <a:picLocks noChangeAspect="1" noChangeArrowheads="1"/>
          </p:cNvPicPr>
          <p:nvPr/>
        </p:nvPicPr>
        <p:blipFill>
          <a:blip r:embed="rId3" cstate="print">
            <a:lum bright="-40000"/>
          </a:blip>
          <a:srcRect/>
          <a:stretch>
            <a:fillRect/>
          </a:stretch>
        </p:blipFill>
        <p:spPr bwMode="auto">
          <a:xfrm>
            <a:off x="251791" y="212795"/>
            <a:ext cx="609600" cy="6096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772805" y="331307"/>
            <a:ext cx="1101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chemeClr val="bg1">
                    <a:lumMod val="75000"/>
                  </a:schemeClr>
                </a:solidFill>
                <a:latin typeface="Verdana" pitchFamily="34" charset="0"/>
                <a:cs typeface="Verdana" pitchFamily="34" charset="0"/>
              </a:rPr>
              <a:t>HELPLAX</a:t>
            </a: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22327" y="6435660"/>
            <a:ext cx="1775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bg1">
                    <a:lumMod val="75000"/>
                  </a:schemeClr>
                </a:solidFill>
                <a:latin typeface="Verdana" pitchFamily="34" charset="0"/>
                <a:cs typeface="Verdana" pitchFamily="34" charset="0"/>
              </a:rPr>
              <a:t>www.helplax.com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781317" y="588219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solidFill>
                  <a:schemeClr val="bg1">
                    <a:lumMod val="75000"/>
                  </a:schemeClr>
                </a:solidFill>
                <a:latin typeface="HY중고딕" pitchFamily="18" charset="-127"/>
                <a:ea typeface="HY중고딕" pitchFamily="18" charset="-127"/>
              </a:rPr>
              <a:t>스토리보드</a:t>
            </a:r>
            <a:endParaRPr lang="en-US" altLang="ko-KR" dirty="0" smtClean="0">
              <a:solidFill>
                <a:schemeClr val="bg1">
                  <a:lumMod val="75000"/>
                </a:schemeClr>
              </a:solidFill>
              <a:latin typeface="HY중고딕" pitchFamily="18" charset="-127"/>
              <a:ea typeface="HY중고딕" pitchFamily="18" charset="-127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2468180" y="2261451"/>
            <a:ext cx="7255640" cy="2335098"/>
            <a:chOff x="2222211" y="2797746"/>
            <a:chExt cx="7255640" cy="2335098"/>
          </a:xfrm>
        </p:grpSpPr>
        <p:pic>
          <p:nvPicPr>
            <p:cNvPr id="1035" name="Picture 11" descr="C:\Users\user\Desktop\down\people (11).png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>
              <a:fillRect/>
            </a:stretch>
          </p:blipFill>
          <p:spPr bwMode="auto">
            <a:xfrm>
              <a:off x="2222211" y="2797746"/>
              <a:ext cx="1440000" cy="1070582"/>
            </a:xfrm>
            <a:prstGeom prst="rect">
              <a:avLst/>
            </a:prstGeom>
            <a:noFill/>
          </p:spPr>
        </p:pic>
        <p:pic>
          <p:nvPicPr>
            <p:cNvPr id="67" name="Picture 7" descr="C:\Users\user\Desktop\down\people (8).png"/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lum contrast="-40000"/>
            </a:blip>
            <a:srcRect/>
            <a:stretch>
              <a:fillRect/>
            </a:stretch>
          </p:blipFill>
          <p:spPr bwMode="auto">
            <a:xfrm>
              <a:off x="8037851" y="2797746"/>
              <a:ext cx="1440000" cy="1070583"/>
            </a:xfrm>
            <a:prstGeom prst="rect">
              <a:avLst/>
            </a:prstGeom>
            <a:noFill/>
          </p:spPr>
        </p:pic>
        <p:sp>
          <p:nvSpPr>
            <p:cNvPr id="73" name="오른쪽 화살표 72"/>
            <p:cNvSpPr/>
            <p:nvPr/>
          </p:nvSpPr>
          <p:spPr>
            <a:xfrm>
              <a:off x="4838954" y="2957400"/>
              <a:ext cx="1888174" cy="695331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583546" y="4732734"/>
              <a:ext cx="7553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 smtClean="0"/>
                <a:t>고 객</a:t>
              </a:r>
              <a:endParaRPr lang="ko-KR" altLang="en-US" sz="2000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149776" y="4732734"/>
              <a:ext cx="7553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 smtClean="0"/>
                <a:t>워 커</a:t>
              </a:r>
              <a:endParaRPr lang="ko-KR" altLang="en-US" sz="2000" dirty="0"/>
            </a:p>
          </p:txBody>
        </p:sp>
      </p:grpSp>
    </p:spTree>
    <p:extLst>
      <p:ext uri="{BB962C8B-B14F-4D97-AF65-F5344CB8AC3E}">
        <p14:creationId xmlns="" xmlns:p14="http://schemas.microsoft.com/office/powerpoint/2010/main" val="131667716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C:\Users\user\Desktop\down\hotel-maid (1).png"/>
          <p:cNvPicPr>
            <a:picLocks noChangeAspect="1" noChangeArrowheads="1"/>
          </p:cNvPicPr>
          <p:nvPr/>
        </p:nvPicPr>
        <p:blipFill>
          <a:blip r:embed="rId3" cstate="print">
            <a:lum bright="-40000"/>
          </a:blip>
          <a:srcRect/>
          <a:stretch>
            <a:fillRect/>
          </a:stretch>
        </p:blipFill>
        <p:spPr bwMode="auto">
          <a:xfrm>
            <a:off x="251791" y="212795"/>
            <a:ext cx="609600" cy="6096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772805" y="331307"/>
            <a:ext cx="1101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chemeClr val="bg1">
                    <a:lumMod val="75000"/>
                  </a:schemeClr>
                </a:solidFill>
                <a:latin typeface="Verdana" pitchFamily="34" charset="0"/>
                <a:cs typeface="Verdana" pitchFamily="34" charset="0"/>
              </a:rPr>
              <a:t>HELPLAX</a:t>
            </a: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22327" y="6435660"/>
            <a:ext cx="1775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bg1">
                    <a:lumMod val="75000"/>
                  </a:schemeClr>
                </a:solidFill>
                <a:latin typeface="Verdana" pitchFamily="34" charset="0"/>
                <a:cs typeface="Verdana" pitchFamily="34" charset="0"/>
              </a:rPr>
              <a:t>www.helplax.com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781317" y="588219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solidFill>
                  <a:schemeClr val="bg1">
                    <a:lumMod val="75000"/>
                  </a:schemeClr>
                </a:solidFill>
                <a:latin typeface="HY중고딕" pitchFamily="18" charset="-127"/>
                <a:ea typeface="HY중고딕" pitchFamily="18" charset="-127"/>
              </a:rPr>
              <a:t>스토리보드</a:t>
            </a:r>
            <a:endParaRPr lang="en-US" altLang="ko-KR" dirty="0" smtClean="0">
              <a:solidFill>
                <a:schemeClr val="bg1">
                  <a:lumMod val="75000"/>
                </a:schemeClr>
              </a:solidFill>
              <a:latin typeface="HY중고딕" pitchFamily="18" charset="-127"/>
              <a:ea typeface="HY중고딕" pitchFamily="18" charset="-127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2374611" y="1750557"/>
            <a:ext cx="7442778" cy="3356887"/>
            <a:chOff x="2374611" y="2188537"/>
            <a:chExt cx="7442778" cy="3356887"/>
          </a:xfrm>
        </p:grpSpPr>
        <p:grpSp>
          <p:nvGrpSpPr>
            <p:cNvPr id="9" name="그룹 75"/>
            <p:cNvGrpSpPr/>
            <p:nvPr/>
          </p:nvGrpSpPr>
          <p:grpSpPr>
            <a:xfrm>
              <a:off x="2374611" y="2188537"/>
              <a:ext cx="7442778" cy="2480926"/>
              <a:chOff x="2505251" y="1495366"/>
              <a:chExt cx="7458211" cy="3343921"/>
            </a:xfrm>
          </p:grpSpPr>
          <p:pic>
            <p:nvPicPr>
              <p:cNvPr id="77" name="Picture 11" descr="C:\Users\user\Desktop\down\people (11)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grayscl/>
              </a:blip>
              <a:stretch>
                <a:fillRect/>
              </a:stretch>
            </p:blipFill>
            <p:spPr bwMode="auto">
              <a:xfrm>
                <a:off x="2505251" y="2489528"/>
                <a:ext cx="1440000" cy="1440000"/>
              </a:xfrm>
              <a:prstGeom prst="rect">
                <a:avLst/>
              </a:prstGeom>
              <a:noFill/>
            </p:spPr>
          </p:pic>
          <p:pic>
            <p:nvPicPr>
              <p:cNvPr id="78" name="Picture 7" descr="C:\Users\user\Desktop\down\people (8).png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bright="40000"/>
              </a:blip>
              <a:stretch>
                <a:fillRect/>
              </a:stretch>
            </p:blipFill>
            <p:spPr bwMode="auto">
              <a:xfrm>
                <a:off x="7111910" y="1495366"/>
                <a:ext cx="868008" cy="868008"/>
              </a:xfrm>
              <a:prstGeom prst="rect">
                <a:avLst/>
              </a:prstGeom>
              <a:noFill/>
            </p:spPr>
          </p:pic>
          <p:pic>
            <p:nvPicPr>
              <p:cNvPr id="79" name="Picture 7" descr="C:\Users\user\Desktop\down\people (8).png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bright="40000"/>
              </a:blip>
              <a:stretch>
                <a:fillRect/>
              </a:stretch>
            </p:blipFill>
            <p:spPr bwMode="auto">
              <a:xfrm>
                <a:off x="8103682" y="1495366"/>
                <a:ext cx="868008" cy="868008"/>
              </a:xfrm>
              <a:prstGeom prst="rect">
                <a:avLst/>
              </a:prstGeom>
              <a:noFill/>
            </p:spPr>
          </p:pic>
          <p:pic>
            <p:nvPicPr>
              <p:cNvPr id="80" name="Picture 7" descr="C:\Users\user\Desktop\down\people (8).png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bright="40000"/>
              </a:blip>
              <a:stretch>
                <a:fillRect/>
              </a:stretch>
            </p:blipFill>
            <p:spPr bwMode="auto">
              <a:xfrm>
                <a:off x="9095454" y="1495366"/>
                <a:ext cx="868008" cy="868008"/>
              </a:xfrm>
              <a:prstGeom prst="rect">
                <a:avLst/>
              </a:prstGeom>
              <a:noFill/>
            </p:spPr>
          </p:pic>
          <p:pic>
            <p:nvPicPr>
              <p:cNvPr id="81" name="Picture 7" descr="C:\Users\user\Desktop\down\people (8).png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bright="40000"/>
              </a:blip>
              <a:stretch>
                <a:fillRect/>
              </a:stretch>
            </p:blipFill>
            <p:spPr bwMode="auto">
              <a:xfrm>
                <a:off x="7111910" y="2733323"/>
                <a:ext cx="868008" cy="868008"/>
              </a:xfrm>
              <a:prstGeom prst="rect">
                <a:avLst/>
              </a:prstGeom>
              <a:noFill/>
            </p:spPr>
          </p:pic>
          <p:pic>
            <p:nvPicPr>
              <p:cNvPr id="82" name="Picture 7" descr="C:\Users\user\Desktop\down\people (8).png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bright="40000"/>
              </a:blip>
              <a:stretch>
                <a:fillRect/>
              </a:stretch>
            </p:blipFill>
            <p:spPr bwMode="auto">
              <a:xfrm>
                <a:off x="8103682" y="2733323"/>
                <a:ext cx="868008" cy="868008"/>
              </a:xfrm>
              <a:prstGeom prst="rect">
                <a:avLst/>
              </a:prstGeom>
              <a:noFill/>
            </p:spPr>
          </p:pic>
          <p:pic>
            <p:nvPicPr>
              <p:cNvPr id="83" name="Picture 7" descr="C:\Users\user\Desktop\down\people (8).png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bright="40000"/>
              </a:blip>
              <a:stretch>
                <a:fillRect/>
              </a:stretch>
            </p:blipFill>
            <p:spPr bwMode="auto">
              <a:xfrm>
                <a:off x="9095454" y="2733323"/>
                <a:ext cx="868008" cy="868008"/>
              </a:xfrm>
              <a:prstGeom prst="rect">
                <a:avLst/>
              </a:prstGeom>
              <a:noFill/>
            </p:spPr>
          </p:pic>
          <p:pic>
            <p:nvPicPr>
              <p:cNvPr id="84" name="Picture 7" descr="C:\Users\user\Desktop\down\people (8).png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bright="40000"/>
              </a:blip>
              <a:stretch>
                <a:fillRect/>
              </a:stretch>
            </p:blipFill>
            <p:spPr bwMode="auto">
              <a:xfrm>
                <a:off x="7111910" y="3971279"/>
                <a:ext cx="868008" cy="868008"/>
              </a:xfrm>
              <a:prstGeom prst="rect">
                <a:avLst/>
              </a:prstGeom>
              <a:noFill/>
            </p:spPr>
          </p:pic>
          <p:pic>
            <p:nvPicPr>
              <p:cNvPr id="85" name="Picture 7" descr="C:\Users\user\Desktop\down\people (8).png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bright="40000"/>
              </a:blip>
              <a:stretch>
                <a:fillRect/>
              </a:stretch>
            </p:blipFill>
            <p:spPr bwMode="auto">
              <a:xfrm>
                <a:off x="8103682" y="3971279"/>
                <a:ext cx="868008" cy="868008"/>
              </a:xfrm>
              <a:prstGeom prst="rect">
                <a:avLst/>
              </a:prstGeom>
              <a:noFill/>
            </p:spPr>
          </p:pic>
          <p:pic>
            <p:nvPicPr>
              <p:cNvPr id="86" name="Picture 7" descr="C:\Users\user\Desktop\down\people (8).png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bright="40000"/>
              </a:blip>
              <a:stretch>
                <a:fillRect/>
              </a:stretch>
            </p:blipFill>
            <p:spPr bwMode="auto">
              <a:xfrm>
                <a:off x="9095454" y="3971279"/>
                <a:ext cx="868008" cy="868008"/>
              </a:xfrm>
              <a:prstGeom prst="rect">
                <a:avLst/>
              </a:prstGeom>
              <a:noFill/>
            </p:spPr>
          </p:pic>
          <p:sp>
            <p:nvSpPr>
              <p:cNvPr id="87" name="오른쪽 화살표 86"/>
              <p:cNvSpPr/>
              <p:nvPr/>
            </p:nvSpPr>
            <p:spPr>
              <a:xfrm>
                <a:off x="4436898" y="2743200"/>
                <a:ext cx="1817652" cy="900332"/>
              </a:xfrm>
              <a:prstGeom prst="right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8" name="TextBox 37"/>
            <p:cNvSpPr txBox="1"/>
            <p:nvPr/>
          </p:nvSpPr>
          <p:spPr>
            <a:xfrm>
              <a:off x="2583546" y="5145314"/>
              <a:ext cx="7553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 smtClean="0"/>
                <a:t>워 커</a:t>
              </a:r>
              <a:endParaRPr lang="ko-KR" altLang="en-US" sz="2000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149776" y="5145314"/>
              <a:ext cx="7553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 smtClean="0"/>
                <a:t>고 객</a:t>
              </a:r>
              <a:endParaRPr lang="ko-KR" altLang="en-US" sz="2000" dirty="0"/>
            </a:p>
          </p:txBody>
        </p:sp>
      </p:grpSp>
    </p:spTree>
    <p:extLst>
      <p:ext uri="{BB962C8B-B14F-4D97-AF65-F5344CB8AC3E}">
        <p14:creationId xmlns="" xmlns:p14="http://schemas.microsoft.com/office/powerpoint/2010/main" val="131667716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:\Users\user\Desktop\피피티 이미지 캡쳐\dealtabl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5041" y="2776262"/>
            <a:ext cx="4280006" cy="3374910"/>
          </a:xfrm>
          <a:prstGeom prst="rect">
            <a:avLst/>
          </a:prstGeom>
          <a:noFill/>
        </p:spPr>
      </p:pic>
      <p:pic>
        <p:nvPicPr>
          <p:cNvPr id="12291" name="Picture 3" descr="C:\Users\user\Desktop\피피티 이미지 캡쳐\dealDB설계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87454" y="1163559"/>
            <a:ext cx="4105052" cy="1274588"/>
          </a:xfrm>
          <a:prstGeom prst="rect">
            <a:avLst/>
          </a:prstGeom>
          <a:noFill/>
        </p:spPr>
      </p:pic>
      <p:pic>
        <p:nvPicPr>
          <p:cNvPr id="12292" name="Picture 4" descr="C:\Users\user\Desktop\피피티 이미지 캡쳐\고객에게 온 요청상황 패널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19940" y="1089018"/>
            <a:ext cx="2819400" cy="1981200"/>
          </a:xfrm>
          <a:prstGeom prst="rect">
            <a:avLst/>
          </a:prstGeom>
          <a:noFill/>
        </p:spPr>
      </p:pic>
      <p:pic>
        <p:nvPicPr>
          <p:cNvPr id="12293" name="Picture 5" descr="C:\Users\user\Desktop\피피티 이미지 캡쳐\고객이 요청을 수락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565394" y="980132"/>
            <a:ext cx="2845465" cy="2055587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5658340" y="3554214"/>
            <a:ext cx="63554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en-US" altLang="ko-KR" dirty="0" err="1" smtClean="0">
                <a:latin typeface="굴림" pitchFamily="50" charset="-127"/>
                <a:ea typeface="굴림" pitchFamily="50" charset="-127"/>
              </a:rPr>
              <a:t>tr_sit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=1 :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워커가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고객서비스를 맡고 싶어합니다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.</a:t>
            </a:r>
          </a:p>
          <a:p>
            <a:pPr>
              <a:buFontTx/>
              <a:buChar char="-"/>
            </a:pPr>
            <a:r>
              <a:rPr lang="en-US" altLang="ko-KR" dirty="0" err="1" smtClean="0">
                <a:latin typeface="굴림" pitchFamily="50" charset="-127"/>
                <a:ea typeface="굴림" pitchFamily="50" charset="-127"/>
              </a:rPr>
              <a:t>tr_sit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=2 : 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고객이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워커의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요청을 수락하고 거래진행 중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>
              <a:buFontTx/>
              <a:buChar char="-"/>
            </a:pPr>
            <a:r>
              <a:rPr lang="en-US" altLang="ko-KR" dirty="0" err="1" smtClean="0">
                <a:latin typeface="굴림" pitchFamily="50" charset="-127"/>
                <a:ea typeface="굴림" pitchFamily="50" charset="-127"/>
              </a:rPr>
              <a:t>tr_sit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=3 :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워커와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고객의 거래가 완료됨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>
              <a:buFontTx/>
              <a:buChar char="-"/>
            </a:pPr>
            <a:r>
              <a:rPr lang="en-US" altLang="ko-KR" dirty="0" err="1" smtClean="0">
                <a:latin typeface="굴림" pitchFamily="50" charset="-127"/>
                <a:ea typeface="굴림" pitchFamily="50" charset="-127"/>
              </a:rPr>
              <a:t>tr_sit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=4 : 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고객이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워커의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요청을 거절함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>
              <a:buFontTx/>
              <a:buChar char="-"/>
            </a:pPr>
            <a:r>
              <a:rPr lang="en-US" altLang="ko-KR" dirty="0" err="1" smtClean="0">
                <a:latin typeface="굴림" pitchFamily="50" charset="-127"/>
                <a:ea typeface="굴림" pitchFamily="50" charset="-127"/>
              </a:rPr>
              <a:t>tr_sit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=0 : 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고객이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워커에게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자신의 일을 맞아달라고 요청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1017621" y="3010486"/>
            <a:ext cx="4032681" cy="56806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974980" y="4564471"/>
            <a:ext cx="4160556" cy="21825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Picture 4" descr="C:\Users\user\Desktop\down\hotel-maid (1).png"/>
          <p:cNvPicPr>
            <a:picLocks noChangeAspect="1" noChangeArrowheads="1"/>
          </p:cNvPicPr>
          <p:nvPr/>
        </p:nvPicPr>
        <p:blipFill>
          <a:blip r:embed="rId6" cstate="print">
            <a:lum bright="-40000"/>
          </a:blip>
          <a:srcRect/>
          <a:stretch>
            <a:fillRect/>
          </a:stretch>
        </p:blipFill>
        <p:spPr bwMode="auto">
          <a:xfrm>
            <a:off x="251791" y="212795"/>
            <a:ext cx="609600" cy="609600"/>
          </a:xfrm>
          <a:prstGeom prst="rect">
            <a:avLst/>
          </a:prstGeom>
          <a:noFill/>
        </p:spPr>
      </p:pic>
      <p:sp>
        <p:nvSpPr>
          <p:cNvPr id="15" name="TextBox 14"/>
          <p:cNvSpPr txBox="1"/>
          <p:nvPr/>
        </p:nvSpPr>
        <p:spPr>
          <a:xfrm>
            <a:off x="772805" y="331307"/>
            <a:ext cx="1101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chemeClr val="bg1">
                    <a:lumMod val="75000"/>
                  </a:schemeClr>
                </a:solidFill>
                <a:latin typeface="Verdana" pitchFamily="34" charset="0"/>
                <a:cs typeface="Verdana" pitchFamily="34" charset="0"/>
              </a:rPr>
              <a:t>HELPLAX</a:t>
            </a: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781317" y="588219"/>
            <a:ext cx="23583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solidFill>
                  <a:schemeClr val="bg1">
                    <a:lumMod val="75000"/>
                  </a:schemeClr>
                </a:solidFill>
                <a:latin typeface="HY중고딕" pitchFamily="18" charset="-127"/>
                <a:ea typeface="HY중고딕" pitchFamily="18" charset="-127"/>
              </a:rPr>
              <a:t>핵심기능 </a:t>
            </a:r>
            <a:r>
              <a:rPr lang="en-US" altLang="ko-KR" dirty="0" smtClean="0">
                <a:solidFill>
                  <a:schemeClr val="bg1">
                    <a:lumMod val="75000"/>
                  </a:schemeClr>
                </a:solidFill>
                <a:latin typeface="HY중고딕" pitchFamily="18" charset="-127"/>
                <a:ea typeface="HY중고딕" pitchFamily="18" charset="-127"/>
              </a:rPr>
              <a:t>&amp;</a:t>
            </a:r>
            <a:r>
              <a:rPr lang="ko-KR" altLang="en-US" dirty="0" smtClean="0">
                <a:solidFill>
                  <a:schemeClr val="bg1">
                    <a:lumMod val="75000"/>
                  </a:schemeClr>
                </a:solidFill>
                <a:latin typeface="HY중고딕" pitchFamily="18" charset="-127"/>
                <a:ea typeface="HY중고딕" pitchFamily="18" charset="-127"/>
              </a:rPr>
              <a:t> 소스코드</a:t>
            </a:r>
            <a:endParaRPr lang="en-US" altLang="ko-KR" dirty="0" smtClean="0">
              <a:solidFill>
                <a:schemeClr val="bg1">
                  <a:lumMod val="75000"/>
                </a:schemeClr>
              </a:solidFill>
              <a:latin typeface="HY중고딕" pitchFamily="18" charset="-127"/>
              <a:ea typeface="HY중고딕" pitchFamily="18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022327" y="6435660"/>
            <a:ext cx="1775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bg1">
                    <a:lumMod val="75000"/>
                  </a:schemeClr>
                </a:solidFill>
                <a:latin typeface="Verdana" pitchFamily="34" charset="0"/>
                <a:cs typeface="Verdana" pitchFamily="34" charset="0"/>
              </a:rPr>
              <a:t>www.helplax.com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1667716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4" descr="C:\Users\user\Desktop\down\hotel-maid (1).png"/>
          <p:cNvPicPr>
            <a:picLocks noChangeAspect="1" noChangeArrowheads="1"/>
          </p:cNvPicPr>
          <p:nvPr/>
        </p:nvPicPr>
        <p:blipFill>
          <a:blip r:embed="rId2" cstate="print">
            <a:lum bright="-40000"/>
          </a:blip>
          <a:srcRect/>
          <a:stretch>
            <a:fillRect/>
          </a:stretch>
        </p:blipFill>
        <p:spPr bwMode="auto">
          <a:xfrm>
            <a:off x="331307" y="186292"/>
            <a:ext cx="304798" cy="304798"/>
          </a:xfrm>
          <a:prstGeom prst="rect">
            <a:avLst/>
          </a:prstGeom>
          <a:noFill/>
        </p:spPr>
      </p:pic>
      <p:sp>
        <p:nvSpPr>
          <p:cNvPr id="26" name="TextBox 25"/>
          <p:cNvSpPr txBox="1"/>
          <p:nvPr/>
        </p:nvSpPr>
        <p:spPr>
          <a:xfrm>
            <a:off x="547519" y="172280"/>
            <a:ext cx="21161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solidFill>
                  <a:schemeClr val="bg1">
                    <a:lumMod val="75000"/>
                  </a:schemeClr>
                </a:solidFill>
                <a:latin typeface="Verdana" pitchFamily="34" charset="0"/>
                <a:cs typeface="Verdana" pitchFamily="34" charset="0"/>
              </a:rPr>
              <a:t>HELPLAX</a:t>
            </a:r>
            <a:endParaRPr lang="ko-KR" altLang="en-US" sz="1100" dirty="0">
              <a:solidFill>
                <a:schemeClr val="bg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  <p:pic>
        <p:nvPicPr>
          <p:cNvPr id="13315" name="Picture 3" descr="C:\Users\user\Desktop\피피티 이미지 캡쳐\워커가 고객요청을 받고 다시 신청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60214" y="1422841"/>
            <a:ext cx="5369563" cy="3417672"/>
          </a:xfrm>
          <a:prstGeom prst="rect">
            <a:avLst/>
          </a:prstGeom>
          <a:noFill/>
        </p:spPr>
      </p:pic>
      <p:pic>
        <p:nvPicPr>
          <p:cNvPr id="13316" name="Picture 4" descr="C:\Users\user\Desktop\피피티 이미지 캡쳐\워커상황패널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6194" y="1360988"/>
            <a:ext cx="5377796" cy="3628571"/>
          </a:xfrm>
          <a:prstGeom prst="rect">
            <a:avLst/>
          </a:prstGeom>
          <a:noFill/>
        </p:spPr>
      </p:pic>
      <p:sp>
        <p:nvSpPr>
          <p:cNvPr id="8" name="타원 7"/>
          <p:cNvSpPr/>
          <p:nvPr/>
        </p:nvSpPr>
        <p:spPr>
          <a:xfrm>
            <a:off x="580571" y="4568643"/>
            <a:ext cx="856343" cy="29028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8940799" y="3150038"/>
            <a:ext cx="1567544" cy="3338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0022327" y="6435660"/>
            <a:ext cx="1775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bg1">
                    <a:lumMod val="75000"/>
                  </a:schemeClr>
                </a:solidFill>
                <a:latin typeface="Verdana" pitchFamily="34" charset="0"/>
                <a:cs typeface="Verdana" pitchFamily="34" charset="0"/>
              </a:rPr>
              <a:t>www.helplax.com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1667716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4" descr="C:\Users\user\Desktop\down\hotel-maid (1).png"/>
          <p:cNvPicPr>
            <a:picLocks noChangeAspect="1" noChangeArrowheads="1"/>
          </p:cNvPicPr>
          <p:nvPr/>
        </p:nvPicPr>
        <p:blipFill>
          <a:blip r:embed="rId2" cstate="print">
            <a:lum bright="-40000"/>
          </a:blip>
          <a:srcRect/>
          <a:stretch>
            <a:fillRect/>
          </a:stretch>
        </p:blipFill>
        <p:spPr bwMode="auto">
          <a:xfrm>
            <a:off x="331307" y="186292"/>
            <a:ext cx="304798" cy="304798"/>
          </a:xfrm>
          <a:prstGeom prst="rect">
            <a:avLst/>
          </a:prstGeom>
          <a:noFill/>
        </p:spPr>
      </p:pic>
      <p:sp>
        <p:nvSpPr>
          <p:cNvPr id="26" name="TextBox 25"/>
          <p:cNvSpPr txBox="1"/>
          <p:nvPr/>
        </p:nvSpPr>
        <p:spPr>
          <a:xfrm>
            <a:off x="547519" y="172280"/>
            <a:ext cx="21161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solidFill>
                  <a:schemeClr val="bg1">
                    <a:lumMod val="75000"/>
                  </a:schemeClr>
                </a:solidFill>
                <a:latin typeface="Verdana" pitchFamily="34" charset="0"/>
                <a:cs typeface="Verdana" pitchFamily="34" charset="0"/>
              </a:rPr>
              <a:t>HELPLAX</a:t>
            </a:r>
            <a:endParaRPr lang="ko-KR" altLang="en-US" sz="1100" dirty="0">
              <a:solidFill>
                <a:schemeClr val="bg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  <p:pic>
        <p:nvPicPr>
          <p:cNvPr id="5" name="Picture 4" descr="C:\Users\user\Desktop\피피티 이미지 캡쳐\고객에게 온 요청상황 패널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09271" y="1378857"/>
            <a:ext cx="2819400" cy="1981200"/>
          </a:xfrm>
          <a:prstGeom prst="rect">
            <a:avLst/>
          </a:prstGeom>
          <a:noFill/>
        </p:spPr>
      </p:pic>
      <p:pic>
        <p:nvPicPr>
          <p:cNvPr id="6" name="Picture 5" descr="C:\Users\user\Desktop\피피티 이미지 캡쳐\고객이 요청을 수락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60699" y="1181099"/>
            <a:ext cx="3006044" cy="2171591"/>
          </a:xfrm>
          <a:prstGeom prst="rect">
            <a:avLst/>
          </a:prstGeom>
          <a:noFill/>
        </p:spPr>
      </p:pic>
      <p:pic>
        <p:nvPicPr>
          <p:cNvPr id="7" name="Picture 4" descr="C:\Users\user\Desktop\피피티 이미지 캡쳐\고객에게 온 요청상황 패널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39842" y="1328057"/>
            <a:ext cx="2819400" cy="1981200"/>
          </a:xfrm>
          <a:prstGeom prst="rect">
            <a:avLst/>
          </a:prstGeom>
          <a:noFill/>
        </p:spPr>
      </p:pic>
      <p:sp>
        <p:nvSpPr>
          <p:cNvPr id="8" name="타원 7"/>
          <p:cNvSpPr/>
          <p:nvPr/>
        </p:nvSpPr>
        <p:spPr>
          <a:xfrm>
            <a:off x="1669142" y="2249713"/>
            <a:ext cx="856343" cy="29028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5624285" y="2198913"/>
            <a:ext cx="856343" cy="29028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0022327" y="6435660"/>
            <a:ext cx="1775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bg1">
                    <a:lumMod val="75000"/>
                  </a:schemeClr>
                </a:solidFill>
                <a:latin typeface="Verdana" pitchFamily="34" charset="0"/>
                <a:cs typeface="Verdana" pitchFamily="34" charset="0"/>
              </a:rPr>
              <a:t>www.helplax.com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1667716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-57180" y="-76200"/>
            <a:ext cx="12249180" cy="6934200"/>
          </a:xfrm>
          <a:prstGeom prst="rect">
            <a:avLst/>
          </a:prstGeom>
          <a:solidFill>
            <a:srgbClr val="222A35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CuadroTexto 24"/>
          <p:cNvSpPr txBox="1"/>
          <p:nvPr/>
        </p:nvSpPr>
        <p:spPr>
          <a:xfrm>
            <a:off x="3819939" y="3075057"/>
            <a:ext cx="45521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 smtClean="0">
                <a:solidFill>
                  <a:schemeClr val="bg1"/>
                </a:solidFill>
                <a:latin typeface="Raleway" panose="020B0003030101060003" pitchFamily="34" charset="0"/>
              </a:rPr>
              <a:t>시연 시작</a:t>
            </a:r>
            <a:r>
              <a:rPr lang="en-US" altLang="ko-KR" sz="4000" b="1" dirty="0" smtClean="0">
                <a:solidFill>
                  <a:schemeClr val="bg1"/>
                </a:solidFill>
                <a:latin typeface="Raleway" panose="020B0003030101060003" pitchFamily="34" charset="0"/>
              </a:rPr>
              <a:t>.</a:t>
            </a:r>
            <a:endParaRPr lang="es-ES" sz="4000" b="1" dirty="0">
              <a:solidFill>
                <a:schemeClr val="bg1"/>
              </a:solidFill>
              <a:latin typeface="Raleway" panose="020B0003030101060003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1416429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-57180" y="-76200"/>
            <a:ext cx="12249180" cy="6934200"/>
          </a:xfrm>
          <a:prstGeom prst="rect">
            <a:avLst/>
          </a:prstGeom>
          <a:solidFill>
            <a:srgbClr val="222A35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CuadroTexto 24"/>
          <p:cNvSpPr txBox="1"/>
          <p:nvPr/>
        </p:nvSpPr>
        <p:spPr>
          <a:xfrm>
            <a:off x="3819939" y="3075057"/>
            <a:ext cx="45521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 smtClean="0">
                <a:solidFill>
                  <a:schemeClr val="bg1"/>
                </a:solidFill>
                <a:latin typeface="Raleway" panose="020B0003030101060003" pitchFamily="34" charset="0"/>
              </a:rPr>
              <a:t>감사합니다</a:t>
            </a:r>
            <a:r>
              <a:rPr lang="en-US" altLang="ko-KR" sz="4000" b="1" dirty="0" smtClean="0">
                <a:solidFill>
                  <a:schemeClr val="bg1"/>
                </a:solidFill>
                <a:latin typeface="Raleway" panose="020B0003030101060003" pitchFamily="34" charset="0"/>
              </a:rPr>
              <a:t>.</a:t>
            </a:r>
            <a:endParaRPr lang="es-ES" sz="4000" b="1" dirty="0">
              <a:solidFill>
                <a:schemeClr val="bg1"/>
              </a:solidFill>
              <a:latin typeface="Raleway" panose="020B0003030101060003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1416429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3085</TotalTime>
  <Words>158</Words>
  <Application>Microsoft Office PowerPoint</Application>
  <PresentationFormat>사용자 지정</PresentationFormat>
  <Paragraphs>92</Paragraphs>
  <Slides>21</Slides>
  <Notes>5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2" baseType="lpstr">
      <vt:lpstr>Tema de Office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Jean Guevara</dc:creator>
  <cp:lastModifiedBy>user</cp:lastModifiedBy>
  <cp:revision>197</cp:revision>
  <dcterms:created xsi:type="dcterms:W3CDTF">2015-03-11T13:58:23Z</dcterms:created>
  <dcterms:modified xsi:type="dcterms:W3CDTF">2016-04-26T08:30:35Z</dcterms:modified>
</cp:coreProperties>
</file>