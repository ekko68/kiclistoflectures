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20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A25FD7-90CD-4BD4-91CD-618C0352CC79}" type="datetimeFigureOut">
              <a:rPr lang="ko-KR" altLang="en-US" smtClean="0"/>
              <a:pPr/>
              <a:t>2010-05-19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9DE417-4202-4B32-84E7-154E16476C9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9DE417-4202-4B32-84E7-154E16476C93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6505-D4B1-4EB3-83E3-88E25AE63962}" type="datetimeFigureOut">
              <a:rPr lang="ko-KR" altLang="en-US" smtClean="0"/>
              <a:pPr/>
              <a:t>2010-05-19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4882-0136-4953-BBD3-F74CDC1F747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6505-D4B1-4EB3-83E3-88E25AE63962}" type="datetimeFigureOut">
              <a:rPr lang="ko-KR" altLang="en-US" smtClean="0"/>
              <a:pPr/>
              <a:t>2010-05-19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4882-0136-4953-BBD3-F74CDC1F747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6505-D4B1-4EB3-83E3-88E25AE63962}" type="datetimeFigureOut">
              <a:rPr lang="ko-KR" altLang="en-US" smtClean="0"/>
              <a:pPr/>
              <a:t>2010-05-19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4882-0136-4953-BBD3-F74CDC1F747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6505-D4B1-4EB3-83E3-88E25AE63962}" type="datetimeFigureOut">
              <a:rPr lang="ko-KR" altLang="en-US" smtClean="0"/>
              <a:pPr/>
              <a:t>2010-05-19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4882-0136-4953-BBD3-F74CDC1F747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6505-D4B1-4EB3-83E3-88E25AE63962}" type="datetimeFigureOut">
              <a:rPr lang="ko-KR" altLang="en-US" smtClean="0"/>
              <a:pPr/>
              <a:t>2010-05-19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4882-0136-4953-BBD3-F74CDC1F747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6505-D4B1-4EB3-83E3-88E25AE63962}" type="datetimeFigureOut">
              <a:rPr lang="ko-KR" altLang="en-US" smtClean="0"/>
              <a:pPr/>
              <a:t>2010-05-19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4882-0136-4953-BBD3-F74CDC1F747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6505-D4B1-4EB3-83E3-88E25AE63962}" type="datetimeFigureOut">
              <a:rPr lang="ko-KR" altLang="en-US" smtClean="0"/>
              <a:pPr/>
              <a:t>2010-05-19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4882-0136-4953-BBD3-F74CDC1F747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6505-D4B1-4EB3-83E3-88E25AE63962}" type="datetimeFigureOut">
              <a:rPr lang="ko-KR" altLang="en-US" smtClean="0"/>
              <a:pPr/>
              <a:t>2010-05-19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4882-0136-4953-BBD3-F74CDC1F747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6505-D4B1-4EB3-83E3-88E25AE63962}" type="datetimeFigureOut">
              <a:rPr lang="ko-KR" altLang="en-US" smtClean="0"/>
              <a:pPr/>
              <a:t>2010-05-19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4882-0136-4953-BBD3-F74CDC1F747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6505-D4B1-4EB3-83E3-88E25AE63962}" type="datetimeFigureOut">
              <a:rPr lang="ko-KR" altLang="en-US" smtClean="0"/>
              <a:pPr/>
              <a:t>2010-05-19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4882-0136-4953-BBD3-F74CDC1F747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6505-D4B1-4EB3-83E3-88E25AE63962}" type="datetimeFigureOut">
              <a:rPr lang="ko-KR" altLang="en-US" smtClean="0"/>
              <a:pPr/>
              <a:t>2010-05-19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4882-0136-4953-BBD3-F74CDC1F747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A6505-D4B1-4EB3-83E3-88E25AE63962}" type="datetimeFigureOut">
              <a:rPr lang="ko-KR" altLang="en-US" smtClean="0"/>
              <a:pPr/>
              <a:t>2010-05-19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14882-0136-4953-BBD3-F74CDC1F747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6" descr="제목바탕1.bmp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928938" y="4429125"/>
            <a:ext cx="30003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ko-KR" dirty="0" smtClean="0">
                <a:latin typeface="휴먼둥근헤드라인" pitchFamily="18" charset="-127"/>
                <a:ea typeface="휴먼둥근헤드라인" pitchFamily="18" charset="-127"/>
              </a:rPr>
              <a:t>2010.05</a:t>
            </a:r>
            <a:endParaRPr lang="ko-KR" altLang="en-US" dirty="0">
              <a:latin typeface="휴먼둥근헤드라인" pitchFamily="18" charset="-127"/>
              <a:ea typeface="휴먼둥근헤드라인" pitchFamily="18" charset="-127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000100" y="2590800"/>
            <a:ext cx="7297763" cy="683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latinLnBrk="1">
              <a:lnSpc>
                <a:spcPct val="120000"/>
              </a:lnSpc>
            </a:pPr>
            <a:r>
              <a:rPr lang="ko-KR" altLang="en-US" sz="32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가구 유통시스템 </a:t>
            </a:r>
            <a:r>
              <a:rPr lang="ko-KR" altLang="en-US" sz="3200" smtClea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수행 계획서</a:t>
            </a:r>
            <a:endParaRPr lang="ko-KR" altLang="en-US" sz="3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422400" y="1042988"/>
            <a:ext cx="5005388" cy="55236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36000" tIns="46800" rIns="36000" bIns="46800">
            <a:spAutoFit/>
          </a:bodyPr>
          <a:lstStyle/>
          <a:p>
            <a:pPr marL="457200" indent="-457200" algn="l">
              <a:lnSpc>
                <a:spcPct val="90000"/>
              </a:lnSpc>
              <a:spcBef>
                <a:spcPct val="25000"/>
              </a:spcBef>
              <a:buClr>
                <a:srgbClr val="336699"/>
              </a:buClr>
              <a:buFont typeface="Wingdings" pitchFamily="2" charset="2"/>
              <a:buAutoNum type="arabicPeriod"/>
              <a:defRPr/>
            </a:pPr>
            <a:endParaRPr lang="en-US" altLang="ko-KR" sz="2400" dirty="0">
              <a:effectLst>
                <a:outerShdw blurRad="38100" dist="38100" dir="2700000" algn="tl">
                  <a:srgbClr val="C0C0C0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  <a:p>
            <a:pPr marL="457200" indent="-457200" algn="l">
              <a:lnSpc>
                <a:spcPct val="90000"/>
              </a:lnSpc>
              <a:spcBef>
                <a:spcPct val="25000"/>
              </a:spcBef>
              <a:buClr>
                <a:srgbClr val="336699"/>
              </a:buClr>
              <a:buFont typeface="Wingdings" pitchFamily="2" charset="2"/>
              <a:buAutoNum type="arabicPeriod"/>
              <a:defRPr/>
            </a:pPr>
            <a:r>
              <a:rPr lang="ko-KR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시스템 구성도</a:t>
            </a:r>
            <a:endParaRPr lang="en-US" altLang="ko-KR" sz="2400" dirty="0">
              <a:effectLst>
                <a:outerShdw blurRad="38100" dist="38100" dir="2700000" algn="tl">
                  <a:srgbClr val="C0C0C0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  <a:p>
            <a:pPr marL="457200" indent="-457200" algn="l">
              <a:lnSpc>
                <a:spcPct val="90000"/>
              </a:lnSpc>
              <a:spcBef>
                <a:spcPct val="25000"/>
              </a:spcBef>
              <a:buClr>
                <a:srgbClr val="336699"/>
              </a:buClr>
              <a:buFont typeface="Wingdings" pitchFamily="2" charset="2"/>
              <a:buAutoNum type="arabicPeriod"/>
              <a:defRPr/>
            </a:pPr>
            <a:endParaRPr lang="ko-KR" alt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  <a:p>
            <a:pPr marL="457200" indent="-457200" algn="l">
              <a:lnSpc>
                <a:spcPct val="90000"/>
              </a:lnSpc>
              <a:spcBef>
                <a:spcPct val="25000"/>
              </a:spcBef>
              <a:buClr>
                <a:srgbClr val="336699"/>
              </a:buClr>
              <a:buFont typeface="Wingdings" pitchFamily="2" charset="2"/>
              <a:buAutoNum type="arabicPeriod"/>
              <a:defRPr/>
            </a:pPr>
            <a:r>
              <a:rPr lang="ko-KR" alt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업무 흐름도</a:t>
            </a:r>
            <a:endParaRPr lang="en-US" altLang="ko-KR" sz="2400" dirty="0" smtClean="0">
              <a:effectLst>
                <a:outerShdw blurRad="38100" dist="38100" dir="2700000" algn="tl">
                  <a:srgbClr val="C0C0C0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  <a:p>
            <a:pPr marL="457200" indent="-457200" algn="l">
              <a:lnSpc>
                <a:spcPct val="90000"/>
              </a:lnSpc>
              <a:spcBef>
                <a:spcPct val="25000"/>
              </a:spcBef>
              <a:buClr>
                <a:srgbClr val="336699"/>
              </a:buClr>
              <a:buFont typeface="Wingdings" pitchFamily="2" charset="2"/>
              <a:buAutoNum type="arabicPeriod"/>
              <a:defRPr/>
            </a:pPr>
            <a:endParaRPr lang="en-US" altLang="ko-KR" sz="2400" dirty="0" smtClean="0">
              <a:effectLst>
                <a:outerShdw blurRad="38100" dist="38100" dir="2700000" algn="tl">
                  <a:srgbClr val="C0C0C0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  <a:p>
            <a:pPr marL="457200" indent="-457200" algn="l">
              <a:lnSpc>
                <a:spcPct val="90000"/>
              </a:lnSpc>
              <a:spcBef>
                <a:spcPct val="25000"/>
              </a:spcBef>
              <a:buClr>
                <a:srgbClr val="336699"/>
              </a:buClr>
              <a:buFont typeface="Wingdings" pitchFamily="2" charset="2"/>
              <a:buAutoNum type="arabicPeriod"/>
              <a:defRPr/>
            </a:pPr>
            <a:r>
              <a:rPr lang="ko-KR" alt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시스템 흐름도</a:t>
            </a:r>
            <a:endParaRPr lang="en-US" altLang="ko-KR" sz="2400" dirty="0">
              <a:effectLst>
                <a:outerShdw blurRad="38100" dist="38100" dir="2700000" algn="tl">
                  <a:srgbClr val="C0C0C0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  <a:p>
            <a:pPr marL="457200" indent="-457200" algn="l">
              <a:lnSpc>
                <a:spcPct val="90000"/>
              </a:lnSpc>
              <a:spcBef>
                <a:spcPct val="25000"/>
              </a:spcBef>
              <a:buClr>
                <a:srgbClr val="336699"/>
              </a:buClr>
              <a:buFont typeface="Wingdings" pitchFamily="2" charset="2"/>
              <a:buAutoNum type="arabicPeriod"/>
              <a:defRPr/>
            </a:pPr>
            <a:endParaRPr lang="ko-KR" alt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  <a:p>
            <a:pPr marL="457200" indent="-457200" algn="l">
              <a:lnSpc>
                <a:spcPct val="90000"/>
              </a:lnSpc>
              <a:spcBef>
                <a:spcPct val="25000"/>
              </a:spcBef>
              <a:buClr>
                <a:srgbClr val="336699"/>
              </a:buClr>
              <a:buFont typeface="Wingdings" pitchFamily="2" charset="2"/>
              <a:buAutoNum type="arabicPeriod"/>
              <a:defRPr/>
            </a:pPr>
            <a:r>
              <a:rPr lang="ko-KR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시스템 제안 범위</a:t>
            </a:r>
            <a:endParaRPr lang="en-US" altLang="ko-KR" sz="2400" dirty="0">
              <a:effectLst>
                <a:outerShdw blurRad="38100" dist="38100" dir="2700000" algn="tl">
                  <a:srgbClr val="C0C0C0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  <a:p>
            <a:pPr marL="457200" indent="-457200" algn="l">
              <a:lnSpc>
                <a:spcPct val="90000"/>
              </a:lnSpc>
              <a:spcBef>
                <a:spcPct val="25000"/>
              </a:spcBef>
              <a:buClr>
                <a:srgbClr val="336699"/>
              </a:buClr>
              <a:buFont typeface="Wingdings" pitchFamily="2" charset="2"/>
              <a:buAutoNum type="arabicPeriod"/>
              <a:defRPr/>
            </a:pPr>
            <a:endParaRPr lang="en-US" altLang="ko-KR" sz="2400" dirty="0">
              <a:effectLst>
                <a:outerShdw blurRad="38100" dist="38100" dir="2700000" algn="tl">
                  <a:srgbClr val="C0C0C0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  <a:p>
            <a:pPr marL="457200" indent="-457200" algn="l">
              <a:lnSpc>
                <a:spcPct val="90000"/>
              </a:lnSpc>
              <a:spcBef>
                <a:spcPct val="25000"/>
              </a:spcBef>
              <a:buClr>
                <a:srgbClr val="336699"/>
              </a:buClr>
              <a:buFont typeface="Wingdings" pitchFamily="2" charset="2"/>
              <a:buAutoNum type="arabicPeriod"/>
              <a:defRPr/>
            </a:pPr>
            <a:r>
              <a:rPr lang="ko-KR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개발 일정 및 </a:t>
            </a:r>
            <a:r>
              <a:rPr lang="en-US" altLang="ko-KR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Man </a:t>
            </a:r>
            <a:r>
              <a:rPr lang="en-US" altLang="ko-KR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Power</a:t>
            </a:r>
          </a:p>
          <a:p>
            <a:pPr marL="457200" indent="-457200" algn="l">
              <a:lnSpc>
                <a:spcPct val="90000"/>
              </a:lnSpc>
              <a:spcBef>
                <a:spcPct val="25000"/>
              </a:spcBef>
              <a:buClr>
                <a:srgbClr val="336699"/>
              </a:buClr>
              <a:buFont typeface="Wingdings" pitchFamily="2" charset="2"/>
              <a:buAutoNum type="arabicPeriod"/>
              <a:defRPr/>
            </a:pPr>
            <a:endParaRPr lang="en-US" altLang="ko-KR" sz="2400" dirty="0" smtClean="0">
              <a:effectLst>
                <a:outerShdw blurRad="38100" dist="38100" dir="2700000" algn="tl">
                  <a:srgbClr val="C0C0C0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  <a:p>
            <a:pPr marL="457200" indent="-457200" algn="l">
              <a:lnSpc>
                <a:spcPct val="90000"/>
              </a:lnSpc>
              <a:spcBef>
                <a:spcPct val="25000"/>
              </a:spcBef>
              <a:buClr>
                <a:srgbClr val="336699"/>
              </a:buClr>
              <a:buFont typeface="Wingdings" pitchFamily="2" charset="2"/>
              <a:buAutoNum type="arabicPeriod"/>
              <a:defRPr/>
            </a:pPr>
            <a:r>
              <a:rPr lang="ko-KR" alt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향후 개발 </a:t>
            </a:r>
            <a:r>
              <a:rPr lang="ko-KR" alt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제안 및 기대효과</a:t>
            </a:r>
            <a:endParaRPr lang="en-US" altLang="ko-KR" sz="2400" dirty="0" smtClean="0">
              <a:effectLst>
                <a:outerShdw blurRad="38100" dist="38100" dir="2700000" algn="tl">
                  <a:srgbClr val="C0C0C0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  <a:p>
            <a:pPr marL="457200" indent="-457200" algn="l">
              <a:lnSpc>
                <a:spcPct val="90000"/>
              </a:lnSpc>
              <a:spcBef>
                <a:spcPct val="25000"/>
              </a:spcBef>
              <a:buClr>
                <a:srgbClr val="336699"/>
              </a:buClr>
              <a:buFont typeface="Wingdings" pitchFamily="2" charset="2"/>
              <a:buAutoNum type="arabicPeriod"/>
              <a:defRPr/>
            </a:pPr>
            <a:endParaRPr lang="en-US" altLang="ko-KR" sz="2400" dirty="0">
              <a:effectLst>
                <a:outerShdw blurRad="38100" dist="38100" dir="2700000" algn="tl">
                  <a:srgbClr val="C0C0C0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1438" y="142875"/>
            <a:ext cx="6256337" cy="4746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anchor="b"/>
          <a:lstStyle/>
          <a:p>
            <a:pPr algn="l" latinLnBrk="1">
              <a:defRPr/>
            </a:pPr>
            <a:r>
              <a:rPr lang="en-US" altLang="ko-KR" sz="2400" dirty="0">
                <a:solidFill>
                  <a:srgbClr val="FFFF66"/>
                </a:solidFill>
                <a:latin typeface="HY헤드라인M" pitchFamily="18" charset="-127"/>
                <a:ea typeface="HY헤드라인M" pitchFamily="18" charset="-127"/>
              </a:rPr>
              <a:t>- </a:t>
            </a:r>
            <a:r>
              <a:rPr lang="ko-KR" altLang="en-US" sz="2400" dirty="0">
                <a:solidFill>
                  <a:srgbClr val="FFFF66"/>
                </a:solidFill>
                <a:latin typeface="HY헤드라인M" pitchFamily="18" charset="-127"/>
                <a:ea typeface="HY헤드라인M" pitchFamily="18" charset="-127"/>
              </a:rPr>
              <a:t>목차</a:t>
            </a:r>
            <a:r>
              <a:rPr lang="en-US" altLang="ko-KR" sz="2400" dirty="0">
                <a:solidFill>
                  <a:srgbClr val="FFFF66"/>
                </a:solidFill>
                <a:latin typeface="HY헤드라인M" pitchFamily="18" charset="-127"/>
                <a:ea typeface="HY헤드라인M" pitchFamily="18" charset="-127"/>
              </a:rPr>
              <a:t>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3"/>
          <p:cNvSpPr>
            <a:spLocks noChangeArrowheads="1"/>
          </p:cNvSpPr>
          <p:nvPr/>
        </p:nvSpPr>
        <p:spPr bwMode="auto">
          <a:xfrm>
            <a:off x="0" y="0"/>
            <a:ext cx="8077200" cy="76200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l" eaLnBrk="1" latin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ko-KR" sz="28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 1. </a:t>
            </a:r>
            <a:r>
              <a:rPr lang="ko-KR" altLang="en-US" sz="28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시스템 구성도</a:t>
            </a:r>
            <a:endParaRPr lang="en-US" altLang="ko-KR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89" name="Text Box 3"/>
          <p:cNvSpPr txBox="1">
            <a:spLocks noChangeArrowheads="1"/>
          </p:cNvSpPr>
          <p:nvPr/>
        </p:nvSpPr>
        <p:spPr bwMode="auto">
          <a:xfrm>
            <a:off x="2133600" y="1466854"/>
            <a:ext cx="4724400" cy="4238639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85000"/>
              </a:lnSpc>
              <a:spcBef>
                <a:spcPct val="50000"/>
              </a:spcBef>
              <a:buFontTx/>
              <a:buChar char="-"/>
            </a:pPr>
            <a:endParaRPr kumimoji="0" lang="ko-KR" altLang="ko-KR" sz="1600" b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90" name="Rectangle 14"/>
          <p:cNvSpPr>
            <a:spLocks noChangeArrowheads="1"/>
          </p:cNvSpPr>
          <p:nvPr/>
        </p:nvSpPr>
        <p:spPr bwMode="auto">
          <a:xfrm>
            <a:off x="4857750" y="1776416"/>
            <a:ext cx="1571625" cy="350044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algn="ctr">
              <a:defRPr/>
            </a:pPr>
            <a:r>
              <a:rPr lang="ko-KR" altLang="en-US" sz="1600" b="0" dirty="0">
                <a:ea typeface="HY헤드라인M" pitchFamily="18" charset="-127"/>
              </a:rPr>
              <a:t>판매 관리</a:t>
            </a:r>
          </a:p>
        </p:txBody>
      </p:sp>
      <p:sp>
        <p:nvSpPr>
          <p:cNvPr id="191" name="Text Box 15"/>
          <p:cNvSpPr txBox="1">
            <a:spLocks noChangeArrowheads="1"/>
          </p:cNvSpPr>
          <p:nvPr/>
        </p:nvSpPr>
        <p:spPr bwMode="auto">
          <a:xfrm>
            <a:off x="2000250" y="2347906"/>
            <a:ext cx="381000" cy="2581291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CC99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anchor="ctr" anchorCtr="1"/>
          <a:lstStyle/>
          <a:p>
            <a:pPr algn="ctr"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0" lang="ko-KR" altLang="en-US" sz="1600" b="0">
                <a:latin typeface="HY헤드라인M" pitchFamily="18" charset="-127"/>
                <a:ea typeface="HY헤드라인M" pitchFamily="18" charset="-127"/>
              </a:rPr>
              <a:t>공</a:t>
            </a:r>
          </a:p>
          <a:p>
            <a:pPr algn="ctr"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0" lang="ko-KR" altLang="en-US" sz="1600" b="0">
                <a:latin typeface="HY헤드라인M" pitchFamily="18" charset="-127"/>
                <a:ea typeface="HY헤드라인M" pitchFamily="18" charset="-127"/>
              </a:rPr>
              <a:t>급</a:t>
            </a:r>
          </a:p>
          <a:p>
            <a:pPr algn="ctr"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0" lang="ko-KR" altLang="en-US" sz="1600" b="0">
                <a:latin typeface="HY헤드라인M" pitchFamily="18" charset="-127"/>
                <a:ea typeface="HY헤드라인M" pitchFamily="18" charset="-127"/>
              </a:rPr>
              <a:t>업</a:t>
            </a:r>
          </a:p>
          <a:p>
            <a:pPr algn="ctr"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0" lang="ko-KR" altLang="en-US" sz="1600" b="0">
                <a:latin typeface="HY헤드라인M" pitchFamily="18" charset="-127"/>
                <a:ea typeface="HY헤드라인M" pitchFamily="18" charset="-127"/>
              </a:rPr>
              <a:t>체</a:t>
            </a:r>
          </a:p>
          <a:p>
            <a:pPr algn="ctr"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0" lang="ko-KR" altLang="en-US" sz="1600" b="0">
                <a:latin typeface="HY헤드라인M" pitchFamily="18" charset="-127"/>
                <a:ea typeface="HY헤드라인M" pitchFamily="18" charset="-127"/>
              </a:rPr>
              <a:t>관</a:t>
            </a:r>
          </a:p>
          <a:p>
            <a:pPr algn="ctr"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0" lang="ko-KR" altLang="en-US" sz="1600" b="0">
                <a:latin typeface="HY헤드라인M" pitchFamily="18" charset="-127"/>
                <a:ea typeface="HY헤드라인M" pitchFamily="18" charset="-127"/>
              </a:rPr>
              <a:t>리</a:t>
            </a:r>
          </a:p>
        </p:txBody>
      </p:sp>
      <p:sp>
        <p:nvSpPr>
          <p:cNvPr id="192" name="Rectangle 16"/>
          <p:cNvSpPr>
            <a:spLocks noChangeArrowheads="1"/>
          </p:cNvSpPr>
          <p:nvPr/>
        </p:nvSpPr>
        <p:spPr bwMode="auto">
          <a:xfrm>
            <a:off x="3000364" y="1214422"/>
            <a:ext cx="3048000" cy="369332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ko-KR" altLang="en-US" b="0" dirty="0">
                <a:ea typeface="HY헤드라인M" pitchFamily="18" charset="-127"/>
              </a:rPr>
              <a:t>가구 유통 시스템</a:t>
            </a:r>
          </a:p>
        </p:txBody>
      </p:sp>
      <p:sp>
        <p:nvSpPr>
          <p:cNvPr id="193" name="AutoShape 64"/>
          <p:cNvSpPr>
            <a:spLocks noChangeArrowheads="1"/>
          </p:cNvSpPr>
          <p:nvPr/>
        </p:nvSpPr>
        <p:spPr bwMode="auto">
          <a:xfrm>
            <a:off x="7072313" y="2347916"/>
            <a:ext cx="533400" cy="457200"/>
          </a:xfrm>
          <a:prstGeom prst="lightningBolt">
            <a:avLst/>
          </a:prstGeom>
          <a:solidFill>
            <a:srgbClr val="99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4" name="AutoShape 65"/>
          <p:cNvSpPr>
            <a:spLocks noChangeArrowheads="1"/>
          </p:cNvSpPr>
          <p:nvPr/>
        </p:nvSpPr>
        <p:spPr bwMode="auto">
          <a:xfrm>
            <a:off x="7148513" y="2119316"/>
            <a:ext cx="533400" cy="457200"/>
          </a:xfrm>
          <a:prstGeom prst="lightningBolt">
            <a:avLst/>
          </a:prstGeom>
          <a:solidFill>
            <a:srgbClr val="99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5" name="AutoShape 66"/>
          <p:cNvSpPr>
            <a:spLocks noChangeArrowheads="1"/>
          </p:cNvSpPr>
          <p:nvPr/>
        </p:nvSpPr>
        <p:spPr bwMode="auto">
          <a:xfrm rot="5400000">
            <a:off x="1428750" y="3271838"/>
            <a:ext cx="533400" cy="457200"/>
          </a:xfrm>
          <a:prstGeom prst="lightningBolt">
            <a:avLst/>
          </a:prstGeom>
          <a:solidFill>
            <a:srgbClr val="99CC00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6" name="AutoShape 67"/>
          <p:cNvSpPr>
            <a:spLocks noChangeArrowheads="1"/>
          </p:cNvSpPr>
          <p:nvPr/>
        </p:nvSpPr>
        <p:spPr bwMode="auto">
          <a:xfrm rot="5400000">
            <a:off x="1428750" y="3043238"/>
            <a:ext cx="533400" cy="457200"/>
          </a:xfrm>
          <a:prstGeom prst="lightningBolt">
            <a:avLst/>
          </a:prstGeom>
          <a:solidFill>
            <a:srgbClr val="99CC00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7" name="Rectangle 75"/>
          <p:cNvSpPr>
            <a:spLocks noChangeArrowheads="1"/>
          </p:cNvSpPr>
          <p:nvPr/>
        </p:nvSpPr>
        <p:spPr bwMode="auto">
          <a:xfrm>
            <a:off x="5558277" y="2103720"/>
            <a:ext cx="928687" cy="214313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8000" tIns="10800" rIns="18000" bIns="10800" anchor="ctr"/>
          <a:lstStyle/>
          <a:p>
            <a:pPr algn="ctr"/>
            <a:r>
              <a:rPr lang="ko-KR" altLang="en-US" sz="1200" b="0" dirty="0">
                <a:ea typeface="HY헤드라인M" pitchFamily="18" charset="-127"/>
              </a:rPr>
              <a:t>전자상거래</a:t>
            </a:r>
          </a:p>
        </p:txBody>
      </p:sp>
      <p:sp>
        <p:nvSpPr>
          <p:cNvPr id="198" name="Rectangle 68"/>
          <p:cNvSpPr>
            <a:spLocks noChangeArrowheads="1"/>
          </p:cNvSpPr>
          <p:nvPr/>
        </p:nvSpPr>
        <p:spPr bwMode="auto">
          <a:xfrm>
            <a:off x="2571750" y="1776416"/>
            <a:ext cx="1600200" cy="35004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algn="ctr">
              <a:defRPr/>
            </a:pPr>
            <a:r>
              <a:rPr lang="ko-KR" altLang="en-US" sz="1600" b="0" dirty="0">
                <a:ea typeface="HY헤드라인M" pitchFamily="18" charset="-127"/>
              </a:rPr>
              <a:t>구매관리</a:t>
            </a:r>
          </a:p>
        </p:txBody>
      </p:sp>
      <p:sp>
        <p:nvSpPr>
          <p:cNvPr id="199" name="Rectangle 73"/>
          <p:cNvSpPr>
            <a:spLocks noChangeArrowheads="1"/>
          </p:cNvSpPr>
          <p:nvPr/>
        </p:nvSpPr>
        <p:spPr bwMode="auto">
          <a:xfrm>
            <a:off x="2857500" y="2466978"/>
            <a:ext cx="1143000" cy="338554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ko-KR" altLang="en-US" sz="1600" b="0" dirty="0">
                <a:ea typeface="HY헤드라인M" pitchFamily="18" charset="-127"/>
              </a:rPr>
              <a:t>발주관리</a:t>
            </a:r>
          </a:p>
        </p:txBody>
      </p:sp>
      <p:sp>
        <p:nvSpPr>
          <p:cNvPr id="200" name="Rectangle 11"/>
          <p:cNvSpPr>
            <a:spLocks noChangeArrowheads="1"/>
          </p:cNvSpPr>
          <p:nvPr/>
        </p:nvSpPr>
        <p:spPr bwMode="auto">
          <a:xfrm>
            <a:off x="4357688" y="2990849"/>
            <a:ext cx="381000" cy="11430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ko-KR" altLang="en-US" sz="1600" b="0" dirty="0">
                <a:ea typeface="HY헤드라인M" pitchFamily="18" charset="-127"/>
              </a:rPr>
              <a:t>재</a:t>
            </a:r>
          </a:p>
          <a:p>
            <a:pPr algn="ctr"/>
            <a:r>
              <a:rPr lang="ko-KR" altLang="en-US" sz="1600" b="0" dirty="0">
                <a:ea typeface="HY헤드라인M" pitchFamily="18" charset="-127"/>
              </a:rPr>
              <a:t>고</a:t>
            </a:r>
          </a:p>
          <a:p>
            <a:pPr algn="ctr"/>
            <a:r>
              <a:rPr lang="ko-KR" altLang="en-US" sz="1600" b="0" dirty="0">
                <a:ea typeface="HY헤드라인M" pitchFamily="18" charset="-127"/>
              </a:rPr>
              <a:t>관</a:t>
            </a:r>
          </a:p>
          <a:p>
            <a:pPr algn="ctr"/>
            <a:r>
              <a:rPr lang="ko-KR" altLang="en-US" sz="1600" b="0" dirty="0">
                <a:ea typeface="HY헤드라인M" pitchFamily="18" charset="-127"/>
              </a:rPr>
              <a:t>리</a:t>
            </a:r>
          </a:p>
        </p:txBody>
      </p:sp>
      <p:sp>
        <p:nvSpPr>
          <p:cNvPr id="201" name="Rectangle 12"/>
          <p:cNvSpPr>
            <a:spLocks noChangeArrowheads="1"/>
          </p:cNvSpPr>
          <p:nvPr/>
        </p:nvSpPr>
        <p:spPr bwMode="auto">
          <a:xfrm>
            <a:off x="2857500" y="3262966"/>
            <a:ext cx="1143000" cy="346075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ko-KR" altLang="en-US" sz="1600" b="0" dirty="0">
                <a:ea typeface="HY헤드라인M" pitchFamily="18" charset="-127"/>
              </a:rPr>
              <a:t>입고관리</a:t>
            </a:r>
          </a:p>
        </p:txBody>
      </p:sp>
      <p:sp>
        <p:nvSpPr>
          <p:cNvPr id="202" name="Rectangle 77"/>
          <p:cNvSpPr>
            <a:spLocks noChangeArrowheads="1"/>
          </p:cNvSpPr>
          <p:nvPr/>
        </p:nvSpPr>
        <p:spPr bwMode="auto">
          <a:xfrm>
            <a:off x="2857500" y="3997764"/>
            <a:ext cx="1143000" cy="346075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ko-KR" altLang="en-US" sz="1600" b="0" dirty="0">
                <a:ea typeface="HY헤드라인M" pitchFamily="18" charset="-127"/>
              </a:rPr>
              <a:t>매입관리</a:t>
            </a:r>
          </a:p>
        </p:txBody>
      </p:sp>
      <p:sp>
        <p:nvSpPr>
          <p:cNvPr id="203" name="Text Box 13"/>
          <p:cNvSpPr txBox="1">
            <a:spLocks noChangeArrowheads="1"/>
          </p:cNvSpPr>
          <p:nvPr/>
        </p:nvSpPr>
        <p:spPr bwMode="auto">
          <a:xfrm>
            <a:off x="6643688" y="1919291"/>
            <a:ext cx="381000" cy="1571624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CECF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 eaLnBrk="1" hangingPunct="1">
              <a:lnSpc>
                <a:spcPct val="150000"/>
              </a:lnSpc>
            </a:pPr>
            <a:r>
              <a:rPr kumimoji="0" lang="ko-KR" altLang="en-US" sz="1600" b="0" dirty="0">
                <a:latin typeface="HY헤드라인M" pitchFamily="18" charset="-127"/>
                <a:ea typeface="HY헤드라인M" pitchFamily="18" charset="-127"/>
              </a:rPr>
              <a:t>고</a:t>
            </a:r>
            <a:endParaRPr kumimoji="0" lang="en-US" altLang="ko-KR" sz="1600" b="0" dirty="0">
              <a:latin typeface="HY헤드라인M" pitchFamily="18" charset="-127"/>
              <a:ea typeface="HY헤드라인M" pitchFamily="18" charset="-127"/>
            </a:endParaRPr>
          </a:p>
          <a:p>
            <a:pPr algn="ctr" eaLnBrk="1" hangingPunct="1">
              <a:lnSpc>
                <a:spcPct val="150000"/>
              </a:lnSpc>
            </a:pPr>
            <a:r>
              <a:rPr kumimoji="0" lang="ko-KR" altLang="en-US" sz="1600" b="0" dirty="0">
                <a:latin typeface="HY헤드라인M" pitchFamily="18" charset="-127"/>
                <a:ea typeface="HY헤드라인M" pitchFamily="18" charset="-127"/>
              </a:rPr>
              <a:t>객</a:t>
            </a:r>
          </a:p>
          <a:p>
            <a:pPr algn="ctr" eaLnBrk="1" hangingPunct="1">
              <a:lnSpc>
                <a:spcPct val="150000"/>
              </a:lnSpc>
            </a:pPr>
            <a:r>
              <a:rPr kumimoji="0" lang="ko-KR" altLang="en-US" sz="1600" b="0" dirty="0">
                <a:latin typeface="HY헤드라인M" pitchFamily="18" charset="-127"/>
                <a:ea typeface="HY헤드라인M" pitchFamily="18" charset="-127"/>
              </a:rPr>
              <a:t>관</a:t>
            </a:r>
          </a:p>
          <a:p>
            <a:pPr algn="ctr" eaLnBrk="1" hangingPunct="1">
              <a:lnSpc>
                <a:spcPct val="150000"/>
              </a:lnSpc>
            </a:pPr>
            <a:r>
              <a:rPr kumimoji="0" lang="ko-KR" altLang="en-US" sz="1600" b="0" dirty="0">
                <a:latin typeface="HY헤드라인M" pitchFamily="18" charset="-127"/>
                <a:ea typeface="HY헤드라인M" pitchFamily="18" charset="-127"/>
              </a:rPr>
              <a:t>리</a:t>
            </a:r>
          </a:p>
        </p:txBody>
      </p:sp>
      <p:sp>
        <p:nvSpPr>
          <p:cNvPr id="204" name="Rectangle 11"/>
          <p:cNvSpPr>
            <a:spLocks noChangeArrowheads="1"/>
          </p:cNvSpPr>
          <p:nvPr/>
        </p:nvSpPr>
        <p:spPr bwMode="auto">
          <a:xfrm>
            <a:off x="4357688" y="4205295"/>
            <a:ext cx="381000" cy="1071562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ko-KR" altLang="en-US" sz="1600" b="0" dirty="0">
                <a:ea typeface="HY헤드라인M" pitchFamily="18" charset="-127"/>
              </a:rPr>
              <a:t>재무관</a:t>
            </a:r>
          </a:p>
          <a:p>
            <a:pPr algn="ctr"/>
            <a:r>
              <a:rPr lang="ko-KR" altLang="en-US" sz="1600" b="0" dirty="0">
                <a:ea typeface="HY헤드라인M" pitchFamily="18" charset="-127"/>
              </a:rPr>
              <a:t>리</a:t>
            </a:r>
          </a:p>
        </p:txBody>
      </p:sp>
      <p:sp>
        <p:nvSpPr>
          <p:cNvPr id="205" name="Text Box 13"/>
          <p:cNvSpPr txBox="1">
            <a:spLocks noChangeArrowheads="1"/>
          </p:cNvSpPr>
          <p:nvPr/>
        </p:nvSpPr>
        <p:spPr bwMode="auto">
          <a:xfrm>
            <a:off x="6643702" y="3643314"/>
            <a:ext cx="381000" cy="1500198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CECF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anchor="ctr" anchorCtr="1"/>
          <a:lstStyle/>
          <a:p>
            <a:pPr algn="ctr"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0" lang="ko-KR" altLang="en-US" sz="1600" b="0" dirty="0">
                <a:latin typeface="HY헤드라인M" pitchFamily="18" charset="-127"/>
                <a:ea typeface="HY헤드라인M" pitchFamily="18" charset="-127"/>
              </a:rPr>
              <a:t>운</a:t>
            </a:r>
            <a:endParaRPr kumimoji="0" lang="en-US" altLang="ko-KR" sz="1600" b="0" dirty="0">
              <a:latin typeface="HY헤드라인M" pitchFamily="18" charset="-127"/>
              <a:ea typeface="HY헤드라인M" pitchFamily="18" charset="-127"/>
            </a:endParaRPr>
          </a:p>
          <a:p>
            <a:pPr algn="ctr"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0" lang="ko-KR" altLang="en-US" sz="1600" b="0" dirty="0">
                <a:latin typeface="HY헤드라인M" pitchFamily="18" charset="-127"/>
                <a:ea typeface="HY헤드라인M" pitchFamily="18" charset="-127"/>
              </a:rPr>
              <a:t>송</a:t>
            </a:r>
            <a:endParaRPr kumimoji="0" lang="en-US" altLang="ko-KR" sz="1600" b="0" dirty="0">
              <a:latin typeface="HY헤드라인M" pitchFamily="18" charset="-127"/>
              <a:ea typeface="HY헤드라인M" pitchFamily="18" charset="-127"/>
            </a:endParaRPr>
          </a:p>
          <a:p>
            <a:pPr algn="ctr" eaLnBrk="1" hangingPunct="1">
              <a:lnSpc>
                <a:spcPct val="150000"/>
              </a:lnSpc>
            </a:pPr>
            <a:r>
              <a:rPr kumimoji="0" lang="ko-KR" altLang="en-US" sz="1600" b="0" dirty="0">
                <a:latin typeface="HY헤드라인M" pitchFamily="18" charset="-127"/>
                <a:ea typeface="HY헤드라인M" pitchFamily="18" charset="-127"/>
              </a:rPr>
              <a:t>관</a:t>
            </a:r>
            <a:endParaRPr kumimoji="0" lang="en-US" altLang="ko-KR" sz="1600" b="0" dirty="0">
              <a:latin typeface="HY헤드라인M" pitchFamily="18" charset="-127"/>
              <a:ea typeface="HY헤드라인M" pitchFamily="18" charset="-127"/>
            </a:endParaRPr>
          </a:p>
          <a:p>
            <a:pPr algn="ctr"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0" lang="ko-KR" altLang="en-US" sz="1600" b="0" dirty="0">
                <a:latin typeface="HY헤드라인M" pitchFamily="18" charset="-127"/>
                <a:ea typeface="HY헤드라인M" pitchFamily="18" charset="-127"/>
              </a:rPr>
              <a:t>리</a:t>
            </a:r>
          </a:p>
        </p:txBody>
      </p:sp>
      <p:sp>
        <p:nvSpPr>
          <p:cNvPr id="206" name="Rectangle 11"/>
          <p:cNvSpPr>
            <a:spLocks noChangeArrowheads="1"/>
          </p:cNvSpPr>
          <p:nvPr/>
        </p:nvSpPr>
        <p:spPr bwMode="auto">
          <a:xfrm>
            <a:off x="4357688" y="1847840"/>
            <a:ext cx="381000" cy="1071571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ko-KR" altLang="en-US" sz="1600" b="0" dirty="0">
                <a:ea typeface="HY헤드라인M" pitchFamily="18" charset="-127"/>
              </a:rPr>
              <a:t>상</a:t>
            </a:r>
            <a:endParaRPr lang="en-US" altLang="ko-KR" sz="1600" b="0" dirty="0">
              <a:ea typeface="HY헤드라인M" pitchFamily="18" charset="-127"/>
            </a:endParaRPr>
          </a:p>
          <a:p>
            <a:pPr algn="ctr"/>
            <a:r>
              <a:rPr lang="ko-KR" altLang="en-US" sz="1600" b="0" dirty="0">
                <a:ea typeface="HY헤드라인M" pitchFamily="18" charset="-127"/>
              </a:rPr>
              <a:t>품</a:t>
            </a:r>
          </a:p>
          <a:p>
            <a:pPr algn="ctr"/>
            <a:r>
              <a:rPr lang="ko-KR" altLang="en-US" sz="1600" b="0" dirty="0">
                <a:ea typeface="HY헤드라인M" pitchFamily="18" charset="-127"/>
              </a:rPr>
              <a:t>관</a:t>
            </a:r>
          </a:p>
          <a:p>
            <a:pPr algn="ctr"/>
            <a:r>
              <a:rPr lang="ko-KR" altLang="en-US" sz="1600" b="0" dirty="0">
                <a:ea typeface="HY헤드라인M" pitchFamily="18" charset="-127"/>
              </a:rPr>
              <a:t>리</a:t>
            </a:r>
          </a:p>
        </p:txBody>
      </p:sp>
      <p:sp>
        <p:nvSpPr>
          <p:cNvPr id="207" name="Rectangle 11"/>
          <p:cNvSpPr>
            <a:spLocks noChangeArrowheads="1"/>
          </p:cNvSpPr>
          <p:nvPr/>
        </p:nvSpPr>
        <p:spPr bwMode="auto">
          <a:xfrm>
            <a:off x="3428992" y="5419741"/>
            <a:ext cx="2286016" cy="366713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FFFF66"/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ko-KR" altLang="en-US" sz="1600" b="0" dirty="0">
                <a:ea typeface="HY헤드라인M" pitchFamily="18" charset="-127"/>
              </a:rPr>
              <a:t>은 행  관 리</a:t>
            </a:r>
          </a:p>
        </p:txBody>
      </p:sp>
      <p:pic>
        <p:nvPicPr>
          <p:cNvPr id="208" name="Picture 228" descr="icon5"/>
          <p:cNvPicPr>
            <a:picLocks noChangeAspect="1" noChangeArrowheads="1"/>
          </p:cNvPicPr>
          <p:nvPr/>
        </p:nvPicPr>
        <p:blipFill>
          <a:blip r:embed="rId2" cstate="print">
            <a:lum bright="6000"/>
          </a:blip>
          <a:srcRect/>
          <a:stretch>
            <a:fillRect/>
          </a:stretch>
        </p:blipFill>
        <p:spPr bwMode="auto">
          <a:xfrm>
            <a:off x="7715272" y="4143380"/>
            <a:ext cx="719137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9" name="AutoShape 64"/>
          <p:cNvSpPr>
            <a:spLocks noChangeArrowheads="1"/>
          </p:cNvSpPr>
          <p:nvPr/>
        </p:nvSpPr>
        <p:spPr bwMode="auto">
          <a:xfrm>
            <a:off x="7072330" y="4348171"/>
            <a:ext cx="533400" cy="457200"/>
          </a:xfrm>
          <a:prstGeom prst="lightningBolt">
            <a:avLst/>
          </a:prstGeom>
          <a:solidFill>
            <a:srgbClr val="99CC00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0" name="AutoShape 65"/>
          <p:cNvSpPr>
            <a:spLocks noChangeArrowheads="1"/>
          </p:cNvSpPr>
          <p:nvPr/>
        </p:nvSpPr>
        <p:spPr bwMode="auto">
          <a:xfrm>
            <a:off x="7143768" y="4062419"/>
            <a:ext cx="533400" cy="457200"/>
          </a:xfrm>
          <a:prstGeom prst="lightningBolt">
            <a:avLst/>
          </a:prstGeom>
          <a:solidFill>
            <a:srgbClr val="99CC00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1" name="Rectangle 77"/>
          <p:cNvSpPr>
            <a:spLocks noChangeArrowheads="1"/>
          </p:cNvSpPr>
          <p:nvPr/>
        </p:nvSpPr>
        <p:spPr bwMode="auto">
          <a:xfrm>
            <a:off x="2857500" y="4559741"/>
            <a:ext cx="1143000" cy="346075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ko-KR" altLang="en-US" sz="1600" b="0" dirty="0">
                <a:ea typeface="HY헤드라인M" pitchFamily="18" charset="-127"/>
              </a:rPr>
              <a:t>지불관리</a:t>
            </a:r>
          </a:p>
        </p:txBody>
      </p:sp>
      <p:pic>
        <p:nvPicPr>
          <p:cNvPr id="212" name="Picture 162" descr="BD19933_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15250" y="2000250"/>
            <a:ext cx="914400" cy="604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13" name="Group 17"/>
          <p:cNvGrpSpPr>
            <a:grpSpLocks/>
          </p:cNvGrpSpPr>
          <p:nvPr/>
        </p:nvGrpSpPr>
        <p:grpSpPr bwMode="auto">
          <a:xfrm>
            <a:off x="714348" y="3071810"/>
            <a:ext cx="533400" cy="857250"/>
            <a:chOff x="288" y="432"/>
            <a:chExt cx="414" cy="354"/>
          </a:xfrm>
        </p:grpSpPr>
        <p:pic>
          <p:nvPicPr>
            <p:cNvPr id="214" name="Picture 18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88" y="608"/>
              <a:ext cx="414" cy="1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215" name="Group 19"/>
            <p:cNvGrpSpPr>
              <a:grpSpLocks/>
            </p:cNvGrpSpPr>
            <p:nvPr/>
          </p:nvGrpSpPr>
          <p:grpSpPr bwMode="auto">
            <a:xfrm>
              <a:off x="379" y="468"/>
              <a:ext cx="249" cy="244"/>
              <a:chOff x="553" y="3797"/>
              <a:chExt cx="400" cy="208"/>
            </a:xfrm>
          </p:grpSpPr>
          <p:sp>
            <p:nvSpPr>
              <p:cNvPr id="216" name="Freeform 20"/>
              <p:cNvSpPr>
                <a:spLocks/>
              </p:cNvSpPr>
              <p:nvPr/>
            </p:nvSpPr>
            <p:spPr bwMode="auto">
              <a:xfrm>
                <a:off x="553" y="3813"/>
                <a:ext cx="400" cy="41"/>
              </a:xfrm>
              <a:custGeom>
                <a:avLst/>
                <a:gdLst/>
                <a:ahLst/>
                <a:cxnLst>
                  <a:cxn ang="0">
                    <a:pos x="0" y="31"/>
                  </a:cxn>
                  <a:cxn ang="0">
                    <a:pos x="245" y="40"/>
                  </a:cxn>
                  <a:cxn ang="0">
                    <a:pos x="399" y="6"/>
                  </a:cxn>
                  <a:cxn ang="0">
                    <a:pos x="167" y="0"/>
                  </a:cxn>
                  <a:cxn ang="0">
                    <a:pos x="0" y="31"/>
                  </a:cxn>
                </a:cxnLst>
                <a:rect l="0" t="0" r="r" b="b"/>
                <a:pathLst>
                  <a:path w="400" h="41">
                    <a:moveTo>
                      <a:pt x="0" y="31"/>
                    </a:moveTo>
                    <a:lnTo>
                      <a:pt x="245" y="40"/>
                    </a:lnTo>
                    <a:lnTo>
                      <a:pt x="399" y="6"/>
                    </a:lnTo>
                    <a:lnTo>
                      <a:pt x="167" y="0"/>
                    </a:lnTo>
                    <a:lnTo>
                      <a:pt x="0" y="31"/>
                    </a:lnTo>
                  </a:path>
                </a:pathLst>
              </a:custGeom>
              <a:solidFill>
                <a:srgbClr val="00DFFF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ko-KR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pSp>
            <p:nvGrpSpPr>
              <p:cNvPr id="217" name="Group 21"/>
              <p:cNvGrpSpPr>
                <a:grpSpLocks/>
              </p:cNvGrpSpPr>
              <p:nvPr/>
            </p:nvGrpSpPr>
            <p:grpSpPr bwMode="auto">
              <a:xfrm>
                <a:off x="630" y="3797"/>
                <a:ext cx="294" cy="50"/>
                <a:chOff x="630" y="3797"/>
                <a:chExt cx="294" cy="50"/>
              </a:xfrm>
            </p:grpSpPr>
            <p:sp>
              <p:nvSpPr>
                <p:cNvPr id="233" name="Freeform 22"/>
                <p:cNvSpPr>
                  <a:spLocks/>
                </p:cNvSpPr>
                <p:nvPr/>
              </p:nvSpPr>
              <p:spPr bwMode="auto">
                <a:xfrm>
                  <a:off x="630" y="3818"/>
                  <a:ext cx="156" cy="29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169" y="4"/>
                    </a:cxn>
                    <a:cxn ang="0">
                      <a:pos x="169" y="28"/>
                    </a:cxn>
                    <a:cxn ang="0">
                      <a:pos x="0" y="22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170" h="29">
                      <a:moveTo>
                        <a:pt x="2" y="0"/>
                      </a:moveTo>
                      <a:lnTo>
                        <a:pt x="169" y="4"/>
                      </a:lnTo>
                      <a:lnTo>
                        <a:pt x="169" y="28"/>
                      </a:lnTo>
                      <a:lnTo>
                        <a:pt x="0" y="22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BFDF"/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defRPr/>
                  </a:pPr>
                  <a:endParaRPr lang="ko-KR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34" name="Freeform 23"/>
                <p:cNvSpPr>
                  <a:spLocks/>
                </p:cNvSpPr>
                <p:nvPr/>
              </p:nvSpPr>
              <p:spPr bwMode="auto">
                <a:xfrm>
                  <a:off x="785" y="3802"/>
                  <a:ext cx="139" cy="45"/>
                </a:xfrm>
                <a:custGeom>
                  <a:avLst/>
                  <a:gdLst/>
                  <a:ahLst/>
                  <a:cxnLst>
                    <a:cxn ang="0">
                      <a:pos x="0" y="20"/>
                    </a:cxn>
                    <a:cxn ang="0">
                      <a:pos x="0" y="44"/>
                    </a:cxn>
                    <a:cxn ang="0">
                      <a:pos x="113" y="20"/>
                    </a:cxn>
                    <a:cxn ang="0">
                      <a:pos x="113" y="0"/>
                    </a:cxn>
                    <a:cxn ang="0">
                      <a:pos x="0" y="20"/>
                    </a:cxn>
                  </a:cxnLst>
                  <a:rect l="0" t="0" r="r" b="b"/>
                  <a:pathLst>
                    <a:path w="114" h="45">
                      <a:moveTo>
                        <a:pt x="0" y="20"/>
                      </a:moveTo>
                      <a:lnTo>
                        <a:pt x="0" y="44"/>
                      </a:lnTo>
                      <a:lnTo>
                        <a:pt x="113" y="20"/>
                      </a:lnTo>
                      <a:lnTo>
                        <a:pt x="113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009FBF"/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defRPr/>
                  </a:pPr>
                  <a:endParaRPr lang="ko-KR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35" name="Freeform 24"/>
                <p:cNvSpPr>
                  <a:spLocks/>
                </p:cNvSpPr>
                <p:nvPr/>
              </p:nvSpPr>
              <p:spPr bwMode="auto">
                <a:xfrm>
                  <a:off x="630" y="3797"/>
                  <a:ext cx="281" cy="27"/>
                </a:xfrm>
                <a:custGeom>
                  <a:avLst/>
                  <a:gdLst/>
                  <a:ahLst/>
                  <a:cxnLst>
                    <a:cxn ang="0">
                      <a:pos x="0" y="20"/>
                    </a:cxn>
                    <a:cxn ang="0">
                      <a:pos x="168" y="26"/>
                    </a:cxn>
                    <a:cxn ang="0">
                      <a:pos x="281" y="4"/>
                    </a:cxn>
                    <a:cxn ang="0">
                      <a:pos x="114" y="0"/>
                    </a:cxn>
                    <a:cxn ang="0">
                      <a:pos x="0" y="20"/>
                    </a:cxn>
                  </a:cxnLst>
                  <a:rect l="0" t="0" r="r" b="b"/>
                  <a:pathLst>
                    <a:path w="282" h="27">
                      <a:moveTo>
                        <a:pt x="0" y="20"/>
                      </a:moveTo>
                      <a:lnTo>
                        <a:pt x="168" y="26"/>
                      </a:lnTo>
                      <a:lnTo>
                        <a:pt x="281" y="4"/>
                      </a:lnTo>
                      <a:lnTo>
                        <a:pt x="114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00DFFF"/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defRPr/>
                  </a:pPr>
                  <a:endParaRPr lang="ko-KR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218" name="Freeform 25"/>
              <p:cNvSpPr>
                <a:spLocks/>
              </p:cNvSpPr>
              <p:nvPr/>
            </p:nvSpPr>
            <p:spPr bwMode="auto">
              <a:xfrm>
                <a:off x="553" y="3846"/>
                <a:ext cx="245" cy="15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44" y="7"/>
                  </a:cxn>
                  <a:cxn ang="0">
                    <a:pos x="244" y="158"/>
                  </a:cxn>
                  <a:cxn ang="0">
                    <a:pos x="0" y="142"/>
                  </a:cxn>
                  <a:cxn ang="0">
                    <a:pos x="0" y="0"/>
                  </a:cxn>
                </a:cxnLst>
                <a:rect l="0" t="0" r="r" b="b"/>
                <a:pathLst>
                  <a:path w="245" h="159">
                    <a:moveTo>
                      <a:pt x="0" y="0"/>
                    </a:moveTo>
                    <a:lnTo>
                      <a:pt x="244" y="7"/>
                    </a:lnTo>
                    <a:lnTo>
                      <a:pt x="244" y="158"/>
                    </a:lnTo>
                    <a:lnTo>
                      <a:pt x="0" y="14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BFDF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ko-KR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19" name="Freeform 26"/>
              <p:cNvSpPr>
                <a:spLocks/>
              </p:cNvSpPr>
              <p:nvPr/>
            </p:nvSpPr>
            <p:spPr bwMode="auto">
              <a:xfrm>
                <a:off x="797" y="3819"/>
                <a:ext cx="156" cy="186"/>
              </a:xfrm>
              <a:custGeom>
                <a:avLst/>
                <a:gdLst/>
                <a:ahLst/>
                <a:cxnLst>
                  <a:cxn ang="0">
                    <a:pos x="0" y="33"/>
                  </a:cxn>
                  <a:cxn ang="0">
                    <a:pos x="155" y="0"/>
                  </a:cxn>
                  <a:cxn ang="0">
                    <a:pos x="155" y="141"/>
                  </a:cxn>
                  <a:cxn ang="0">
                    <a:pos x="0" y="185"/>
                  </a:cxn>
                  <a:cxn ang="0">
                    <a:pos x="0" y="33"/>
                  </a:cxn>
                </a:cxnLst>
                <a:rect l="0" t="0" r="r" b="b"/>
                <a:pathLst>
                  <a:path w="156" h="186">
                    <a:moveTo>
                      <a:pt x="0" y="33"/>
                    </a:moveTo>
                    <a:lnTo>
                      <a:pt x="155" y="0"/>
                    </a:lnTo>
                    <a:lnTo>
                      <a:pt x="155" y="141"/>
                    </a:lnTo>
                    <a:lnTo>
                      <a:pt x="0" y="185"/>
                    </a:lnTo>
                    <a:lnTo>
                      <a:pt x="0" y="33"/>
                    </a:lnTo>
                  </a:path>
                </a:pathLst>
              </a:custGeom>
              <a:solidFill>
                <a:srgbClr val="009FBF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ko-KR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pSp>
            <p:nvGrpSpPr>
              <p:cNvPr id="220" name="Group 27"/>
              <p:cNvGrpSpPr>
                <a:grpSpLocks/>
              </p:cNvGrpSpPr>
              <p:nvPr/>
            </p:nvGrpSpPr>
            <p:grpSpPr bwMode="auto">
              <a:xfrm>
                <a:off x="627" y="3857"/>
                <a:ext cx="167" cy="105"/>
                <a:chOff x="627" y="3857"/>
                <a:chExt cx="167" cy="105"/>
              </a:xfrm>
            </p:grpSpPr>
            <p:grpSp>
              <p:nvGrpSpPr>
                <p:cNvPr id="221" name="Group 28"/>
                <p:cNvGrpSpPr>
                  <a:grpSpLocks/>
                </p:cNvGrpSpPr>
                <p:nvPr/>
              </p:nvGrpSpPr>
              <p:grpSpPr bwMode="auto">
                <a:xfrm>
                  <a:off x="627" y="3857"/>
                  <a:ext cx="167" cy="37"/>
                  <a:chOff x="627" y="3857"/>
                  <a:chExt cx="167" cy="37"/>
                </a:xfrm>
              </p:grpSpPr>
              <p:sp>
                <p:nvSpPr>
                  <p:cNvPr id="230" name="Freeform 29"/>
                  <p:cNvSpPr>
                    <a:spLocks/>
                  </p:cNvSpPr>
                  <p:nvPr/>
                </p:nvSpPr>
                <p:spPr bwMode="auto">
                  <a:xfrm>
                    <a:off x="627" y="3857"/>
                    <a:ext cx="42" cy="29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40" y="1"/>
                      </a:cxn>
                      <a:cxn ang="0">
                        <a:pos x="40" y="28"/>
                      </a:cxn>
                      <a:cxn ang="0">
                        <a:pos x="0" y="26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41" h="29">
                        <a:moveTo>
                          <a:pt x="0" y="0"/>
                        </a:moveTo>
                        <a:lnTo>
                          <a:pt x="40" y="1"/>
                        </a:lnTo>
                        <a:lnTo>
                          <a:pt x="40" y="28"/>
                        </a:lnTo>
                        <a:lnTo>
                          <a:pt x="0" y="26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noFill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ko-KR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31" name="Freeform 30"/>
                  <p:cNvSpPr>
                    <a:spLocks/>
                  </p:cNvSpPr>
                  <p:nvPr/>
                </p:nvSpPr>
                <p:spPr bwMode="auto">
                  <a:xfrm>
                    <a:off x="672" y="3861"/>
                    <a:ext cx="49" cy="3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41" y="1"/>
                      </a:cxn>
                      <a:cxn ang="0">
                        <a:pos x="41" y="29"/>
                      </a:cxn>
                      <a:cxn ang="0">
                        <a:pos x="0" y="2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42" h="30">
                        <a:moveTo>
                          <a:pt x="0" y="0"/>
                        </a:moveTo>
                        <a:lnTo>
                          <a:pt x="41" y="1"/>
                        </a:lnTo>
                        <a:lnTo>
                          <a:pt x="41" y="29"/>
                        </a:lnTo>
                        <a:lnTo>
                          <a:pt x="0" y="27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noFill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ko-KR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32" name="Freeform 31"/>
                  <p:cNvSpPr>
                    <a:spLocks/>
                  </p:cNvSpPr>
                  <p:nvPr/>
                </p:nvSpPr>
                <p:spPr bwMode="auto">
                  <a:xfrm>
                    <a:off x="745" y="3863"/>
                    <a:ext cx="49" cy="3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40" y="1"/>
                      </a:cxn>
                      <a:cxn ang="0">
                        <a:pos x="40" y="30"/>
                      </a:cxn>
                      <a:cxn ang="0">
                        <a:pos x="0" y="28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41" h="31">
                        <a:moveTo>
                          <a:pt x="0" y="0"/>
                        </a:moveTo>
                        <a:lnTo>
                          <a:pt x="40" y="1"/>
                        </a:lnTo>
                        <a:lnTo>
                          <a:pt x="40" y="30"/>
                        </a:lnTo>
                        <a:lnTo>
                          <a:pt x="0" y="28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noFill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ko-KR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222" name="Group 32"/>
                <p:cNvGrpSpPr>
                  <a:grpSpLocks/>
                </p:cNvGrpSpPr>
                <p:nvPr/>
              </p:nvGrpSpPr>
              <p:grpSpPr bwMode="auto">
                <a:xfrm>
                  <a:off x="627" y="3891"/>
                  <a:ext cx="167" cy="38"/>
                  <a:chOff x="627" y="3891"/>
                  <a:chExt cx="167" cy="38"/>
                </a:xfrm>
              </p:grpSpPr>
              <p:sp>
                <p:nvSpPr>
                  <p:cNvPr id="227" name="Freeform 33"/>
                  <p:cNvSpPr>
                    <a:spLocks/>
                  </p:cNvSpPr>
                  <p:nvPr/>
                </p:nvSpPr>
                <p:spPr bwMode="auto">
                  <a:xfrm>
                    <a:off x="627" y="3891"/>
                    <a:ext cx="42" cy="3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40" y="2"/>
                      </a:cxn>
                      <a:cxn ang="0">
                        <a:pos x="40" y="30"/>
                      </a:cxn>
                      <a:cxn ang="0">
                        <a:pos x="0" y="2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41" h="31">
                        <a:moveTo>
                          <a:pt x="0" y="0"/>
                        </a:moveTo>
                        <a:lnTo>
                          <a:pt x="40" y="2"/>
                        </a:lnTo>
                        <a:lnTo>
                          <a:pt x="40" y="30"/>
                        </a:lnTo>
                        <a:lnTo>
                          <a:pt x="0" y="27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noFill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ko-KR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28" name="Freeform 34"/>
                  <p:cNvSpPr>
                    <a:spLocks/>
                  </p:cNvSpPr>
                  <p:nvPr/>
                </p:nvSpPr>
                <p:spPr bwMode="auto">
                  <a:xfrm>
                    <a:off x="672" y="3895"/>
                    <a:ext cx="49" cy="3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41" y="2"/>
                      </a:cxn>
                      <a:cxn ang="0">
                        <a:pos x="41" y="29"/>
                      </a:cxn>
                      <a:cxn ang="0">
                        <a:pos x="0" y="2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42" h="30">
                        <a:moveTo>
                          <a:pt x="0" y="0"/>
                        </a:moveTo>
                        <a:lnTo>
                          <a:pt x="41" y="2"/>
                        </a:lnTo>
                        <a:lnTo>
                          <a:pt x="41" y="29"/>
                        </a:lnTo>
                        <a:lnTo>
                          <a:pt x="0" y="27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noFill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ko-KR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29" name="Freeform 35"/>
                  <p:cNvSpPr>
                    <a:spLocks/>
                  </p:cNvSpPr>
                  <p:nvPr/>
                </p:nvSpPr>
                <p:spPr bwMode="auto">
                  <a:xfrm>
                    <a:off x="745" y="3899"/>
                    <a:ext cx="49" cy="3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40" y="2"/>
                      </a:cxn>
                      <a:cxn ang="0">
                        <a:pos x="40" y="29"/>
                      </a:cxn>
                      <a:cxn ang="0">
                        <a:pos x="0" y="26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41" h="30">
                        <a:moveTo>
                          <a:pt x="0" y="0"/>
                        </a:moveTo>
                        <a:lnTo>
                          <a:pt x="40" y="2"/>
                        </a:lnTo>
                        <a:lnTo>
                          <a:pt x="40" y="29"/>
                        </a:lnTo>
                        <a:lnTo>
                          <a:pt x="0" y="26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noFill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ko-KR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223" name="Group 36"/>
                <p:cNvGrpSpPr>
                  <a:grpSpLocks/>
                </p:cNvGrpSpPr>
                <p:nvPr/>
              </p:nvGrpSpPr>
              <p:grpSpPr bwMode="auto">
                <a:xfrm>
                  <a:off x="627" y="3924"/>
                  <a:ext cx="167" cy="38"/>
                  <a:chOff x="627" y="3924"/>
                  <a:chExt cx="167" cy="38"/>
                </a:xfrm>
              </p:grpSpPr>
              <p:sp>
                <p:nvSpPr>
                  <p:cNvPr id="224" name="Freeform 37"/>
                  <p:cNvSpPr>
                    <a:spLocks/>
                  </p:cNvSpPr>
                  <p:nvPr/>
                </p:nvSpPr>
                <p:spPr bwMode="auto">
                  <a:xfrm>
                    <a:off x="627" y="3924"/>
                    <a:ext cx="42" cy="3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40" y="2"/>
                      </a:cxn>
                      <a:cxn ang="0">
                        <a:pos x="40" y="30"/>
                      </a:cxn>
                      <a:cxn ang="0">
                        <a:pos x="0" y="2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41" h="31">
                        <a:moveTo>
                          <a:pt x="0" y="0"/>
                        </a:moveTo>
                        <a:lnTo>
                          <a:pt x="40" y="2"/>
                        </a:lnTo>
                        <a:lnTo>
                          <a:pt x="40" y="30"/>
                        </a:lnTo>
                        <a:lnTo>
                          <a:pt x="0" y="27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noFill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ko-KR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25" name="Freeform 38"/>
                  <p:cNvSpPr>
                    <a:spLocks/>
                  </p:cNvSpPr>
                  <p:nvPr/>
                </p:nvSpPr>
                <p:spPr bwMode="auto">
                  <a:xfrm>
                    <a:off x="672" y="3928"/>
                    <a:ext cx="49" cy="3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41" y="1"/>
                      </a:cxn>
                      <a:cxn ang="0">
                        <a:pos x="41" y="29"/>
                      </a:cxn>
                      <a:cxn ang="0">
                        <a:pos x="0" y="2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42" h="30">
                        <a:moveTo>
                          <a:pt x="0" y="0"/>
                        </a:moveTo>
                        <a:lnTo>
                          <a:pt x="41" y="1"/>
                        </a:lnTo>
                        <a:lnTo>
                          <a:pt x="41" y="29"/>
                        </a:lnTo>
                        <a:lnTo>
                          <a:pt x="0" y="27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noFill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ko-KR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26" name="Freeform 39"/>
                  <p:cNvSpPr>
                    <a:spLocks/>
                  </p:cNvSpPr>
                  <p:nvPr/>
                </p:nvSpPr>
                <p:spPr bwMode="auto">
                  <a:xfrm>
                    <a:off x="745" y="3933"/>
                    <a:ext cx="49" cy="29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40" y="2"/>
                      </a:cxn>
                      <a:cxn ang="0">
                        <a:pos x="40" y="28"/>
                      </a:cxn>
                      <a:cxn ang="0">
                        <a:pos x="0" y="25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41" h="29">
                        <a:moveTo>
                          <a:pt x="0" y="0"/>
                        </a:moveTo>
                        <a:lnTo>
                          <a:pt x="40" y="2"/>
                        </a:lnTo>
                        <a:lnTo>
                          <a:pt x="40" y="28"/>
                        </a:lnTo>
                        <a:lnTo>
                          <a:pt x="0" y="25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noFill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ko-KR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</p:grpSp>
        </p:grpSp>
      </p:grpSp>
      <p:sp>
        <p:nvSpPr>
          <p:cNvPr id="236" name="AutoShape 65"/>
          <p:cNvSpPr>
            <a:spLocks noChangeArrowheads="1"/>
          </p:cNvSpPr>
          <p:nvPr/>
        </p:nvSpPr>
        <p:spPr bwMode="auto">
          <a:xfrm>
            <a:off x="4214810" y="6143644"/>
            <a:ext cx="533400" cy="457200"/>
          </a:xfrm>
          <a:prstGeom prst="lightningBolt">
            <a:avLst/>
          </a:prstGeom>
          <a:solidFill>
            <a:srgbClr val="99CC00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7" name="AutoShape 65"/>
          <p:cNvSpPr>
            <a:spLocks noChangeArrowheads="1"/>
          </p:cNvSpPr>
          <p:nvPr/>
        </p:nvSpPr>
        <p:spPr bwMode="auto">
          <a:xfrm>
            <a:off x="4214810" y="5828019"/>
            <a:ext cx="533400" cy="457200"/>
          </a:xfrm>
          <a:prstGeom prst="lightningBolt">
            <a:avLst/>
          </a:prstGeom>
          <a:solidFill>
            <a:srgbClr val="99CC00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38" name="Group 105"/>
          <p:cNvGrpSpPr>
            <a:grpSpLocks/>
          </p:cNvGrpSpPr>
          <p:nvPr/>
        </p:nvGrpSpPr>
        <p:grpSpPr bwMode="auto">
          <a:xfrm>
            <a:off x="4643438" y="6145744"/>
            <a:ext cx="1087030" cy="712256"/>
            <a:chOff x="1358" y="1218"/>
            <a:chExt cx="496" cy="490"/>
          </a:xfrm>
        </p:grpSpPr>
        <p:pic>
          <p:nvPicPr>
            <p:cNvPr id="239" name="Picture 106"/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440" y="1377"/>
              <a:ext cx="414" cy="1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0" name="Picture 107" descr="경리부클립아트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511" y="1218"/>
              <a:ext cx="248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1" name="Rectangle 108"/>
            <p:cNvSpPr>
              <a:spLocks noChangeArrowheads="1"/>
            </p:cNvSpPr>
            <p:nvPr/>
          </p:nvSpPr>
          <p:spPr bwMode="auto">
            <a:xfrm>
              <a:off x="1358" y="1559"/>
              <a:ext cx="85" cy="1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endParaRPr lang="ko-KR" altLang="en-US" sz="800" dirty="0">
                <a:latin typeface="HY울릉도B" pitchFamily="18" charset="-127"/>
                <a:ea typeface="HY울릉도B" pitchFamily="18" charset="-127"/>
              </a:endParaRPr>
            </a:p>
          </p:txBody>
        </p:sp>
      </p:grpSp>
      <p:sp>
        <p:nvSpPr>
          <p:cNvPr id="242" name="Rectangle 73"/>
          <p:cNvSpPr>
            <a:spLocks noChangeArrowheads="1"/>
          </p:cNvSpPr>
          <p:nvPr/>
        </p:nvSpPr>
        <p:spPr bwMode="auto">
          <a:xfrm>
            <a:off x="5072066" y="2466982"/>
            <a:ext cx="1143000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ko-KR" altLang="en-US" sz="1600" b="0" dirty="0" smtClean="0">
                <a:ea typeface="HY헤드라인M" pitchFamily="18" charset="-127"/>
              </a:rPr>
              <a:t>주문관리</a:t>
            </a:r>
            <a:r>
              <a:rPr lang="en-US" altLang="ko-KR" sz="1600" b="0" dirty="0" smtClean="0">
                <a:ea typeface="HY헤드라인M" pitchFamily="18" charset="-127"/>
              </a:rPr>
              <a:t/>
            </a:r>
            <a:br>
              <a:rPr lang="en-US" altLang="ko-KR" sz="1600" b="0" dirty="0" smtClean="0">
                <a:ea typeface="HY헤드라인M" pitchFamily="18" charset="-127"/>
              </a:rPr>
            </a:br>
            <a:r>
              <a:rPr lang="en-US" altLang="ko-KR" sz="1200" b="0" dirty="0" smtClean="0">
                <a:ea typeface="HY헤드라인M" pitchFamily="18" charset="-127"/>
              </a:rPr>
              <a:t>(</a:t>
            </a:r>
            <a:r>
              <a:rPr lang="ko-KR" altLang="en-US" sz="1200" b="0" dirty="0" smtClean="0">
                <a:ea typeface="HY헤드라인M" pitchFamily="18" charset="-127"/>
              </a:rPr>
              <a:t>의뢰</a:t>
            </a:r>
            <a:r>
              <a:rPr lang="en-US" altLang="ko-KR" sz="1200" b="0" dirty="0" smtClean="0">
                <a:ea typeface="HY헤드라인M" pitchFamily="18" charset="-127"/>
              </a:rPr>
              <a:t>/</a:t>
            </a:r>
            <a:r>
              <a:rPr lang="ko-KR" altLang="en-US" sz="1200" b="0" dirty="0" smtClean="0">
                <a:ea typeface="HY헤드라인M" pitchFamily="18" charset="-127"/>
              </a:rPr>
              <a:t>확정</a:t>
            </a:r>
            <a:r>
              <a:rPr lang="en-US" altLang="ko-KR" sz="1200" b="0" dirty="0" smtClean="0">
                <a:ea typeface="HY헤드라인M" pitchFamily="18" charset="-127"/>
              </a:rPr>
              <a:t>)</a:t>
            </a:r>
            <a:endParaRPr lang="ko-KR" altLang="en-US" sz="1200" b="0" dirty="0">
              <a:ea typeface="HY헤드라인M" pitchFamily="18" charset="-127"/>
            </a:endParaRPr>
          </a:p>
        </p:txBody>
      </p:sp>
      <p:sp>
        <p:nvSpPr>
          <p:cNvPr id="243" name="Rectangle 12"/>
          <p:cNvSpPr>
            <a:spLocks noChangeArrowheads="1"/>
          </p:cNvSpPr>
          <p:nvPr/>
        </p:nvSpPr>
        <p:spPr bwMode="auto">
          <a:xfrm>
            <a:off x="5072066" y="3262970"/>
            <a:ext cx="1143000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ko-KR" altLang="en-US" sz="1600" b="0" dirty="0" smtClean="0">
                <a:ea typeface="HY헤드라인M" pitchFamily="18" charset="-127"/>
              </a:rPr>
              <a:t>출고관리</a:t>
            </a:r>
            <a:endParaRPr lang="en-US" altLang="ko-KR" sz="1600" b="0" dirty="0" smtClean="0">
              <a:ea typeface="HY헤드라인M" pitchFamily="18" charset="-127"/>
            </a:endParaRPr>
          </a:p>
          <a:p>
            <a:pPr algn="ctr"/>
            <a:r>
              <a:rPr lang="en-US" altLang="ko-KR" sz="1200" b="0" dirty="0" smtClean="0">
                <a:ea typeface="HY헤드라인M" pitchFamily="18" charset="-127"/>
              </a:rPr>
              <a:t>(</a:t>
            </a:r>
            <a:r>
              <a:rPr lang="ko-KR" altLang="en-US" sz="1200" b="0" dirty="0" smtClean="0">
                <a:ea typeface="HY헤드라인M" pitchFamily="18" charset="-127"/>
              </a:rPr>
              <a:t>운송</a:t>
            </a:r>
            <a:r>
              <a:rPr lang="en-US" altLang="ko-KR" sz="1200" b="0" dirty="0" smtClean="0">
                <a:ea typeface="HY헤드라인M" pitchFamily="18" charset="-127"/>
              </a:rPr>
              <a:t>)</a:t>
            </a:r>
            <a:endParaRPr lang="ko-KR" altLang="en-US" sz="1200" b="0" dirty="0">
              <a:ea typeface="HY헤드라인M" pitchFamily="18" charset="-127"/>
            </a:endParaRPr>
          </a:p>
        </p:txBody>
      </p:sp>
      <p:sp>
        <p:nvSpPr>
          <p:cNvPr id="244" name="Rectangle 77"/>
          <p:cNvSpPr>
            <a:spLocks noChangeArrowheads="1"/>
          </p:cNvSpPr>
          <p:nvPr/>
        </p:nvSpPr>
        <p:spPr bwMode="auto">
          <a:xfrm>
            <a:off x="5072066" y="4000504"/>
            <a:ext cx="1143000" cy="3460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ko-KR" altLang="en-US" sz="1600" b="0" dirty="0" smtClean="0">
                <a:ea typeface="HY헤드라인M" pitchFamily="18" charset="-127"/>
              </a:rPr>
              <a:t>매출관리</a:t>
            </a:r>
            <a:endParaRPr lang="ko-KR" altLang="en-US" sz="1600" b="0" dirty="0">
              <a:ea typeface="HY헤드라인M" pitchFamily="18" charset="-127"/>
            </a:endParaRPr>
          </a:p>
        </p:txBody>
      </p:sp>
      <p:sp>
        <p:nvSpPr>
          <p:cNvPr id="245" name="Rectangle 77"/>
          <p:cNvSpPr>
            <a:spLocks noChangeArrowheads="1"/>
          </p:cNvSpPr>
          <p:nvPr/>
        </p:nvSpPr>
        <p:spPr bwMode="auto">
          <a:xfrm>
            <a:off x="5072066" y="4560893"/>
            <a:ext cx="1143000" cy="3460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ko-KR" altLang="en-US" sz="1600" b="0" dirty="0" smtClean="0">
                <a:ea typeface="HY헤드라인M" pitchFamily="18" charset="-127"/>
              </a:rPr>
              <a:t>수금관리</a:t>
            </a:r>
            <a:endParaRPr lang="ko-KR" altLang="en-US" sz="1600" b="0" dirty="0">
              <a:ea typeface="HY헤드라인M" pitchFamily="18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3"/>
          <p:cNvSpPr>
            <a:spLocks noChangeArrowheads="1"/>
          </p:cNvSpPr>
          <p:nvPr/>
        </p:nvSpPr>
        <p:spPr bwMode="auto">
          <a:xfrm>
            <a:off x="0" y="0"/>
            <a:ext cx="8077200" cy="76200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l" eaLnBrk="1" latin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ko-KR" sz="28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 2. </a:t>
            </a:r>
            <a:r>
              <a:rPr lang="ko-KR" altLang="en-US" sz="2800" dirty="0" smtClea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업무 흐름도</a:t>
            </a:r>
            <a:endParaRPr lang="en-US" altLang="ko-KR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8" name="AutoShape 32"/>
          <p:cNvSpPr>
            <a:spLocks noChangeArrowheads="1"/>
          </p:cNvSpPr>
          <p:nvPr/>
        </p:nvSpPr>
        <p:spPr bwMode="auto">
          <a:xfrm>
            <a:off x="4071934" y="4000504"/>
            <a:ext cx="928688" cy="571504"/>
          </a:xfrm>
          <a:prstGeom prst="flowChartMagneticDisk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1" dirty="0">
                <a:latin typeface="굴림체" pitchFamily="49" charset="-127"/>
                <a:ea typeface="굴림체" pitchFamily="49" charset="-127"/>
              </a:rPr>
              <a:t>현재고</a:t>
            </a:r>
          </a:p>
        </p:txBody>
      </p:sp>
      <p:sp>
        <p:nvSpPr>
          <p:cNvPr id="50" name="Oval 56"/>
          <p:cNvSpPr>
            <a:spLocks noChangeArrowheads="1"/>
          </p:cNvSpPr>
          <p:nvPr/>
        </p:nvSpPr>
        <p:spPr bwMode="auto">
          <a:xfrm>
            <a:off x="6500826" y="857232"/>
            <a:ext cx="1143008" cy="5334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lIns="36000" tIns="36000" rIns="36000" bIns="36000" anchor="ctr"/>
          <a:lstStyle/>
          <a:p>
            <a:pPr algn="ctr" eaLnBrk="1" latinLnBrk="1" hangingPunct="1">
              <a:defRPr/>
            </a:pPr>
            <a:r>
              <a:rPr lang="ko-KR" altLang="en-US" sz="1400" b="1" dirty="0">
                <a:solidFill>
                  <a:schemeClr val="tx2"/>
                </a:solidFill>
                <a:latin typeface="굴림체" pitchFamily="49" charset="-127"/>
                <a:ea typeface="굴림체" pitchFamily="49" charset="-127"/>
              </a:rPr>
              <a:t>판매</a:t>
            </a:r>
          </a:p>
        </p:txBody>
      </p:sp>
      <p:sp>
        <p:nvSpPr>
          <p:cNvPr id="51" name="Oval 56"/>
          <p:cNvSpPr>
            <a:spLocks noChangeArrowheads="1"/>
          </p:cNvSpPr>
          <p:nvPr/>
        </p:nvSpPr>
        <p:spPr bwMode="auto">
          <a:xfrm>
            <a:off x="1428728" y="857232"/>
            <a:ext cx="1071570" cy="500066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lIns="36000" tIns="36000" rIns="36000" bIns="36000" anchor="ctr"/>
          <a:lstStyle/>
          <a:p>
            <a:pPr algn="ctr" eaLnBrk="1" latinLnBrk="1" hangingPunct="1">
              <a:defRPr/>
            </a:pPr>
            <a:r>
              <a:rPr lang="ko-KR" altLang="en-US" sz="1400" b="1" dirty="0">
                <a:solidFill>
                  <a:schemeClr val="tx2"/>
                </a:solidFill>
                <a:latin typeface="굴림체" pitchFamily="49" charset="-127"/>
                <a:ea typeface="굴림체" pitchFamily="49" charset="-127"/>
              </a:rPr>
              <a:t>구매</a:t>
            </a:r>
          </a:p>
        </p:txBody>
      </p:sp>
      <p:sp>
        <p:nvSpPr>
          <p:cNvPr id="1687" name="TextBox 1686"/>
          <p:cNvSpPr txBox="1"/>
          <p:nvPr/>
        </p:nvSpPr>
        <p:spPr>
          <a:xfrm>
            <a:off x="4071934" y="2714620"/>
            <a:ext cx="100013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/>
              <a:t>적정재고량보유</a:t>
            </a:r>
            <a:r>
              <a:rPr lang="en-US" altLang="ko-KR" sz="1200" dirty="0" smtClean="0"/>
              <a:t>?</a:t>
            </a:r>
            <a:endParaRPr lang="ko-KR" altLang="en-US" sz="1200" dirty="0"/>
          </a:p>
        </p:txBody>
      </p:sp>
      <p:sp>
        <p:nvSpPr>
          <p:cNvPr id="1689" name="순서도: 판단 1688"/>
          <p:cNvSpPr/>
          <p:nvPr/>
        </p:nvSpPr>
        <p:spPr>
          <a:xfrm>
            <a:off x="3929058" y="2714620"/>
            <a:ext cx="1214446" cy="428628"/>
          </a:xfrm>
          <a:prstGeom prst="flowChartDecision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690" name="순서도: 처리 1689"/>
          <p:cNvSpPr/>
          <p:nvPr/>
        </p:nvSpPr>
        <p:spPr>
          <a:xfrm>
            <a:off x="2500305" y="2744493"/>
            <a:ext cx="1143008" cy="428628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발주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701" name="순서도: 처리 1700"/>
          <p:cNvSpPr/>
          <p:nvPr/>
        </p:nvSpPr>
        <p:spPr>
          <a:xfrm>
            <a:off x="357158" y="2744493"/>
            <a:ext cx="1143008" cy="428628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상품수주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1767" name="직선 연결선 1766"/>
          <p:cNvCxnSpPr/>
          <p:nvPr/>
        </p:nvCxnSpPr>
        <p:spPr>
          <a:xfrm rot="5400000">
            <a:off x="-320709" y="3892553"/>
            <a:ext cx="4643470" cy="1588"/>
          </a:xfrm>
          <a:prstGeom prst="line">
            <a:avLst/>
          </a:prstGeom>
          <a:ln w="3175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4" name="직선 화살표 연결선 1773"/>
          <p:cNvCxnSpPr>
            <a:stCxn id="1690" idx="1"/>
            <a:endCxn id="1701" idx="3"/>
          </p:cNvCxnSpPr>
          <p:nvPr/>
        </p:nvCxnSpPr>
        <p:spPr>
          <a:xfrm rot="10800000">
            <a:off x="1500167" y="2958807"/>
            <a:ext cx="1000139" cy="158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7" name="꺾인 연결선 1826"/>
          <p:cNvCxnSpPr>
            <a:stCxn id="1860" idx="3"/>
            <a:endCxn id="28" idx="2"/>
          </p:cNvCxnSpPr>
          <p:nvPr/>
        </p:nvCxnSpPr>
        <p:spPr>
          <a:xfrm>
            <a:off x="3643313" y="3816063"/>
            <a:ext cx="428621" cy="470193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3" name="꺾인 연결선 1826"/>
          <p:cNvCxnSpPr>
            <a:endCxn id="1690" idx="3"/>
          </p:cNvCxnSpPr>
          <p:nvPr/>
        </p:nvCxnSpPr>
        <p:spPr>
          <a:xfrm rot="10800000">
            <a:off x="3643314" y="2958807"/>
            <a:ext cx="285745" cy="1588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9" name="TextBox 1838"/>
          <p:cNvSpPr txBox="1"/>
          <p:nvPr/>
        </p:nvSpPr>
        <p:spPr>
          <a:xfrm>
            <a:off x="571472" y="1428736"/>
            <a:ext cx="902811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400" b="1" dirty="0" smtClean="0">
                <a:solidFill>
                  <a:schemeClr val="accent1"/>
                </a:solidFill>
              </a:rPr>
              <a:t>공급업체</a:t>
            </a:r>
            <a:endParaRPr lang="ko-KR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1840" name="TextBox 1839"/>
          <p:cNvSpPr txBox="1"/>
          <p:nvPr/>
        </p:nvSpPr>
        <p:spPr>
          <a:xfrm>
            <a:off x="4143372" y="1357298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400" b="1" dirty="0" smtClean="0">
                <a:solidFill>
                  <a:schemeClr val="accent1"/>
                </a:solidFill>
              </a:rPr>
              <a:t>자사</a:t>
            </a:r>
            <a:endParaRPr lang="ko-KR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1845" name="TextBox 1844"/>
          <p:cNvSpPr txBox="1"/>
          <p:nvPr/>
        </p:nvSpPr>
        <p:spPr>
          <a:xfrm>
            <a:off x="1500166" y="2673055"/>
            <a:ext cx="805029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전화</a:t>
            </a:r>
            <a:r>
              <a:rPr lang="en-US" altLang="ko-KR" sz="1100" dirty="0" smtClean="0"/>
              <a:t>/</a:t>
            </a:r>
            <a:r>
              <a:rPr lang="ko-KR" altLang="en-US" sz="1100" dirty="0" smtClean="0"/>
              <a:t>팩스</a:t>
            </a:r>
            <a:endParaRPr lang="ko-KR" altLang="en-US" sz="1100" dirty="0"/>
          </a:p>
        </p:txBody>
      </p:sp>
      <p:sp>
        <p:nvSpPr>
          <p:cNvPr id="1851" name="순서도: 처리 1850"/>
          <p:cNvSpPr/>
          <p:nvPr/>
        </p:nvSpPr>
        <p:spPr>
          <a:xfrm>
            <a:off x="2500305" y="1887237"/>
            <a:ext cx="1143008" cy="428628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업체상품</a:t>
            </a:r>
            <a:endParaRPr lang="en-US" altLang="ko-KR" sz="1200" b="1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선정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857" name="순서도: 처리 1856"/>
          <p:cNvSpPr/>
          <p:nvPr/>
        </p:nvSpPr>
        <p:spPr>
          <a:xfrm>
            <a:off x="357158" y="3601749"/>
            <a:ext cx="1143008" cy="428628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상품출고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860" name="순서도: 처리 1859"/>
          <p:cNvSpPr/>
          <p:nvPr/>
        </p:nvSpPr>
        <p:spPr>
          <a:xfrm>
            <a:off x="2500305" y="3601749"/>
            <a:ext cx="1143008" cy="428628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입고처리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1861" name="직선 화살표 연결선 1860"/>
          <p:cNvCxnSpPr>
            <a:stCxn id="1857" idx="3"/>
            <a:endCxn id="1860" idx="1"/>
          </p:cNvCxnSpPr>
          <p:nvPr/>
        </p:nvCxnSpPr>
        <p:spPr>
          <a:xfrm>
            <a:off x="1500166" y="3816063"/>
            <a:ext cx="1000139" cy="158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6" name="TextBox 1865"/>
          <p:cNvSpPr txBox="1"/>
          <p:nvPr/>
        </p:nvSpPr>
        <p:spPr>
          <a:xfrm>
            <a:off x="1571604" y="3530311"/>
            <a:ext cx="748923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운송업체</a:t>
            </a:r>
            <a:endParaRPr lang="en-US" altLang="ko-KR" sz="1100" dirty="0" smtClean="0"/>
          </a:p>
        </p:txBody>
      </p:sp>
      <p:cxnSp>
        <p:nvCxnSpPr>
          <p:cNvPr id="1867" name="직선 화살표 연결선 1866"/>
          <p:cNvCxnSpPr>
            <a:stCxn id="1701" idx="2"/>
            <a:endCxn id="1857" idx="0"/>
          </p:cNvCxnSpPr>
          <p:nvPr/>
        </p:nvCxnSpPr>
        <p:spPr>
          <a:xfrm rot="5400000">
            <a:off x="714348" y="3387435"/>
            <a:ext cx="428628" cy="158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1" name="순서도: 처리 1870"/>
          <p:cNvSpPr/>
          <p:nvPr/>
        </p:nvSpPr>
        <p:spPr>
          <a:xfrm>
            <a:off x="357158" y="4497406"/>
            <a:ext cx="1143008" cy="428628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대금청구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1872" name="직선 화살표 연결선 1871"/>
          <p:cNvCxnSpPr>
            <a:stCxn id="1857" idx="2"/>
            <a:endCxn id="1871" idx="0"/>
          </p:cNvCxnSpPr>
          <p:nvPr/>
        </p:nvCxnSpPr>
        <p:spPr>
          <a:xfrm rot="5400000">
            <a:off x="695148" y="4263891"/>
            <a:ext cx="467029" cy="158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4" name="순서도: 처리 1873"/>
          <p:cNvSpPr/>
          <p:nvPr/>
        </p:nvSpPr>
        <p:spPr>
          <a:xfrm>
            <a:off x="2500298" y="4497406"/>
            <a:ext cx="1143008" cy="428628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매입확정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1875" name="직선 화살표 연결선 1874"/>
          <p:cNvCxnSpPr>
            <a:stCxn id="1871" idx="3"/>
            <a:endCxn id="1874" idx="1"/>
          </p:cNvCxnSpPr>
          <p:nvPr/>
        </p:nvCxnSpPr>
        <p:spPr>
          <a:xfrm>
            <a:off x="1500166" y="4711720"/>
            <a:ext cx="1000132" cy="158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9" name="TextBox 1878"/>
          <p:cNvSpPr txBox="1"/>
          <p:nvPr/>
        </p:nvSpPr>
        <p:spPr>
          <a:xfrm>
            <a:off x="1643042" y="4497406"/>
            <a:ext cx="889987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계산서송부</a:t>
            </a:r>
            <a:endParaRPr lang="ko-KR" altLang="en-US" sz="1100" dirty="0"/>
          </a:p>
        </p:txBody>
      </p:sp>
      <p:sp>
        <p:nvSpPr>
          <p:cNvPr id="1881" name="순서도: 처리 1880"/>
          <p:cNvSpPr/>
          <p:nvPr/>
        </p:nvSpPr>
        <p:spPr>
          <a:xfrm>
            <a:off x="357158" y="1887237"/>
            <a:ext cx="1143008" cy="428628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상품정보</a:t>
            </a:r>
            <a:endParaRPr lang="en-US" altLang="ko-KR" sz="1200" b="1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전달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1882" name="직선 화살표 연결선 1881"/>
          <p:cNvCxnSpPr>
            <a:stCxn id="1881" idx="3"/>
            <a:endCxn id="1851" idx="1"/>
          </p:cNvCxnSpPr>
          <p:nvPr/>
        </p:nvCxnSpPr>
        <p:spPr>
          <a:xfrm>
            <a:off x="1500166" y="2101551"/>
            <a:ext cx="1000139" cy="158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3" name="TextBox 1882"/>
          <p:cNvSpPr txBox="1"/>
          <p:nvPr/>
        </p:nvSpPr>
        <p:spPr>
          <a:xfrm>
            <a:off x="1571604" y="1815799"/>
            <a:ext cx="849913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Fax/email/</a:t>
            </a:r>
          </a:p>
        </p:txBody>
      </p:sp>
      <p:cxnSp>
        <p:nvCxnSpPr>
          <p:cNvPr id="1885" name="직선 화살표 연결선 1884"/>
          <p:cNvCxnSpPr>
            <a:stCxn id="28" idx="1"/>
            <a:endCxn id="1689" idx="2"/>
          </p:cNvCxnSpPr>
          <p:nvPr/>
        </p:nvCxnSpPr>
        <p:spPr>
          <a:xfrm rot="5400000" flipH="1" flipV="1">
            <a:off x="4107651" y="3571875"/>
            <a:ext cx="857256" cy="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6" name="TextBox 1885"/>
          <p:cNvSpPr txBox="1"/>
          <p:nvPr/>
        </p:nvSpPr>
        <p:spPr>
          <a:xfrm>
            <a:off x="3643306" y="4286256"/>
            <a:ext cx="500066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100" dirty="0" smtClean="0"/>
              <a:t>전산</a:t>
            </a:r>
            <a:endParaRPr lang="en-US" altLang="ko-KR" sz="1100" dirty="0" smtClean="0"/>
          </a:p>
        </p:txBody>
      </p:sp>
      <p:sp>
        <p:nvSpPr>
          <p:cNvPr id="1892" name="TextBox 1891"/>
          <p:cNvSpPr txBox="1"/>
          <p:nvPr/>
        </p:nvSpPr>
        <p:spPr>
          <a:xfrm>
            <a:off x="3643306" y="2571744"/>
            <a:ext cx="37702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No</a:t>
            </a:r>
          </a:p>
        </p:txBody>
      </p:sp>
      <p:sp>
        <p:nvSpPr>
          <p:cNvPr id="1900" name="순서도: 처리 1899"/>
          <p:cNvSpPr/>
          <p:nvPr/>
        </p:nvSpPr>
        <p:spPr>
          <a:xfrm>
            <a:off x="2500298" y="5429264"/>
            <a:ext cx="1143008" cy="428628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대금지급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1901" name="직선 화살표 연결선 1900"/>
          <p:cNvCxnSpPr>
            <a:stCxn id="1874" idx="2"/>
            <a:endCxn id="1900" idx="0"/>
          </p:cNvCxnSpPr>
          <p:nvPr/>
        </p:nvCxnSpPr>
        <p:spPr>
          <a:xfrm rot="5400000">
            <a:off x="2820187" y="5177649"/>
            <a:ext cx="50323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4" name="직선 화살표 연결선 1903"/>
          <p:cNvCxnSpPr>
            <a:stCxn id="1900" idx="1"/>
            <a:endCxn id="2111" idx="3"/>
          </p:cNvCxnSpPr>
          <p:nvPr/>
        </p:nvCxnSpPr>
        <p:spPr>
          <a:xfrm rot="10800000">
            <a:off x="1500166" y="5643578"/>
            <a:ext cx="1000132" cy="158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5" name="TextBox 1904"/>
          <p:cNvSpPr txBox="1"/>
          <p:nvPr/>
        </p:nvSpPr>
        <p:spPr>
          <a:xfrm>
            <a:off x="1428728" y="5357826"/>
            <a:ext cx="1168910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100" dirty="0" smtClean="0"/>
              <a:t>현금</a:t>
            </a:r>
            <a:r>
              <a:rPr lang="en-US" altLang="ko-KR" sz="1100" dirty="0" smtClean="0"/>
              <a:t>/</a:t>
            </a:r>
            <a:r>
              <a:rPr lang="ko-KR" altLang="en-US" sz="1100" dirty="0" smtClean="0"/>
              <a:t>어음결재</a:t>
            </a:r>
            <a:endParaRPr lang="ko-KR" altLang="en-US" sz="1100" dirty="0"/>
          </a:p>
        </p:txBody>
      </p:sp>
      <p:sp>
        <p:nvSpPr>
          <p:cNvPr id="1925" name="순서도: 처리 1924"/>
          <p:cNvSpPr/>
          <p:nvPr/>
        </p:nvSpPr>
        <p:spPr>
          <a:xfrm>
            <a:off x="7500958" y="2643182"/>
            <a:ext cx="1143008" cy="42862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회원가입</a:t>
            </a:r>
            <a:endParaRPr lang="en-US" altLang="ko-KR" sz="1200" b="1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(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로그인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)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1926" name="꺾인 연결선 1826"/>
          <p:cNvCxnSpPr>
            <a:stCxn id="1925" idx="2"/>
            <a:endCxn id="1983" idx="0"/>
          </p:cNvCxnSpPr>
          <p:nvPr/>
        </p:nvCxnSpPr>
        <p:spPr>
          <a:xfrm rot="5400000">
            <a:off x="7929586" y="3214686"/>
            <a:ext cx="285752" cy="1588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7" name="순서도: 처리 1926"/>
          <p:cNvSpPr/>
          <p:nvPr/>
        </p:nvSpPr>
        <p:spPr>
          <a:xfrm>
            <a:off x="7500958" y="5643578"/>
            <a:ext cx="1143008" cy="42862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상품확인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928" name="순서도: 처리 1927"/>
          <p:cNvSpPr/>
          <p:nvPr/>
        </p:nvSpPr>
        <p:spPr>
          <a:xfrm>
            <a:off x="7500958" y="4143380"/>
            <a:ext cx="1143008" cy="42862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매출확정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1930" name="직선 화살표 연결선 1929"/>
          <p:cNvCxnSpPr>
            <a:stCxn id="1928" idx="2"/>
            <a:endCxn id="1931" idx="0"/>
          </p:cNvCxnSpPr>
          <p:nvPr/>
        </p:nvCxnSpPr>
        <p:spPr>
          <a:xfrm rot="5400000">
            <a:off x="7969682" y="4674788"/>
            <a:ext cx="205561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1" name="순서도: 처리 1930"/>
          <p:cNvSpPr/>
          <p:nvPr/>
        </p:nvSpPr>
        <p:spPr>
          <a:xfrm>
            <a:off x="7500958" y="4777569"/>
            <a:ext cx="1143008" cy="42862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대금지급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933" name="TextBox 1932"/>
          <p:cNvSpPr txBox="1"/>
          <p:nvPr/>
        </p:nvSpPr>
        <p:spPr>
          <a:xfrm>
            <a:off x="7786710" y="1357298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400" b="1" dirty="0" smtClean="0">
                <a:solidFill>
                  <a:srgbClr val="0070C0"/>
                </a:solidFill>
              </a:rPr>
              <a:t>고객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cxnSp>
        <p:nvCxnSpPr>
          <p:cNvPr id="1936" name="직선 화살표 연결선 1935"/>
          <p:cNvCxnSpPr>
            <a:stCxn id="1690" idx="2"/>
            <a:endCxn id="1860" idx="0"/>
          </p:cNvCxnSpPr>
          <p:nvPr/>
        </p:nvCxnSpPr>
        <p:spPr>
          <a:xfrm rot="5400000">
            <a:off x="2857495" y="3387435"/>
            <a:ext cx="428628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7" name="직선 화살표 연결선 1936"/>
          <p:cNvCxnSpPr>
            <a:stCxn id="1860" idx="2"/>
            <a:endCxn id="1874" idx="0"/>
          </p:cNvCxnSpPr>
          <p:nvPr/>
        </p:nvCxnSpPr>
        <p:spPr>
          <a:xfrm rot="5400000">
            <a:off x="2838292" y="4263888"/>
            <a:ext cx="467029" cy="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8" name="직선 화살표 연결선 1937"/>
          <p:cNvCxnSpPr>
            <a:stCxn id="1851" idx="2"/>
            <a:endCxn id="1690" idx="0"/>
          </p:cNvCxnSpPr>
          <p:nvPr/>
        </p:nvCxnSpPr>
        <p:spPr>
          <a:xfrm rot="5400000">
            <a:off x="2857495" y="2530179"/>
            <a:ext cx="428628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3" name="순서도: 처리 1942"/>
          <p:cNvSpPr/>
          <p:nvPr/>
        </p:nvSpPr>
        <p:spPr>
          <a:xfrm>
            <a:off x="5429256" y="3357562"/>
            <a:ext cx="1143008" cy="42862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상품수주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944" name="순서도: 처리 1943"/>
          <p:cNvSpPr/>
          <p:nvPr/>
        </p:nvSpPr>
        <p:spPr>
          <a:xfrm>
            <a:off x="5429256" y="5643578"/>
            <a:ext cx="1143008" cy="42862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상품출고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1945" name="직선 화살표 연결선 1944"/>
          <p:cNvCxnSpPr>
            <a:stCxn id="1943" idx="2"/>
            <a:endCxn id="1946" idx="0"/>
          </p:cNvCxnSpPr>
          <p:nvPr/>
        </p:nvCxnSpPr>
        <p:spPr>
          <a:xfrm rot="5400000">
            <a:off x="5822165" y="3964785"/>
            <a:ext cx="35719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6" name="순서도: 처리 1945"/>
          <p:cNvSpPr/>
          <p:nvPr/>
        </p:nvSpPr>
        <p:spPr>
          <a:xfrm>
            <a:off x="5429256" y="4143380"/>
            <a:ext cx="1143008" cy="42862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계산서청구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948" name="순서도: 처리 1947"/>
          <p:cNvSpPr/>
          <p:nvPr/>
        </p:nvSpPr>
        <p:spPr>
          <a:xfrm>
            <a:off x="5429256" y="1857364"/>
            <a:ext cx="1143008" cy="42862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상품광고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1949" name="직선 화살표 연결선 1948"/>
          <p:cNvCxnSpPr>
            <a:stCxn id="1983" idx="1"/>
            <a:endCxn id="1943" idx="3"/>
          </p:cNvCxnSpPr>
          <p:nvPr/>
        </p:nvCxnSpPr>
        <p:spPr>
          <a:xfrm rot="10800000">
            <a:off x="6572264" y="3571876"/>
            <a:ext cx="928694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3" name="TextBox 1952"/>
          <p:cNvSpPr txBox="1"/>
          <p:nvPr/>
        </p:nvSpPr>
        <p:spPr>
          <a:xfrm>
            <a:off x="5214942" y="1500174"/>
            <a:ext cx="100013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solidFill>
                  <a:schemeClr val="tx2">
                    <a:lumMod val="50000"/>
                  </a:schemeClr>
                </a:solidFill>
              </a:rPr>
              <a:t>인터넷거래</a:t>
            </a:r>
            <a:endParaRPr lang="en-US" altLang="ko-KR" sz="1200" b="1" dirty="0" smtClean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1961" name="직선 화살표 연결선 1960"/>
          <p:cNvCxnSpPr>
            <a:stCxn id="1944" idx="3"/>
            <a:endCxn id="1927" idx="1"/>
          </p:cNvCxnSpPr>
          <p:nvPr/>
        </p:nvCxnSpPr>
        <p:spPr>
          <a:xfrm>
            <a:off x="6572264" y="5857892"/>
            <a:ext cx="928694" cy="158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2" name="TextBox 1961"/>
          <p:cNvSpPr txBox="1"/>
          <p:nvPr/>
        </p:nvSpPr>
        <p:spPr>
          <a:xfrm>
            <a:off x="6715140" y="5572140"/>
            <a:ext cx="748923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100" dirty="0" smtClean="0">
                <a:solidFill>
                  <a:schemeClr val="accent6"/>
                </a:solidFill>
              </a:rPr>
              <a:t>운송업체</a:t>
            </a:r>
            <a:endParaRPr lang="en-US" altLang="ko-KR" sz="1100" dirty="0" smtClean="0">
              <a:solidFill>
                <a:schemeClr val="accent6"/>
              </a:solidFill>
            </a:endParaRPr>
          </a:p>
        </p:txBody>
      </p:sp>
      <p:sp>
        <p:nvSpPr>
          <p:cNvPr id="1967" name="순서도: 처리 1966"/>
          <p:cNvSpPr/>
          <p:nvPr/>
        </p:nvSpPr>
        <p:spPr>
          <a:xfrm>
            <a:off x="5429256" y="4777569"/>
            <a:ext cx="1143008" cy="42862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은행결재확인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1968" name="직선 연결선 1967"/>
          <p:cNvCxnSpPr/>
          <p:nvPr/>
        </p:nvCxnSpPr>
        <p:spPr>
          <a:xfrm rot="5400000">
            <a:off x="4751389" y="3892553"/>
            <a:ext cx="4643470" cy="1588"/>
          </a:xfrm>
          <a:prstGeom prst="line">
            <a:avLst/>
          </a:prstGeom>
          <a:ln w="3175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9" name="직선 화살표 연결선 1968"/>
          <p:cNvCxnSpPr>
            <a:stCxn id="1948" idx="3"/>
            <a:endCxn id="2010" idx="1"/>
          </p:cNvCxnSpPr>
          <p:nvPr/>
        </p:nvCxnSpPr>
        <p:spPr>
          <a:xfrm>
            <a:off x="6572264" y="2071678"/>
            <a:ext cx="928694" cy="1588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6" name="순서도: 처리 1975"/>
          <p:cNvSpPr/>
          <p:nvPr/>
        </p:nvSpPr>
        <p:spPr>
          <a:xfrm>
            <a:off x="5429256" y="2643182"/>
            <a:ext cx="1143008" cy="42862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회원승인</a:t>
            </a:r>
            <a:endParaRPr lang="en-US" altLang="ko-KR" sz="1200" b="1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(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권한관리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)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983" name="순서도: 처리 1982"/>
          <p:cNvSpPr/>
          <p:nvPr/>
        </p:nvSpPr>
        <p:spPr>
          <a:xfrm>
            <a:off x="7500958" y="3357562"/>
            <a:ext cx="1143008" cy="42862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상품주문</a:t>
            </a:r>
            <a:endParaRPr lang="en-US" altLang="ko-KR" sz="1200" b="1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/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확정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999" name="TextBox 1998"/>
          <p:cNvSpPr txBox="1"/>
          <p:nvPr/>
        </p:nvSpPr>
        <p:spPr>
          <a:xfrm>
            <a:off x="4500562" y="2428868"/>
            <a:ext cx="401072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Yes</a:t>
            </a:r>
          </a:p>
        </p:txBody>
      </p:sp>
      <p:sp>
        <p:nvSpPr>
          <p:cNvPr id="2003" name="TextBox 2002"/>
          <p:cNvSpPr txBox="1"/>
          <p:nvPr/>
        </p:nvSpPr>
        <p:spPr>
          <a:xfrm>
            <a:off x="3071802" y="2387303"/>
            <a:ext cx="857256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100" smtClean="0"/>
              <a:t>전산정보</a:t>
            </a:r>
            <a:endParaRPr lang="en-US" altLang="ko-KR" sz="1100" dirty="0" smtClean="0"/>
          </a:p>
        </p:txBody>
      </p:sp>
      <p:sp>
        <p:nvSpPr>
          <p:cNvPr id="2010" name="순서도: 처리 2009"/>
          <p:cNvSpPr/>
          <p:nvPr/>
        </p:nvSpPr>
        <p:spPr>
          <a:xfrm>
            <a:off x="7500958" y="1857364"/>
            <a:ext cx="1143008" cy="42862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상품사이트</a:t>
            </a:r>
            <a:endParaRPr lang="en-US" altLang="ko-KR" sz="1200" b="1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선정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2028" name="꺾인 연결선 2027"/>
          <p:cNvCxnSpPr>
            <a:stCxn id="1983" idx="3"/>
            <a:endCxn id="1927" idx="3"/>
          </p:cNvCxnSpPr>
          <p:nvPr/>
        </p:nvCxnSpPr>
        <p:spPr>
          <a:xfrm>
            <a:off x="8643966" y="3571876"/>
            <a:ext cx="1588" cy="2286016"/>
          </a:xfrm>
          <a:prstGeom prst="bentConnector3">
            <a:avLst>
              <a:gd name="adj1" fmla="val 8288290"/>
            </a:avLst>
          </a:prstGeom>
          <a:ln w="3175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4" name="꺾인 연결선 2033"/>
          <p:cNvCxnSpPr>
            <a:stCxn id="1943" idx="1"/>
            <a:endCxn id="1944" idx="0"/>
          </p:cNvCxnSpPr>
          <p:nvPr/>
        </p:nvCxnSpPr>
        <p:spPr>
          <a:xfrm rot="10800000" flipH="1" flipV="1">
            <a:off x="5429256" y="3571876"/>
            <a:ext cx="571504" cy="2071702"/>
          </a:xfrm>
          <a:prstGeom prst="bentConnector4">
            <a:avLst>
              <a:gd name="adj1" fmla="val -23030"/>
              <a:gd name="adj2" fmla="val 91285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2" name="꺾인 연결선 2081"/>
          <p:cNvCxnSpPr>
            <a:stCxn id="1689" idx="0"/>
            <a:endCxn id="1948" idx="1"/>
          </p:cNvCxnSpPr>
          <p:nvPr/>
        </p:nvCxnSpPr>
        <p:spPr>
          <a:xfrm rot="5400000" flipH="1" flipV="1">
            <a:off x="4661297" y="1946662"/>
            <a:ext cx="642942" cy="892975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5" name="직선 화살표 연결선 2084"/>
          <p:cNvCxnSpPr>
            <a:stCxn id="2010" idx="2"/>
            <a:endCxn id="1925" idx="0"/>
          </p:cNvCxnSpPr>
          <p:nvPr/>
        </p:nvCxnSpPr>
        <p:spPr>
          <a:xfrm rot="5400000">
            <a:off x="7893867" y="2464587"/>
            <a:ext cx="35719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9" name="직선 화살표 연결선 2088"/>
          <p:cNvCxnSpPr>
            <a:stCxn id="1976" idx="3"/>
            <a:endCxn id="1925" idx="1"/>
          </p:cNvCxnSpPr>
          <p:nvPr/>
        </p:nvCxnSpPr>
        <p:spPr>
          <a:xfrm>
            <a:off x="6572264" y="2857496"/>
            <a:ext cx="928694" cy="1588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7" name="TextBox 2096"/>
          <p:cNvSpPr txBox="1"/>
          <p:nvPr/>
        </p:nvSpPr>
        <p:spPr>
          <a:xfrm>
            <a:off x="6715140" y="4071942"/>
            <a:ext cx="714380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100" dirty="0" smtClean="0"/>
              <a:t>인터넷</a:t>
            </a:r>
            <a:endParaRPr lang="en-US" altLang="ko-KR" sz="1100" dirty="0" smtClean="0"/>
          </a:p>
        </p:txBody>
      </p:sp>
      <p:cxnSp>
        <p:nvCxnSpPr>
          <p:cNvPr id="2098" name="직선 화살표 연결선 2097"/>
          <p:cNvCxnSpPr>
            <a:stCxn id="1946" idx="3"/>
            <a:endCxn id="1928" idx="1"/>
          </p:cNvCxnSpPr>
          <p:nvPr/>
        </p:nvCxnSpPr>
        <p:spPr>
          <a:xfrm>
            <a:off x="6572264" y="4357694"/>
            <a:ext cx="928694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4" name="TextBox 2103"/>
          <p:cNvSpPr txBox="1"/>
          <p:nvPr/>
        </p:nvSpPr>
        <p:spPr>
          <a:xfrm>
            <a:off x="6572264" y="4643446"/>
            <a:ext cx="857256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solidFill>
                  <a:schemeClr val="accent6"/>
                </a:solidFill>
              </a:rPr>
              <a:t>현금결재</a:t>
            </a:r>
            <a:endParaRPr lang="en-US" altLang="ko-KR" sz="1100" dirty="0" smtClean="0">
              <a:solidFill>
                <a:schemeClr val="accent6"/>
              </a:solidFill>
            </a:endParaRPr>
          </a:p>
        </p:txBody>
      </p:sp>
      <p:cxnSp>
        <p:nvCxnSpPr>
          <p:cNvPr id="2105" name="꺾인 연결선 2104"/>
          <p:cNvCxnSpPr>
            <a:stCxn id="1944" idx="1"/>
            <a:endCxn id="28" idx="3"/>
          </p:cNvCxnSpPr>
          <p:nvPr/>
        </p:nvCxnSpPr>
        <p:spPr>
          <a:xfrm rot="10800000">
            <a:off x="4536278" y="4572008"/>
            <a:ext cx="892978" cy="1285884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1" name="순서도: 처리 2110"/>
          <p:cNvSpPr/>
          <p:nvPr/>
        </p:nvSpPr>
        <p:spPr>
          <a:xfrm>
            <a:off x="357158" y="5429264"/>
            <a:ext cx="1143008" cy="428628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대금확인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2116" name="직선 화살표 연결선 2115"/>
          <p:cNvCxnSpPr>
            <a:stCxn id="1931" idx="1"/>
            <a:endCxn id="1967" idx="3"/>
          </p:cNvCxnSpPr>
          <p:nvPr/>
        </p:nvCxnSpPr>
        <p:spPr>
          <a:xfrm rot="10800000">
            <a:off x="6572264" y="4991883"/>
            <a:ext cx="928694" cy="158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3" name="직선 화살표 연결선 2122"/>
          <p:cNvCxnSpPr>
            <a:stCxn id="1967" idx="2"/>
            <a:endCxn id="1944" idx="0"/>
          </p:cNvCxnSpPr>
          <p:nvPr/>
        </p:nvCxnSpPr>
        <p:spPr>
          <a:xfrm rot="5400000">
            <a:off x="5782070" y="5424887"/>
            <a:ext cx="437381" cy="158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6" name="TextBox 2125"/>
          <p:cNvSpPr txBox="1"/>
          <p:nvPr/>
        </p:nvSpPr>
        <p:spPr>
          <a:xfrm>
            <a:off x="8072462" y="4542135"/>
            <a:ext cx="714380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100" dirty="0" smtClean="0"/>
              <a:t>인터넷</a:t>
            </a:r>
            <a:endParaRPr lang="en-US" altLang="ko-KR" sz="1100" dirty="0" smtClean="0"/>
          </a:p>
        </p:txBody>
      </p:sp>
      <p:sp>
        <p:nvSpPr>
          <p:cNvPr id="2139" name="TextBox 2138"/>
          <p:cNvSpPr txBox="1"/>
          <p:nvPr/>
        </p:nvSpPr>
        <p:spPr>
          <a:xfrm>
            <a:off x="4500562" y="4643446"/>
            <a:ext cx="500066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100" dirty="0" smtClean="0"/>
              <a:t>전산</a:t>
            </a:r>
            <a:endParaRPr lang="en-US" altLang="ko-KR" sz="1100" dirty="0" smtClean="0"/>
          </a:p>
        </p:txBody>
      </p:sp>
      <p:cxnSp>
        <p:nvCxnSpPr>
          <p:cNvPr id="84" name="꺾인 연결선 1826"/>
          <p:cNvCxnSpPr>
            <a:stCxn id="1983" idx="2"/>
            <a:endCxn id="1928" idx="0"/>
          </p:cNvCxnSpPr>
          <p:nvPr/>
        </p:nvCxnSpPr>
        <p:spPr>
          <a:xfrm rot="5400000">
            <a:off x="7893867" y="3964785"/>
            <a:ext cx="357190" cy="1588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/>
          <p:cNvCxnSpPr>
            <a:stCxn id="1946" idx="2"/>
            <a:endCxn id="1967" idx="0"/>
          </p:cNvCxnSpPr>
          <p:nvPr/>
        </p:nvCxnSpPr>
        <p:spPr>
          <a:xfrm rot="5400000">
            <a:off x="5897980" y="4674788"/>
            <a:ext cx="205561" cy="158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/>
          <p:cNvSpPr/>
          <p:nvPr/>
        </p:nvSpPr>
        <p:spPr>
          <a:xfrm>
            <a:off x="5214942" y="1785926"/>
            <a:ext cx="3643338" cy="21431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3"/>
          <p:cNvSpPr>
            <a:spLocks noChangeArrowheads="1"/>
          </p:cNvSpPr>
          <p:nvPr/>
        </p:nvSpPr>
        <p:spPr bwMode="auto">
          <a:xfrm>
            <a:off x="0" y="0"/>
            <a:ext cx="8077200" cy="76200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l" eaLnBrk="1" latin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ko-KR" sz="28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en-US" altLang="ko-KR" sz="2800" dirty="0" smtClea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3. </a:t>
            </a:r>
            <a:r>
              <a:rPr lang="ko-KR" altLang="en-US" sz="28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시스템 </a:t>
            </a:r>
            <a:r>
              <a:rPr lang="ko-KR" altLang="en-US" sz="2800" dirty="0" smtClea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흐름도</a:t>
            </a:r>
            <a:endParaRPr lang="en-US" altLang="ko-KR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grpSp>
        <p:nvGrpSpPr>
          <p:cNvPr id="2" name="그룹 113"/>
          <p:cNvGrpSpPr/>
          <p:nvPr/>
        </p:nvGrpSpPr>
        <p:grpSpPr>
          <a:xfrm>
            <a:off x="970227" y="1085850"/>
            <a:ext cx="991923" cy="714375"/>
            <a:chOff x="970227" y="1085850"/>
            <a:chExt cx="991923" cy="714375"/>
          </a:xfrm>
        </p:grpSpPr>
        <p:sp>
          <p:nvSpPr>
            <p:cNvPr id="6" name="Rectangle 10"/>
            <p:cNvSpPr>
              <a:spLocks noChangeArrowheads="1"/>
            </p:cNvSpPr>
            <p:nvPr/>
          </p:nvSpPr>
          <p:spPr bwMode="auto">
            <a:xfrm>
              <a:off x="971550" y="1085850"/>
              <a:ext cx="990600" cy="2286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 dirty="0">
                  <a:latin typeface="굴림체" pitchFamily="49" charset="-127"/>
                  <a:ea typeface="굴림체" pitchFamily="49" charset="-127"/>
                </a:rPr>
                <a:t>발주 관리</a:t>
              </a:r>
            </a:p>
          </p:txBody>
        </p:sp>
        <p:sp>
          <p:nvSpPr>
            <p:cNvPr id="7" name="Rectangle 11"/>
            <p:cNvSpPr>
              <a:spLocks noChangeArrowheads="1"/>
            </p:cNvSpPr>
            <p:nvPr/>
          </p:nvSpPr>
          <p:spPr bwMode="auto">
            <a:xfrm>
              <a:off x="970227" y="1314450"/>
              <a:ext cx="990600" cy="48577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ko-KR" altLang="en-US" sz="1000" b="0" dirty="0" smtClean="0">
                  <a:latin typeface="굴림체" pitchFamily="49" charset="-127"/>
                  <a:ea typeface="굴림체" pitchFamily="49" charset="-127"/>
                </a:rPr>
                <a:t>구매요청</a:t>
              </a:r>
              <a:endParaRPr lang="ko-KR" altLang="en-US" sz="1000" b="0" dirty="0">
                <a:latin typeface="굴림체" pitchFamily="49" charset="-127"/>
                <a:ea typeface="굴림체" pitchFamily="49" charset="-127"/>
              </a:endParaRPr>
            </a:p>
          </p:txBody>
        </p:sp>
      </p:grpSp>
      <p:grpSp>
        <p:nvGrpSpPr>
          <p:cNvPr id="3" name="그룹 118"/>
          <p:cNvGrpSpPr/>
          <p:nvPr/>
        </p:nvGrpSpPr>
        <p:grpSpPr>
          <a:xfrm>
            <a:off x="2454540" y="1071563"/>
            <a:ext cx="991923" cy="728662"/>
            <a:chOff x="2454540" y="1071563"/>
            <a:chExt cx="991923" cy="728662"/>
          </a:xfrm>
        </p:grpSpPr>
        <p:sp>
          <p:nvSpPr>
            <p:cNvPr id="8" name="Rectangle 12"/>
            <p:cNvSpPr>
              <a:spLocks noChangeArrowheads="1"/>
            </p:cNvSpPr>
            <p:nvPr/>
          </p:nvSpPr>
          <p:spPr bwMode="auto">
            <a:xfrm>
              <a:off x="2455863" y="1071563"/>
              <a:ext cx="990600" cy="2286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100" dirty="0">
                  <a:latin typeface="굴림체" pitchFamily="49" charset="-127"/>
                  <a:ea typeface="굴림체" pitchFamily="49" charset="-127"/>
                </a:rPr>
                <a:t>입고 관리</a:t>
              </a:r>
            </a:p>
          </p:txBody>
        </p:sp>
        <p:sp>
          <p:nvSpPr>
            <p:cNvPr id="9" name="Rectangle 13"/>
            <p:cNvSpPr>
              <a:spLocks noChangeArrowheads="1"/>
            </p:cNvSpPr>
            <p:nvPr/>
          </p:nvSpPr>
          <p:spPr bwMode="auto">
            <a:xfrm>
              <a:off x="2454540" y="1300163"/>
              <a:ext cx="990600" cy="50006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ko-KR" altLang="en-US" sz="1000" b="0" dirty="0">
                  <a:latin typeface="굴림체" pitchFamily="49" charset="-127"/>
                  <a:ea typeface="굴림체" pitchFamily="49" charset="-127"/>
                </a:rPr>
                <a:t>입고처리</a:t>
              </a:r>
              <a:endParaRPr lang="en-US" altLang="ko-KR" sz="1000" b="0" dirty="0">
                <a:latin typeface="굴림체" pitchFamily="49" charset="-127"/>
                <a:ea typeface="굴림체" pitchFamily="49" charset="-127"/>
              </a:endParaRPr>
            </a:p>
            <a:p>
              <a:r>
                <a:rPr lang="en-US" altLang="ko-KR" sz="1000" b="0" dirty="0">
                  <a:latin typeface="굴림체" pitchFamily="49" charset="-127"/>
                  <a:ea typeface="굴림체" pitchFamily="49" charset="-127"/>
                </a:rPr>
                <a:t>(</a:t>
              </a:r>
              <a:r>
                <a:rPr lang="ko-KR" altLang="en-US" sz="1000" b="0" dirty="0">
                  <a:latin typeface="굴림체" pitchFamily="49" charset="-127"/>
                  <a:ea typeface="굴림체" pitchFamily="49" charset="-127"/>
                </a:rPr>
                <a:t>재료</a:t>
              </a:r>
              <a:r>
                <a:rPr lang="en-US" altLang="ko-KR" sz="1000" b="0" dirty="0">
                  <a:latin typeface="굴림체" pitchFamily="49" charset="-127"/>
                  <a:ea typeface="굴림체" pitchFamily="49" charset="-127"/>
                </a:rPr>
                <a:t>)</a:t>
              </a:r>
              <a:endParaRPr lang="ko-KR" altLang="en-US" sz="1000" b="0" dirty="0">
                <a:latin typeface="굴림체" pitchFamily="49" charset="-127"/>
                <a:ea typeface="굴림체" pitchFamily="49" charset="-127"/>
              </a:endParaRPr>
            </a:p>
          </p:txBody>
        </p:sp>
      </p:grpSp>
      <p:grpSp>
        <p:nvGrpSpPr>
          <p:cNvPr id="4" name="그룹 133"/>
          <p:cNvGrpSpPr/>
          <p:nvPr/>
        </p:nvGrpSpPr>
        <p:grpSpPr>
          <a:xfrm>
            <a:off x="5295900" y="2786063"/>
            <a:ext cx="990600" cy="914400"/>
            <a:chOff x="5295900" y="2786063"/>
            <a:chExt cx="990600" cy="914400"/>
          </a:xfrm>
        </p:grpSpPr>
        <p:sp>
          <p:nvSpPr>
            <p:cNvPr id="10" name="Rectangle 14"/>
            <p:cNvSpPr>
              <a:spLocks noChangeArrowheads="1"/>
            </p:cNvSpPr>
            <p:nvPr/>
          </p:nvSpPr>
          <p:spPr bwMode="auto">
            <a:xfrm>
              <a:off x="5295900" y="2786063"/>
              <a:ext cx="990600" cy="30480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100" dirty="0">
                  <a:latin typeface="굴림체" pitchFamily="49" charset="-127"/>
                  <a:ea typeface="굴림체" pitchFamily="49" charset="-127"/>
                </a:rPr>
                <a:t>마감관리</a:t>
              </a:r>
            </a:p>
          </p:txBody>
        </p:sp>
        <p:sp>
          <p:nvSpPr>
            <p:cNvPr id="11" name="Rectangle 15"/>
            <p:cNvSpPr>
              <a:spLocks noChangeArrowheads="1"/>
            </p:cNvSpPr>
            <p:nvPr/>
          </p:nvSpPr>
          <p:spPr bwMode="auto">
            <a:xfrm>
              <a:off x="5295900" y="3071813"/>
              <a:ext cx="990600" cy="628650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ko-KR" altLang="en-US" sz="1000" b="0" dirty="0">
                  <a:latin typeface="굴림체" pitchFamily="49" charset="-127"/>
                  <a:ea typeface="굴림체" pitchFamily="49" charset="-127"/>
                </a:rPr>
                <a:t>수불 마감</a:t>
              </a:r>
            </a:p>
            <a:p>
              <a:r>
                <a:rPr lang="en-US" altLang="ko-KR" sz="1000" b="0" dirty="0">
                  <a:latin typeface="굴림체" pitchFamily="49" charset="-127"/>
                  <a:ea typeface="굴림체" pitchFamily="49" charset="-127"/>
                </a:rPr>
                <a:t>[</a:t>
              </a:r>
              <a:r>
                <a:rPr lang="ko-KR" altLang="en-US" sz="1000" b="0" dirty="0">
                  <a:latin typeface="굴림체" pitchFamily="49" charset="-127"/>
                  <a:ea typeface="굴림체" pitchFamily="49" charset="-127"/>
                </a:rPr>
                <a:t>비용정보</a:t>
              </a:r>
              <a:endParaRPr lang="en-US" altLang="ko-KR" sz="1000" b="0" dirty="0">
                <a:latin typeface="굴림체" pitchFamily="49" charset="-127"/>
                <a:ea typeface="굴림체" pitchFamily="49" charset="-127"/>
              </a:endParaRPr>
            </a:p>
            <a:p>
              <a:r>
                <a:rPr lang="ko-KR" altLang="en-US" sz="1000" b="0" dirty="0">
                  <a:latin typeface="굴림체" pitchFamily="49" charset="-127"/>
                  <a:ea typeface="굴림체" pitchFamily="49" charset="-127"/>
                </a:rPr>
                <a:t>손익처리</a:t>
              </a:r>
              <a:r>
                <a:rPr lang="en-US" altLang="ko-KR" sz="1000" b="0" dirty="0">
                  <a:latin typeface="굴림체" pitchFamily="49" charset="-127"/>
                  <a:ea typeface="굴림체" pitchFamily="49" charset="-127"/>
                </a:rPr>
                <a:t>]</a:t>
              </a:r>
              <a:endParaRPr lang="ko-KR" altLang="en-US" sz="1000" b="0" dirty="0">
                <a:latin typeface="굴림체" pitchFamily="49" charset="-127"/>
                <a:ea typeface="굴림체" pitchFamily="49" charset="-127"/>
              </a:endParaRPr>
            </a:p>
          </p:txBody>
        </p:sp>
      </p:grpSp>
      <p:grpSp>
        <p:nvGrpSpPr>
          <p:cNvPr id="60" name="그룹 121"/>
          <p:cNvGrpSpPr/>
          <p:nvPr/>
        </p:nvGrpSpPr>
        <p:grpSpPr>
          <a:xfrm>
            <a:off x="3887500" y="1090613"/>
            <a:ext cx="1003588" cy="671512"/>
            <a:chOff x="3887500" y="1090613"/>
            <a:chExt cx="1003588" cy="671512"/>
          </a:xfrm>
        </p:grpSpPr>
        <p:sp>
          <p:nvSpPr>
            <p:cNvPr id="12" name="Rectangle 20"/>
            <p:cNvSpPr>
              <a:spLocks noChangeArrowheads="1"/>
            </p:cNvSpPr>
            <p:nvPr/>
          </p:nvSpPr>
          <p:spPr bwMode="auto">
            <a:xfrm>
              <a:off x="3887500" y="1333500"/>
              <a:ext cx="1000125" cy="42862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ko-KR" altLang="en-US" sz="1000" b="0">
                  <a:latin typeface="굴림체" pitchFamily="49" charset="-127"/>
                  <a:ea typeface="굴림체" pitchFamily="49" charset="-127"/>
                </a:rPr>
                <a:t>매입</a:t>
              </a:r>
              <a:r>
                <a:rPr lang="en-US" altLang="ko-KR" sz="1000" b="0">
                  <a:latin typeface="굴림체" pitchFamily="49" charset="-127"/>
                  <a:ea typeface="굴림체" pitchFamily="49" charset="-127"/>
                </a:rPr>
                <a:t>/</a:t>
              </a:r>
              <a:r>
                <a:rPr lang="ko-KR" altLang="en-US" sz="1000" b="0">
                  <a:latin typeface="굴림체" pitchFamily="49" charset="-127"/>
                  <a:ea typeface="굴림체" pitchFamily="49" charset="-127"/>
                </a:rPr>
                <a:t>지급처리</a:t>
              </a:r>
              <a:endParaRPr lang="en-US" altLang="ko-KR" sz="1000" b="0">
                <a:latin typeface="굴림체" pitchFamily="49" charset="-127"/>
                <a:ea typeface="굴림체" pitchFamily="49" charset="-127"/>
              </a:endParaRPr>
            </a:p>
          </p:txBody>
        </p:sp>
        <p:sp>
          <p:nvSpPr>
            <p:cNvPr id="13" name="Rectangle 22"/>
            <p:cNvSpPr>
              <a:spLocks noChangeArrowheads="1"/>
            </p:cNvSpPr>
            <p:nvPr/>
          </p:nvSpPr>
          <p:spPr bwMode="auto">
            <a:xfrm>
              <a:off x="3890963" y="1090613"/>
              <a:ext cx="1000125" cy="24288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100" dirty="0">
                  <a:latin typeface="굴림체" pitchFamily="49" charset="-127"/>
                  <a:ea typeface="굴림체" pitchFamily="49" charset="-127"/>
                </a:rPr>
                <a:t>매입</a:t>
              </a:r>
              <a:r>
                <a:rPr lang="en-US" altLang="ko-KR" sz="1100" dirty="0">
                  <a:latin typeface="굴림체" pitchFamily="49" charset="-127"/>
                  <a:ea typeface="굴림체" pitchFamily="49" charset="-127"/>
                </a:rPr>
                <a:t>/</a:t>
              </a:r>
              <a:r>
                <a:rPr lang="ko-KR" altLang="en-US" sz="1100" dirty="0">
                  <a:latin typeface="굴림체" pitchFamily="49" charset="-127"/>
                  <a:ea typeface="굴림체" pitchFamily="49" charset="-127"/>
                </a:rPr>
                <a:t>지급관리</a:t>
              </a:r>
            </a:p>
          </p:txBody>
        </p:sp>
      </p:grpSp>
      <p:grpSp>
        <p:nvGrpSpPr>
          <p:cNvPr id="70" name="그룹 129"/>
          <p:cNvGrpSpPr/>
          <p:nvPr/>
        </p:nvGrpSpPr>
        <p:grpSpPr>
          <a:xfrm>
            <a:off x="7358063" y="1571625"/>
            <a:ext cx="1071562" cy="714375"/>
            <a:chOff x="7358063" y="1571625"/>
            <a:chExt cx="1071562" cy="714375"/>
          </a:xfrm>
        </p:grpSpPr>
        <p:sp>
          <p:nvSpPr>
            <p:cNvPr id="14" name="Rectangle 26"/>
            <p:cNvSpPr>
              <a:spLocks noChangeArrowheads="1"/>
            </p:cNvSpPr>
            <p:nvPr/>
          </p:nvSpPr>
          <p:spPr bwMode="auto">
            <a:xfrm>
              <a:off x="7358063" y="1571625"/>
              <a:ext cx="1071562" cy="304800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ko-KR" altLang="en-US" sz="1100" dirty="0">
                  <a:latin typeface="굴림체" pitchFamily="49" charset="-127"/>
                  <a:ea typeface="굴림체" pitchFamily="49" charset="-127"/>
                </a:rPr>
                <a:t>업체관리</a:t>
              </a:r>
            </a:p>
          </p:txBody>
        </p:sp>
        <p:sp>
          <p:nvSpPr>
            <p:cNvPr id="15" name="Rectangle 29"/>
            <p:cNvSpPr>
              <a:spLocks noChangeArrowheads="1"/>
            </p:cNvSpPr>
            <p:nvPr/>
          </p:nvSpPr>
          <p:spPr bwMode="auto">
            <a:xfrm>
              <a:off x="7358063" y="1876425"/>
              <a:ext cx="1071562" cy="409575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ko-KR" altLang="en-US" sz="1000" b="0">
                  <a:latin typeface="굴림체" pitchFamily="49" charset="-127"/>
                  <a:ea typeface="굴림체" pitchFamily="49" charset="-127"/>
                </a:rPr>
                <a:t>구매업체정보</a:t>
              </a:r>
            </a:p>
          </p:txBody>
        </p:sp>
      </p:grpSp>
      <p:grpSp>
        <p:nvGrpSpPr>
          <p:cNvPr id="71" name="그룹 122"/>
          <p:cNvGrpSpPr/>
          <p:nvPr/>
        </p:nvGrpSpPr>
        <p:grpSpPr>
          <a:xfrm>
            <a:off x="1085850" y="5143500"/>
            <a:ext cx="1073150" cy="642938"/>
            <a:chOff x="1085850" y="5143500"/>
            <a:chExt cx="1073150" cy="642938"/>
          </a:xfrm>
        </p:grpSpPr>
        <p:sp>
          <p:nvSpPr>
            <p:cNvPr id="16" name="Rectangle 35"/>
            <p:cNvSpPr>
              <a:spLocks noChangeArrowheads="1"/>
            </p:cNvSpPr>
            <p:nvPr/>
          </p:nvSpPr>
          <p:spPr bwMode="auto">
            <a:xfrm>
              <a:off x="1085850" y="5143500"/>
              <a:ext cx="107315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100" dirty="0">
                  <a:latin typeface="굴림체" pitchFamily="49" charset="-127"/>
                  <a:ea typeface="굴림체" pitchFamily="49" charset="-127"/>
                </a:rPr>
                <a:t>주문의뢰 관리</a:t>
              </a:r>
            </a:p>
          </p:txBody>
        </p:sp>
        <p:sp>
          <p:nvSpPr>
            <p:cNvPr id="19" name="Rectangle 39"/>
            <p:cNvSpPr>
              <a:spLocks noChangeArrowheads="1"/>
            </p:cNvSpPr>
            <p:nvPr/>
          </p:nvSpPr>
          <p:spPr bwMode="auto">
            <a:xfrm>
              <a:off x="1085850" y="5357813"/>
              <a:ext cx="1073150" cy="42862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ko-KR" altLang="en-US" sz="1000" b="0" dirty="0">
                  <a:latin typeface="굴림체" pitchFamily="49" charset="-127"/>
                  <a:ea typeface="굴림체" pitchFamily="49" charset="-127"/>
                </a:rPr>
                <a:t>주문관리</a:t>
              </a:r>
              <a:endParaRPr lang="en-US" altLang="ko-KR" sz="1000" b="0" dirty="0">
                <a:latin typeface="굴림체" pitchFamily="49" charset="-127"/>
                <a:ea typeface="굴림체" pitchFamily="49" charset="-127"/>
              </a:endParaRPr>
            </a:p>
            <a:p>
              <a:r>
                <a:rPr lang="ko-KR" altLang="en-US" sz="1000" b="0" dirty="0">
                  <a:latin typeface="굴림체" pitchFamily="49" charset="-127"/>
                  <a:ea typeface="굴림체" pitchFamily="49" charset="-127"/>
                </a:rPr>
                <a:t>반품요청</a:t>
              </a:r>
            </a:p>
          </p:txBody>
        </p:sp>
      </p:grpSp>
      <p:grpSp>
        <p:nvGrpSpPr>
          <p:cNvPr id="72" name="그룹 131"/>
          <p:cNvGrpSpPr/>
          <p:nvPr/>
        </p:nvGrpSpPr>
        <p:grpSpPr>
          <a:xfrm>
            <a:off x="2442715" y="5143500"/>
            <a:ext cx="1073598" cy="628664"/>
            <a:chOff x="2442715" y="5143500"/>
            <a:chExt cx="1073598" cy="628664"/>
          </a:xfrm>
        </p:grpSpPr>
        <p:sp>
          <p:nvSpPr>
            <p:cNvPr id="17" name="Rectangle 36"/>
            <p:cNvSpPr>
              <a:spLocks noChangeArrowheads="1"/>
            </p:cNvSpPr>
            <p:nvPr/>
          </p:nvSpPr>
          <p:spPr bwMode="auto">
            <a:xfrm>
              <a:off x="2443163" y="5143500"/>
              <a:ext cx="107315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100" dirty="0">
                  <a:latin typeface="굴림체" pitchFamily="49" charset="-127"/>
                  <a:ea typeface="굴림체" pitchFamily="49" charset="-127"/>
                </a:rPr>
                <a:t>주문지시관리</a:t>
              </a:r>
            </a:p>
          </p:txBody>
        </p:sp>
        <p:sp>
          <p:nvSpPr>
            <p:cNvPr id="20" name="Rectangle 40"/>
            <p:cNvSpPr>
              <a:spLocks noChangeArrowheads="1"/>
            </p:cNvSpPr>
            <p:nvPr/>
          </p:nvSpPr>
          <p:spPr bwMode="auto">
            <a:xfrm>
              <a:off x="2442715" y="5357826"/>
              <a:ext cx="1073150" cy="4143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ko-KR" altLang="en-US" sz="1000" b="0" dirty="0">
                  <a:latin typeface="굴림체" pitchFamily="49" charset="-127"/>
                  <a:ea typeface="굴림체" pitchFamily="49" charset="-127"/>
                </a:rPr>
                <a:t>주문확정</a:t>
              </a:r>
              <a:endParaRPr lang="en-US" altLang="ko-KR" sz="1000" b="0" dirty="0">
                <a:latin typeface="굴림체" pitchFamily="49" charset="-127"/>
                <a:ea typeface="굴림체" pitchFamily="49" charset="-127"/>
              </a:endParaRPr>
            </a:p>
            <a:p>
              <a:r>
                <a:rPr lang="ko-KR" altLang="en-US" sz="1000" b="0" dirty="0">
                  <a:latin typeface="굴림체" pitchFamily="49" charset="-127"/>
                  <a:ea typeface="굴림체" pitchFamily="49" charset="-127"/>
                </a:rPr>
                <a:t>반품지시</a:t>
              </a:r>
            </a:p>
          </p:txBody>
        </p:sp>
      </p:grpSp>
      <p:grpSp>
        <p:nvGrpSpPr>
          <p:cNvPr id="73" name="그룹 125"/>
          <p:cNvGrpSpPr/>
          <p:nvPr/>
        </p:nvGrpSpPr>
        <p:grpSpPr>
          <a:xfrm>
            <a:off x="5157788" y="5149850"/>
            <a:ext cx="1073150" cy="636588"/>
            <a:chOff x="5157788" y="5149850"/>
            <a:chExt cx="1073150" cy="636588"/>
          </a:xfrm>
        </p:grpSpPr>
        <p:sp>
          <p:nvSpPr>
            <p:cNvPr id="18" name="Rectangle 37"/>
            <p:cNvSpPr>
              <a:spLocks noChangeArrowheads="1"/>
            </p:cNvSpPr>
            <p:nvPr/>
          </p:nvSpPr>
          <p:spPr bwMode="auto">
            <a:xfrm>
              <a:off x="5157788" y="5149850"/>
              <a:ext cx="1073150" cy="2857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100" dirty="0">
                  <a:latin typeface="굴림체" pitchFamily="49" charset="-127"/>
                  <a:ea typeface="굴림체" pitchFamily="49" charset="-127"/>
                </a:rPr>
                <a:t>매출 </a:t>
              </a:r>
              <a:r>
                <a:rPr lang="en-US" altLang="ko-KR" sz="1100" dirty="0">
                  <a:latin typeface="굴림체" pitchFamily="49" charset="-127"/>
                  <a:ea typeface="굴림체" pitchFamily="49" charset="-127"/>
                </a:rPr>
                <a:t>/</a:t>
              </a:r>
              <a:r>
                <a:rPr lang="ko-KR" altLang="en-US" sz="1100" dirty="0">
                  <a:latin typeface="굴림체" pitchFamily="49" charset="-127"/>
                  <a:ea typeface="굴림체" pitchFamily="49" charset="-127"/>
                </a:rPr>
                <a:t>수금관리</a:t>
              </a:r>
            </a:p>
          </p:txBody>
        </p:sp>
        <p:sp>
          <p:nvSpPr>
            <p:cNvPr id="21" name="Rectangle 41"/>
            <p:cNvSpPr>
              <a:spLocks noChangeArrowheads="1"/>
            </p:cNvSpPr>
            <p:nvPr/>
          </p:nvSpPr>
          <p:spPr bwMode="auto">
            <a:xfrm>
              <a:off x="5157788" y="5397500"/>
              <a:ext cx="1073150" cy="3889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ko-KR" altLang="en-US" sz="1000" b="0" dirty="0">
                  <a:latin typeface="굴림체" pitchFamily="49" charset="-127"/>
                  <a:ea typeface="굴림체" pitchFamily="49" charset="-127"/>
                </a:rPr>
                <a:t>매출</a:t>
              </a:r>
              <a:r>
                <a:rPr lang="en-US" altLang="ko-KR" sz="1000" b="0" dirty="0">
                  <a:latin typeface="굴림체" pitchFamily="49" charset="-127"/>
                  <a:ea typeface="굴림체" pitchFamily="49" charset="-127"/>
                </a:rPr>
                <a:t>/</a:t>
              </a:r>
              <a:r>
                <a:rPr lang="ko-KR" altLang="en-US" sz="1000" b="0" dirty="0">
                  <a:latin typeface="굴림체" pitchFamily="49" charset="-127"/>
                  <a:ea typeface="굴림체" pitchFamily="49" charset="-127"/>
                </a:rPr>
                <a:t>수금하기</a:t>
              </a:r>
              <a:endParaRPr lang="en-US" altLang="ko-KR" sz="1000" b="0" dirty="0">
                <a:latin typeface="굴림체" pitchFamily="49" charset="-127"/>
                <a:ea typeface="굴림체" pitchFamily="49" charset="-127"/>
              </a:endParaRPr>
            </a:p>
            <a:p>
              <a:r>
                <a:rPr lang="ko-KR" altLang="en-US" sz="1000" b="0" dirty="0">
                  <a:latin typeface="굴림체" pitchFamily="49" charset="-127"/>
                  <a:ea typeface="굴림체" pitchFamily="49" charset="-127"/>
                </a:rPr>
                <a:t>반품처리</a:t>
              </a:r>
            </a:p>
          </p:txBody>
        </p:sp>
      </p:grpSp>
      <p:cxnSp>
        <p:nvCxnSpPr>
          <p:cNvPr id="22" name="직선 화살표 연결선 104"/>
          <p:cNvCxnSpPr>
            <a:cxnSpLocks noChangeShapeType="1"/>
            <a:stCxn id="7" idx="3"/>
            <a:endCxn id="9" idx="1"/>
          </p:cNvCxnSpPr>
          <p:nvPr/>
        </p:nvCxnSpPr>
        <p:spPr bwMode="auto">
          <a:xfrm flipV="1">
            <a:off x="1960827" y="1550194"/>
            <a:ext cx="493713" cy="7144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3" name="직선 화살표 연결선 108"/>
          <p:cNvCxnSpPr>
            <a:cxnSpLocks noChangeShapeType="1"/>
            <a:stCxn id="9" idx="3"/>
            <a:endCxn id="12" idx="1"/>
          </p:cNvCxnSpPr>
          <p:nvPr/>
        </p:nvCxnSpPr>
        <p:spPr bwMode="auto">
          <a:xfrm flipV="1">
            <a:off x="3445140" y="1547813"/>
            <a:ext cx="442360" cy="2381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grpSp>
        <p:nvGrpSpPr>
          <p:cNvPr id="74" name="그룹 130"/>
          <p:cNvGrpSpPr/>
          <p:nvPr/>
        </p:nvGrpSpPr>
        <p:grpSpPr>
          <a:xfrm>
            <a:off x="3800475" y="5143500"/>
            <a:ext cx="1073150" cy="642938"/>
            <a:chOff x="3800475" y="5143500"/>
            <a:chExt cx="1073150" cy="642938"/>
          </a:xfrm>
        </p:grpSpPr>
        <p:sp>
          <p:nvSpPr>
            <p:cNvPr id="24" name="Rectangle 36"/>
            <p:cNvSpPr>
              <a:spLocks noChangeArrowheads="1"/>
            </p:cNvSpPr>
            <p:nvPr/>
          </p:nvSpPr>
          <p:spPr bwMode="auto">
            <a:xfrm>
              <a:off x="3800475" y="5143500"/>
              <a:ext cx="107315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100" dirty="0">
                  <a:latin typeface="굴림체" pitchFamily="49" charset="-127"/>
                  <a:ea typeface="굴림체" pitchFamily="49" charset="-127"/>
                </a:rPr>
                <a:t>출고관리</a:t>
              </a:r>
            </a:p>
          </p:txBody>
        </p:sp>
        <p:sp>
          <p:nvSpPr>
            <p:cNvPr id="25" name="Rectangle 40"/>
            <p:cNvSpPr>
              <a:spLocks noChangeArrowheads="1"/>
            </p:cNvSpPr>
            <p:nvPr/>
          </p:nvSpPr>
          <p:spPr bwMode="auto">
            <a:xfrm>
              <a:off x="3800475" y="5372100"/>
              <a:ext cx="1073150" cy="4143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ko-KR" altLang="en-US" sz="1000" b="0" dirty="0">
                  <a:latin typeface="굴림체" pitchFamily="49" charset="-127"/>
                  <a:ea typeface="굴림체" pitchFamily="49" charset="-127"/>
                </a:rPr>
                <a:t>출고 처리</a:t>
              </a:r>
              <a:endParaRPr lang="en-US" altLang="ko-KR" sz="1000" b="0" dirty="0">
                <a:latin typeface="굴림체" pitchFamily="49" charset="-127"/>
                <a:ea typeface="굴림체" pitchFamily="49" charset="-127"/>
              </a:endParaRPr>
            </a:p>
            <a:p>
              <a:r>
                <a:rPr lang="ko-KR" altLang="en-US" sz="1000" b="0" dirty="0">
                  <a:latin typeface="굴림체" pitchFamily="49" charset="-127"/>
                  <a:ea typeface="굴림체" pitchFamily="49" charset="-127"/>
                </a:rPr>
                <a:t>반품 처리</a:t>
              </a:r>
            </a:p>
          </p:txBody>
        </p:sp>
      </p:grpSp>
      <p:sp>
        <p:nvSpPr>
          <p:cNvPr id="26" name="AutoShape 32"/>
          <p:cNvSpPr>
            <a:spLocks noChangeArrowheads="1"/>
          </p:cNvSpPr>
          <p:nvPr/>
        </p:nvSpPr>
        <p:spPr bwMode="auto">
          <a:xfrm>
            <a:off x="3228975" y="1857375"/>
            <a:ext cx="928688" cy="381000"/>
          </a:xfrm>
          <a:prstGeom prst="flowChartMagneticDisk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ko-KR" altLang="en-US" sz="1000">
                <a:latin typeface="굴림체" pitchFamily="49" charset="-127"/>
                <a:ea typeface="굴림체" pitchFamily="49" charset="-127"/>
              </a:rPr>
              <a:t>구매내역</a:t>
            </a:r>
            <a:r>
              <a:rPr lang="en-US" altLang="ko-KR" sz="1000">
                <a:latin typeface="굴림체" pitchFamily="49" charset="-127"/>
                <a:ea typeface="굴림체" pitchFamily="49" charset="-127"/>
              </a:rPr>
              <a:t>(</a:t>
            </a:r>
            <a:r>
              <a:rPr lang="ko-KR" altLang="en-US" sz="1000">
                <a:latin typeface="굴림체" pitchFamily="49" charset="-127"/>
                <a:ea typeface="굴림체" pitchFamily="49" charset="-127"/>
              </a:rPr>
              <a:t>재료</a:t>
            </a:r>
            <a:r>
              <a:rPr lang="en-US" altLang="ko-KR" sz="1000">
                <a:latin typeface="굴림체" pitchFamily="49" charset="-127"/>
                <a:ea typeface="굴림체" pitchFamily="49" charset="-127"/>
              </a:rPr>
              <a:t>)</a:t>
            </a:r>
            <a:endParaRPr lang="ko-KR" altLang="en-US" sz="1000">
              <a:latin typeface="굴림체" pitchFamily="49" charset="-127"/>
              <a:ea typeface="굴림체" pitchFamily="49" charset="-127"/>
            </a:endParaRPr>
          </a:p>
        </p:txBody>
      </p:sp>
      <p:cxnSp>
        <p:nvCxnSpPr>
          <p:cNvPr id="27" name="꺾인 연결선 90"/>
          <p:cNvCxnSpPr>
            <a:cxnSpLocks noChangeShapeType="1"/>
            <a:stCxn id="9" idx="3"/>
            <a:endCxn id="26" idx="1"/>
          </p:cNvCxnSpPr>
          <p:nvPr/>
        </p:nvCxnSpPr>
        <p:spPr bwMode="auto">
          <a:xfrm>
            <a:off x="3445140" y="1550194"/>
            <a:ext cx="248179" cy="307181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28" name="AutoShape 32"/>
          <p:cNvSpPr>
            <a:spLocks noChangeArrowheads="1"/>
          </p:cNvSpPr>
          <p:nvPr/>
        </p:nvSpPr>
        <p:spPr bwMode="auto">
          <a:xfrm>
            <a:off x="3714750" y="3571875"/>
            <a:ext cx="928688" cy="381000"/>
          </a:xfrm>
          <a:prstGeom prst="flowChartMagneticDisk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dirty="0">
                <a:latin typeface="굴림체" pitchFamily="49" charset="-127"/>
                <a:ea typeface="굴림체" pitchFamily="49" charset="-127"/>
              </a:rPr>
              <a:t>현재고</a:t>
            </a:r>
          </a:p>
        </p:txBody>
      </p:sp>
      <p:sp>
        <p:nvSpPr>
          <p:cNvPr id="29" name="AutoShape 32"/>
          <p:cNvSpPr>
            <a:spLocks noChangeArrowheads="1"/>
          </p:cNvSpPr>
          <p:nvPr/>
        </p:nvSpPr>
        <p:spPr bwMode="auto">
          <a:xfrm>
            <a:off x="5943600" y="4643438"/>
            <a:ext cx="928688" cy="357187"/>
          </a:xfrm>
          <a:prstGeom prst="flowChartMagneticDisk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ko-KR" altLang="en-US" sz="1000">
                <a:latin typeface="굴림체" pitchFamily="49" charset="-127"/>
                <a:ea typeface="굴림체" pitchFamily="49" charset="-127"/>
              </a:rPr>
              <a:t>매출</a:t>
            </a:r>
            <a:r>
              <a:rPr lang="en-US" altLang="ko-KR" sz="1000">
                <a:latin typeface="굴림체" pitchFamily="49" charset="-127"/>
                <a:ea typeface="굴림체" pitchFamily="49" charset="-127"/>
              </a:rPr>
              <a:t>/</a:t>
            </a:r>
            <a:r>
              <a:rPr lang="ko-KR" altLang="en-US" sz="1000">
                <a:latin typeface="굴림체" pitchFamily="49" charset="-127"/>
                <a:ea typeface="굴림체" pitchFamily="49" charset="-127"/>
              </a:rPr>
              <a:t>수금내역</a:t>
            </a:r>
          </a:p>
        </p:txBody>
      </p:sp>
      <p:sp>
        <p:nvSpPr>
          <p:cNvPr id="30" name="AutoShape 32"/>
          <p:cNvSpPr>
            <a:spLocks noChangeArrowheads="1"/>
          </p:cNvSpPr>
          <p:nvPr/>
        </p:nvSpPr>
        <p:spPr bwMode="auto">
          <a:xfrm>
            <a:off x="4729163" y="1857375"/>
            <a:ext cx="838200" cy="381000"/>
          </a:xfrm>
          <a:prstGeom prst="flowChartMagneticDisk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ko-KR" altLang="en-US" sz="1000">
                <a:latin typeface="굴림체" pitchFamily="49" charset="-127"/>
                <a:ea typeface="굴림체" pitchFamily="49" charset="-127"/>
              </a:rPr>
              <a:t>매입</a:t>
            </a:r>
            <a:r>
              <a:rPr lang="en-US" altLang="ko-KR" sz="1000">
                <a:latin typeface="굴림체" pitchFamily="49" charset="-127"/>
                <a:ea typeface="굴림체" pitchFamily="49" charset="-127"/>
              </a:rPr>
              <a:t>/</a:t>
            </a:r>
            <a:r>
              <a:rPr lang="ko-KR" altLang="en-US" sz="1000">
                <a:latin typeface="굴림체" pitchFamily="49" charset="-127"/>
                <a:ea typeface="굴림체" pitchFamily="49" charset="-127"/>
              </a:rPr>
              <a:t>지급내역</a:t>
            </a:r>
          </a:p>
        </p:txBody>
      </p:sp>
      <p:cxnSp>
        <p:nvCxnSpPr>
          <p:cNvPr id="31" name="꺾인 연결선 173"/>
          <p:cNvCxnSpPr>
            <a:cxnSpLocks noChangeShapeType="1"/>
            <a:stCxn id="12" idx="3"/>
            <a:endCxn id="30" idx="1"/>
          </p:cNvCxnSpPr>
          <p:nvPr/>
        </p:nvCxnSpPr>
        <p:spPr bwMode="auto">
          <a:xfrm>
            <a:off x="4887625" y="1547813"/>
            <a:ext cx="260638" cy="309562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2" name="Shape 212"/>
          <p:cNvCxnSpPr>
            <a:cxnSpLocks noChangeShapeType="1"/>
            <a:stCxn id="9" idx="2"/>
            <a:endCxn id="28" idx="1"/>
          </p:cNvCxnSpPr>
          <p:nvPr/>
        </p:nvCxnSpPr>
        <p:spPr bwMode="auto">
          <a:xfrm rot="16200000" flipH="1">
            <a:off x="2678642" y="2071423"/>
            <a:ext cx="1771650" cy="1229254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3" name="AutoShape 32"/>
          <p:cNvSpPr>
            <a:spLocks noChangeArrowheads="1"/>
          </p:cNvSpPr>
          <p:nvPr/>
        </p:nvSpPr>
        <p:spPr bwMode="auto">
          <a:xfrm>
            <a:off x="1800225" y="1857375"/>
            <a:ext cx="838200" cy="381000"/>
          </a:xfrm>
          <a:prstGeom prst="flowChartMagneticDisk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ko-KR" altLang="en-US" sz="1000" dirty="0">
                <a:latin typeface="굴림체" pitchFamily="49" charset="-127"/>
                <a:ea typeface="굴림체" pitchFamily="49" charset="-127"/>
              </a:rPr>
              <a:t>구매지시내역</a:t>
            </a:r>
          </a:p>
        </p:txBody>
      </p:sp>
      <p:cxnSp>
        <p:nvCxnSpPr>
          <p:cNvPr id="34" name="꺾인 연결선 280"/>
          <p:cNvCxnSpPr>
            <a:cxnSpLocks noChangeShapeType="1"/>
            <a:stCxn id="7" idx="3"/>
            <a:endCxn id="33" idx="1"/>
          </p:cNvCxnSpPr>
          <p:nvPr/>
        </p:nvCxnSpPr>
        <p:spPr bwMode="auto">
          <a:xfrm>
            <a:off x="1960827" y="1557338"/>
            <a:ext cx="258498" cy="300037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5" name="꺾인 연결선 329"/>
          <p:cNvCxnSpPr>
            <a:cxnSpLocks noChangeShapeType="1"/>
            <a:stCxn id="24" idx="0"/>
            <a:endCxn id="28" idx="3"/>
          </p:cNvCxnSpPr>
          <p:nvPr/>
        </p:nvCxnSpPr>
        <p:spPr bwMode="auto">
          <a:xfrm rot="16200000" flipV="1">
            <a:off x="3662362" y="4468813"/>
            <a:ext cx="1190625" cy="158750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7" name="Shape 348"/>
          <p:cNvCxnSpPr>
            <a:cxnSpLocks noChangeShapeType="1"/>
            <a:stCxn id="30" idx="3"/>
            <a:endCxn id="10" idx="0"/>
          </p:cNvCxnSpPr>
          <p:nvPr/>
        </p:nvCxnSpPr>
        <p:spPr bwMode="auto">
          <a:xfrm rot="16200000" flipH="1">
            <a:off x="5195888" y="2190750"/>
            <a:ext cx="547688" cy="642937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8" name="꺾인 연결선 351"/>
          <p:cNvCxnSpPr>
            <a:cxnSpLocks noChangeShapeType="1"/>
            <a:stCxn id="29" idx="1"/>
            <a:endCxn id="11" idx="2"/>
          </p:cNvCxnSpPr>
          <p:nvPr/>
        </p:nvCxnSpPr>
        <p:spPr bwMode="auto">
          <a:xfrm rot="16200000" flipV="1">
            <a:off x="5628481" y="3863182"/>
            <a:ext cx="942975" cy="617538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9" name="꺾인 연결선 353"/>
          <p:cNvCxnSpPr>
            <a:cxnSpLocks noChangeShapeType="1"/>
            <a:stCxn id="11" idx="3"/>
            <a:endCxn id="63" idx="1"/>
          </p:cNvCxnSpPr>
          <p:nvPr/>
        </p:nvCxnSpPr>
        <p:spPr bwMode="auto">
          <a:xfrm>
            <a:off x="6286500" y="3386138"/>
            <a:ext cx="576263" cy="328612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grpSp>
        <p:nvGrpSpPr>
          <p:cNvPr id="75" name="그룹 127"/>
          <p:cNvGrpSpPr/>
          <p:nvPr/>
        </p:nvGrpSpPr>
        <p:grpSpPr>
          <a:xfrm>
            <a:off x="7372350" y="5286375"/>
            <a:ext cx="1071563" cy="642938"/>
            <a:chOff x="7372350" y="5286375"/>
            <a:chExt cx="1071563" cy="642938"/>
          </a:xfrm>
        </p:grpSpPr>
        <p:sp>
          <p:nvSpPr>
            <p:cNvPr id="40" name="Rectangle 26"/>
            <p:cNvSpPr>
              <a:spLocks noChangeArrowheads="1"/>
            </p:cNvSpPr>
            <p:nvPr/>
          </p:nvSpPr>
          <p:spPr bwMode="auto">
            <a:xfrm>
              <a:off x="7372350" y="5286375"/>
              <a:ext cx="1071563" cy="233363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ko-KR" altLang="en-US" sz="1100">
                  <a:latin typeface="굴림체" pitchFamily="49" charset="-127"/>
                  <a:ea typeface="굴림체" pitchFamily="49" charset="-127"/>
                </a:rPr>
                <a:t>회원관리</a:t>
              </a:r>
            </a:p>
          </p:txBody>
        </p:sp>
        <p:sp>
          <p:nvSpPr>
            <p:cNvPr id="41" name="Rectangle 29"/>
            <p:cNvSpPr>
              <a:spLocks noChangeArrowheads="1"/>
            </p:cNvSpPr>
            <p:nvPr/>
          </p:nvSpPr>
          <p:spPr bwMode="auto">
            <a:xfrm>
              <a:off x="7372350" y="5519738"/>
              <a:ext cx="1071563" cy="409575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ko-KR" altLang="en-US" sz="1000" b="0">
                  <a:latin typeface="굴림체" pitchFamily="49" charset="-127"/>
                  <a:ea typeface="굴림체" pitchFamily="49" charset="-127"/>
                </a:rPr>
                <a:t>회원정보</a:t>
              </a:r>
              <a:endParaRPr lang="en-US" altLang="ko-KR" sz="1000" b="0">
                <a:latin typeface="굴림체" pitchFamily="49" charset="-127"/>
                <a:ea typeface="굴림체" pitchFamily="49" charset="-127"/>
              </a:endParaRPr>
            </a:p>
            <a:p>
              <a:r>
                <a:rPr lang="ko-KR" altLang="en-US" sz="1000" b="0">
                  <a:latin typeface="굴림체" pitchFamily="49" charset="-127"/>
                  <a:ea typeface="굴림체" pitchFamily="49" charset="-127"/>
                </a:rPr>
                <a:t>실적관리</a:t>
              </a:r>
              <a:endParaRPr lang="en-US" altLang="ko-KR" sz="1000" b="0">
                <a:latin typeface="굴림체" pitchFamily="49" charset="-127"/>
                <a:ea typeface="굴림체" pitchFamily="49" charset="-127"/>
              </a:endParaRPr>
            </a:p>
          </p:txBody>
        </p:sp>
      </p:grpSp>
      <p:grpSp>
        <p:nvGrpSpPr>
          <p:cNvPr id="76" name="그룹 128"/>
          <p:cNvGrpSpPr/>
          <p:nvPr/>
        </p:nvGrpSpPr>
        <p:grpSpPr>
          <a:xfrm>
            <a:off x="7372350" y="3714750"/>
            <a:ext cx="1071563" cy="785813"/>
            <a:chOff x="7372350" y="3714750"/>
            <a:chExt cx="1071563" cy="785813"/>
          </a:xfrm>
        </p:grpSpPr>
        <p:sp>
          <p:nvSpPr>
            <p:cNvPr id="42" name="Rectangle 26"/>
            <p:cNvSpPr>
              <a:spLocks noChangeArrowheads="1"/>
            </p:cNvSpPr>
            <p:nvPr/>
          </p:nvSpPr>
          <p:spPr bwMode="auto">
            <a:xfrm>
              <a:off x="7372350" y="3714750"/>
              <a:ext cx="1071563" cy="304800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ko-KR" altLang="en-US" sz="1100">
                  <a:latin typeface="굴림체" pitchFamily="49" charset="-127"/>
                  <a:ea typeface="굴림체" pitchFamily="49" charset="-127"/>
                </a:rPr>
                <a:t>제품관리</a:t>
              </a:r>
            </a:p>
          </p:txBody>
        </p:sp>
        <p:sp>
          <p:nvSpPr>
            <p:cNvPr id="43" name="Rectangle 29"/>
            <p:cNvSpPr>
              <a:spLocks noChangeArrowheads="1"/>
            </p:cNvSpPr>
            <p:nvPr/>
          </p:nvSpPr>
          <p:spPr bwMode="auto">
            <a:xfrm>
              <a:off x="7372350" y="4019550"/>
              <a:ext cx="1071563" cy="481013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ko-KR" altLang="en-US" sz="1000" b="0">
                  <a:latin typeface="굴림체" pitchFamily="49" charset="-127"/>
                  <a:ea typeface="굴림체" pitchFamily="49" charset="-127"/>
                </a:rPr>
                <a:t>제품정보</a:t>
              </a:r>
            </a:p>
          </p:txBody>
        </p:sp>
      </p:grpSp>
      <p:cxnSp>
        <p:nvCxnSpPr>
          <p:cNvPr id="44" name="꺾인 연결선 362"/>
          <p:cNvCxnSpPr>
            <a:cxnSpLocks noChangeShapeType="1"/>
            <a:stCxn id="21" idx="3"/>
            <a:endCxn id="29" idx="3"/>
          </p:cNvCxnSpPr>
          <p:nvPr/>
        </p:nvCxnSpPr>
        <p:spPr bwMode="auto">
          <a:xfrm flipV="1">
            <a:off x="6230938" y="5000625"/>
            <a:ext cx="177800" cy="592138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5" name="직선 화살표 연결선 364"/>
          <p:cNvCxnSpPr>
            <a:cxnSpLocks noChangeShapeType="1"/>
            <a:stCxn id="19" idx="3"/>
            <a:endCxn id="20" idx="1"/>
          </p:cNvCxnSpPr>
          <p:nvPr/>
        </p:nvCxnSpPr>
        <p:spPr bwMode="auto">
          <a:xfrm flipV="1">
            <a:off x="2159000" y="5564995"/>
            <a:ext cx="283715" cy="7131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6" name="직선 화살표 연결선 366"/>
          <p:cNvCxnSpPr>
            <a:cxnSpLocks noChangeShapeType="1"/>
            <a:stCxn id="20" idx="3"/>
            <a:endCxn id="25" idx="1"/>
          </p:cNvCxnSpPr>
          <p:nvPr/>
        </p:nvCxnSpPr>
        <p:spPr bwMode="auto">
          <a:xfrm>
            <a:off x="3515865" y="5564995"/>
            <a:ext cx="284610" cy="14274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7" name="직선 화살표 연결선 369"/>
          <p:cNvCxnSpPr>
            <a:cxnSpLocks noChangeShapeType="1"/>
            <a:stCxn id="25" idx="3"/>
            <a:endCxn id="21" idx="1"/>
          </p:cNvCxnSpPr>
          <p:nvPr/>
        </p:nvCxnSpPr>
        <p:spPr bwMode="auto">
          <a:xfrm>
            <a:off x="4873625" y="5580063"/>
            <a:ext cx="284163" cy="127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grpSp>
        <p:nvGrpSpPr>
          <p:cNvPr id="77" name="그룹 126"/>
          <p:cNvGrpSpPr/>
          <p:nvPr/>
        </p:nvGrpSpPr>
        <p:grpSpPr>
          <a:xfrm>
            <a:off x="7372350" y="6072188"/>
            <a:ext cx="1071563" cy="571500"/>
            <a:chOff x="7372350" y="6072188"/>
            <a:chExt cx="1071563" cy="571500"/>
          </a:xfrm>
        </p:grpSpPr>
        <p:sp>
          <p:nvSpPr>
            <p:cNvPr id="48" name="Rectangle 26"/>
            <p:cNvSpPr>
              <a:spLocks noChangeArrowheads="1"/>
            </p:cNvSpPr>
            <p:nvPr/>
          </p:nvSpPr>
          <p:spPr bwMode="auto">
            <a:xfrm>
              <a:off x="7372350" y="6072188"/>
              <a:ext cx="1071563" cy="233362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ko-KR" altLang="en-US" sz="1100" dirty="0">
                  <a:latin typeface="굴림체" pitchFamily="49" charset="-127"/>
                  <a:ea typeface="굴림체" pitchFamily="49" charset="-127"/>
                </a:rPr>
                <a:t>운송업체관리</a:t>
              </a:r>
            </a:p>
          </p:txBody>
        </p:sp>
        <p:sp>
          <p:nvSpPr>
            <p:cNvPr id="49" name="Rectangle 29"/>
            <p:cNvSpPr>
              <a:spLocks noChangeArrowheads="1"/>
            </p:cNvSpPr>
            <p:nvPr/>
          </p:nvSpPr>
          <p:spPr bwMode="auto">
            <a:xfrm>
              <a:off x="7372350" y="6305550"/>
              <a:ext cx="1071563" cy="338138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ko-KR" altLang="en-US" sz="1000" b="0">
                  <a:latin typeface="굴림체" pitchFamily="49" charset="-127"/>
                  <a:ea typeface="굴림체" pitchFamily="49" charset="-127"/>
                </a:rPr>
                <a:t>운송업체정보</a:t>
              </a:r>
            </a:p>
          </p:txBody>
        </p:sp>
      </p:grpSp>
      <p:sp>
        <p:nvSpPr>
          <p:cNvPr id="50" name="Oval 56"/>
          <p:cNvSpPr>
            <a:spLocks noChangeArrowheads="1"/>
          </p:cNvSpPr>
          <p:nvPr/>
        </p:nvSpPr>
        <p:spPr bwMode="auto">
          <a:xfrm>
            <a:off x="123825" y="5143500"/>
            <a:ext cx="785813" cy="604838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lIns="36000" tIns="36000" rIns="36000" bIns="36000" anchor="ctr"/>
          <a:lstStyle/>
          <a:p>
            <a:pPr algn="ctr" eaLnBrk="1" latinLnBrk="1" hangingPunct="1">
              <a:defRPr/>
            </a:pPr>
            <a:r>
              <a:rPr lang="ko-KR" altLang="en-US" sz="1100" b="0" dirty="0">
                <a:solidFill>
                  <a:schemeClr val="tx2"/>
                </a:solidFill>
                <a:latin typeface="굴림체" pitchFamily="49" charset="-127"/>
                <a:ea typeface="굴림체" pitchFamily="49" charset="-127"/>
              </a:rPr>
              <a:t>판매</a:t>
            </a:r>
          </a:p>
        </p:txBody>
      </p:sp>
      <p:sp>
        <p:nvSpPr>
          <p:cNvPr id="51" name="Oval 56"/>
          <p:cNvSpPr>
            <a:spLocks noChangeArrowheads="1"/>
          </p:cNvSpPr>
          <p:nvPr/>
        </p:nvSpPr>
        <p:spPr bwMode="auto">
          <a:xfrm>
            <a:off x="90488" y="1143000"/>
            <a:ext cx="773112" cy="64293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lIns="36000" tIns="36000" rIns="36000" bIns="36000" anchor="ctr"/>
          <a:lstStyle/>
          <a:p>
            <a:pPr algn="ctr" eaLnBrk="1" latinLnBrk="1" hangingPunct="1">
              <a:defRPr/>
            </a:pPr>
            <a:r>
              <a:rPr lang="ko-KR" altLang="en-US" sz="1100" b="0" dirty="0">
                <a:solidFill>
                  <a:schemeClr val="tx2"/>
                </a:solidFill>
                <a:latin typeface="굴림체" pitchFamily="49" charset="-127"/>
                <a:ea typeface="굴림체" pitchFamily="49" charset="-127"/>
              </a:rPr>
              <a:t>구매</a:t>
            </a:r>
          </a:p>
        </p:txBody>
      </p:sp>
      <p:sp>
        <p:nvSpPr>
          <p:cNvPr id="52" name="AutoShape 32"/>
          <p:cNvSpPr>
            <a:spLocks noChangeArrowheads="1"/>
          </p:cNvSpPr>
          <p:nvPr/>
        </p:nvSpPr>
        <p:spPr bwMode="auto">
          <a:xfrm>
            <a:off x="6443663" y="4071938"/>
            <a:ext cx="838200" cy="381000"/>
          </a:xfrm>
          <a:prstGeom prst="flowChartMagneticDisk">
            <a:avLst/>
          </a:prstGeom>
          <a:solidFill>
            <a:srgbClr val="FFFF99"/>
          </a:solidFill>
          <a:ln w="952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 wrap="none" anchor="ctr"/>
          <a:lstStyle/>
          <a:p>
            <a:r>
              <a:rPr lang="ko-KR" altLang="en-US" sz="1000">
                <a:latin typeface="굴림체" pitchFamily="49" charset="-127"/>
                <a:ea typeface="굴림체" pitchFamily="49" charset="-127"/>
              </a:rPr>
              <a:t>손익내역</a:t>
            </a:r>
          </a:p>
        </p:txBody>
      </p:sp>
      <p:sp>
        <p:nvSpPr>
          <p:cNvPr id="53" name="Rectangle 26"/>
          <p:cNvSpPr>
            <a:spLocks noChangeArrowheads="1"/>
          </p:cNvSpPr>
          <p:nvPr/>
        </p:nvSpPr>
        <p:spPr bwMode="auto">
          <a:xfrm>
            <a:off x="7358063" y="2786063"/>
            <a:ext cx="1071562" cy="3048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ko-KR" altLang="en-US" sz="1100">
                <a:latin typeface="굴림체" pitchFamily="49" charset="-127"/>
                <a:ea typeface="굴림체" pitchFamily="49" charset="-127"/>
              </a:rPr>
              <a:t>기초관리</a:t>
            </a:r>
          </a:p>
        </p:txBody>
      </p:sp>
      <p:sp>
        <p:nvSpPr>
          <p:cNvPr id="54" name="Rectangle 29"/>
          <p:cNvSpPr>
            <a:spLocks noChangeArrowheads="1"/>
          </p:cNvSpPr>
          <p:nvPr/>
        </p:nvSpPr>
        <p:spPr bwMode="auto">
          <a:xfrm>
            <a:off x="7358063" y="3090863"/>
            <a:ext cx="1071562" cy="409575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ko-KR" altLang="en-US" sz="1000" b="0">
                <a:latin typeface="굴림체" pitchFamily="49" charset="-127"/>
                <a:ea typeface="굴림체" pitchFamily="49" charset="-127"/>
              </a:rPr>
              <a:t>시스템관리</a:t>
            </a:r>
            <a:endParaRPr lang="en-US" altLang="ko-KR" sz="1000" b="0">
              <a:latin typeface="굴림체" pitchFamily="49" charset="-127"/>
              <a:ea typeface="굴림체" pitchFamily="49" charset="-127"/>
            </a:endParaRPr>
          </a:p>
          <a:p>
            <a:r>
              <a:rPr lang="ko-KR" altLang="en-US" sz="1000" b="0">
                <a:latin typeface="굴림체" pitchFamily="49" charset="-127"/>
                <a:ea typeface="굴림체" pitchFamily="49" charset="-127"/>
              </a:rPr>
              <a:t>권한관리</a:t>
            </a:r>
          </a:p>
        </p:txBody>
      </p:sp>
      <p:cxnSp>
        <p:nvCxnSpPr>
          <p:cNvPr id="55" name="꺾인 연결선 98"/>
          <p:cNvCxnSpPr>
            <a:cxnSpLocks noChangeShapeType="1"/>
            <a:stCxn id="28" idx="2"/>
            <a:endCxn id="16" idx="0"/>
          </p:cNvCxnSpPr>
          <p:nvPr/>
        </p:nvCxnSpPr>
        <p:spPr bwMode="auto">
          <a:xfrm rot="10800000" flipV="1">
            <a:off x="1622425" y="3762375"/>
            <a:ext cx="2092325" cy="1381125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56" name="Oval 56"/>
          <p:cNvSpPr>
            <a:spLocks noChangeArrowheads="1"/>
          </p:cNvSpPr>
          <p:nvPr/>
        </p:nvSpPr>
        <p:spPr bwMode="auto">
          <a:xfrm>
            <a:off x="7429500" y="928688"/>
            <a:ext cx="928688" cy="500062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lIns="36000" tIns="36000" rIns="36000" bIns="36000" anchor="ctr"/>
          <a:lstStyle/>
          <a:p>
            <a:pPr algn="ctr" eaLnBrk="1" latinLnBrk="1" hangingPunct="1">
              <a:defRPr/>
            </a:pPr>
            <a:r>
              <a:rPr lang="ko-KR" altLang="en-US" sz="1100" b="0" dirty="0">
                <a:solidFill>
                  <a:schemeClr val="tx2"/>
                </a:solidFill>
                <a:latin typeface="굴림체" pitchFamily="49" charset="-127"/>
                <a:ea typeface="굴림체" pitchFamily="49" charset="-127"/>
              </a:rPr>
              <a:t>기준정보</a:t>
            </a:r>
          </a:p>
        </p:txBody>
      </p:sp>
      <p:grpSp>
        <p:nvGrpSpPr>
          <p:cNvPr id="78" name="그룹 132"/>
          <p:cNvGrpSpPr/>
          <p:nvPr/>
        </p:nvGrpSpPr>
        <p:grpSpPr>
          <a:xfrm>
            <a:off x="3800475" y="5929313"/>
            <a:ext cx="1071563" cy="542925"/>
            <a:chOff x="3800475" y="5929313"/>
            <a:chExt cx="1071563" cy="542925"/>
          </a:xfrm>
        </p:grpSpPr>
        <p:sp>
          <p:nvSpPr>
            <p:cNvPr id="36" name="Rectangle 14"/>
            <p:cNvSpPr>
              <a:spLocks noChangeArrowheads="1"/>
            </p:cNvSpPr>
            <p:nvPr/>
          </p:nvSpPr>
          <p:spPr bwMode="auto">
            <a:xfrm>
              <a:off x="3800475" y="5929313"/>
              <a:ext cx="1071563" cy="214312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ko-KR" altLang="en-US" sz="1100" dirty="0">
                  <a:latin typeface="굴림체" pitchFamily="49" charset="-127"/>
                  <a:ea typeface="굴림체" pitchFamily="49" charset="-127"/>
                </a:rPr>
                <a:t>운송관리</a:t>
              </a:r>
            </a:p>
          </p:txBody>
        </p:sp>
        <p:sp>
          <p:nvSpPr>
            <p:cNvPr id="57" name="Rectangle 29"/>
            <p:cNvSpPr>
              <a:spLocks noChangeArrowheads="1"/>
            </p:cNvSpPr>
            <p:nvPr/>
          </p:nvSpPr>
          <p:spPr bwMode="auto">
            <a:xfrm>
              <a:off x="3800475" y="6134100"/>
              <a:ext cx="1071563" cy="338138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ko-KR" altLang="en-US" sz="1000" b="0" dirty="0">
                  <a:latin typeface="굴림체" pitchFamily="49" charset="-127"/>
                  <a:ea typeface="굴림체" pitchFamily="49" charset="-127"/>
                </a:rPr>
                <a:t>배송지시</a:t>
              </a:r>
              <a:endParaRPr lang="en-US" altLang="ko-KR" sz="1000" b="0" dirty="0">
                <a:latin typeface="굴림체" pitchFamily="49" charset="-127"/>
                <a:ea typeface="굴림체" pitchFamily="49" charset="-127"/>
              </a:endParaRPr>
            </a:p>
            <a:p>
              <a:r>
                <a:rPr lang="ko-KR" altLang="en-US" sz="1000" b="0" dirty="0">
                  <a:latin typeface="굴림체" pitchFamily="49" charset="-127"/>
                  <a:ea typeface="굴림체" pitchFamily="49" charset="-127"/>
                </a:rPr>
                <a:t>배송처리</a:t>
              </a:r>
            </a:p>
          </p:txBody>
        </p:sp>
      </p:grpSp>
      <p:sp>
        <p:nvSpPr>
          <p:cNvPr id="58" name="AutoShape 32"/>
          <p:cNvSpPr>
            <a:spLocks noChangeArrowheads="1"/>
          </p:cNvSpPr>
          <p:nvPr/>
        </p:nvSpPr>
        <p:spPr bwMode="auto">
          <a:xfrm>
            <a:off x="4586288" y="4643438"/>
            <a:ext cx="838200" cy="381000"/>
          </a:xfrm>
          <a:prstGeom prst="flowChartMagneticDisk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ko-KR" altLang="en-US" sz="1000">
                <a:latin typeface="굴림체" pitchFamily="49" charset="-127"/>
                <a:ea typeface="굴림체" pitchFamily="49" charset="-127"/>
              </a:rPr>
              <a:t>출고내역</a:t>
            </a:r>
          </a:p>
        </p:txBody>
      </p:sp>
      <p:sp>
        <p:nvSpPr>
          <p:cNvPr id="59" name="AutoShape 32"/>
          <p:cNvSpPr>
            <a:spLocks noChangeArrowheads="1"/>
          </p:cNvSpPr>
          <p:nvPr/>
        </p:nvSpPr>
        <p:spPr bwMode="auto">
          <a:xfrm>
            <a:off x="2555718" y="4514425"/>
            <a:ext cx="838200" cy="381000"/>
          </a:xfrm>
          <a:prstGeom prst="flowChartMagneticDisk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ko-KR" altLang="en-US" sz="1000">
                <a:latin typeface="굴림체" pitchFamily="49" charset="-127"/>
                <a:ea typeface="굴림체" pitchFamily="49" charset="-127"/>
              </a:rPr>
              <a:t>주문의뢰내역</a:t>
            </a:r>
          </a:p>
        </p:txBody>
      </p:sp>
      <p:cxnSp>
        <p:nvCxnSpPr>
          <p:cNvPr id="61" name="Shape 157"/>
          <p:cNvCxnSpPr>
            <a:cxnSpLocks noChangeShapeType="1"/>
            <a:stCxn id="25" idx="3"/>
            <a:endCxn id="58" idx="3"/>
          </p:cNvCxnSpPr>
          <p:nvPr/>
        </p:nvCxnSpPr>
        <p:spPr bwMode="auto">
          <a:xfrm flipV="1">
            <a:off x="4873625" y="5024438"/>
            <a:ext cx="131763" cy="555625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62" name="Shape 166"/>
          <p:cNvCxnSpPr>
            <a:cxnSpLocks noChangeShapeType="1"/>
            <a:stCxn id="28" idx="2"/>
            <a:endCxn id="7" idx="2"/>
          </p:cNvCxnSpPr>
          <p:nvPr/>
        </p:nvCxnSpPr>
        <p:spPr bwMode="auto">
          <a:xfrm rot="10800000">
            <a:off x="1465528" y="1800225"/>
            <a:ext cx="2249223" cy="1962150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63" name="AutoShape 32"/>
          <p:cNvSpPr>
            <a:spLocks noChangeArrowheads="1"/>
          </p:cNvSpPr>
          <p:nvPr/>
        </p:nvSpPr>
        <p:spPr bwMode="auto">
          <a:xfrm>
            <a:off x="6443663" y="3714750"/>
            <a:ext cx="838200" cy="381000"/>
          </a:xfrm>
          <a:prstGeom prst="flowChartMagneticDisk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ko-KR" altLang="en-US" sz="1000">
                <a:latin typeface="굴림체" pitchFamily="49" charset="-127"/>
                <a:ea typeface="굴림체" pitchFamily="49" charset="-127"/>
              </a:rPr>
              <a:t>수불내역</a:t>
            </a:r>
          </a:p>
        </p:txBody>
      </p:sp>
      <p:cxnSp>
        <p:nvCxnSpPr>
          <p:cNvPr id="64" name="꺾인 연결선 76"/>
          <p:cNvCxnSpPr>
            <a:cxnSpLocks noChangeShapeType="1"/>
            <a:stCxn id="26" idx="3"/>
            <a:endCxn id="10" idx="0"/>
          </p:cNvCxnSpPr>
          <p:nvPr/>
        </p:nvCxnSpPr>
        <p:spPr bwMode="auto">
          <a:xfrm rot="16200000" flipH="1">
            <a:off x="4468813" y="1463675"/>
            <a:ext cx="547688" cy="2097087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65" name="꺾인 연결선 78"/>
          <p:cNvCxnSpPr>
            <a:cxnSpLocks noChangeShapeType="1"/>
            <a:stCxn id="58" idx="1"/>
            <a:endCxn id="11" idx="2"/>
          </p:cNvCxnSpPr>
          <p:nvPr/>
        </p:nvCxnSpPr>
        <p:spPr bwMode="auto">
          <a:xfrm rot="5400000" flipH="1" flipV="1">
            <a:off x="4926806" y="3779045"/>
            <a:ext cx="942975" cy="785812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66" name="AutoShape 32"/>
          <p:cNvSpPr>
            <a:spLocks noChangeArrowheads="1"/>
          </p:cNvSpPr>
          <p:nvPr/>
        </p:nvSpPr>
        <p:spPr bwMode="auto">
          <a:xfrm>
            <a:off x="5157788" y="6357938"/>
            <a:ext cx="838200" cy="381000"/>
          </a:xfrm>
          <a:prstGeom prst="flowChartMagneticDisk">
            <a:avLst/>
          </a:prstGeom>
          <a:solidFill>
            <a:srgbClr val="FFFF99"/>
          </a:solidFill>
          <a:ln w="952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 wrap="none" anchor="ctr"/>
          <a:lstStyle/>
          <a:p>
            <a:r>
              <a:rPr lang="ko-KR" altLang="en-US" sz="1000">
                <a:latin typeface="굴림체" pitchFamily="49" charset="-127"/>
                <a:ea typeface="굴림체" pitchFamily="49" charset="-127"/>
              </a:rPr>
              <a:t>운송내역</a:t>
            </a:r>
          </a:p>
        </p:txBody>
      </p:sp>
      <p:cxnSp>
        <p:nvCxnSpPr>
          <p:cNvPr id="67" name="Shape 98"/>
          <p:cNvCxnSpPr>
            <a:cxnSpLocks noChangeShapeType="1"/>
            <a:stCxn id="25" idx="2"/>
            <a:endCxn id="36" idx="0"/>
          </p:cNvCxnSpPr>
          <p:nvPr/>
        </p:nvCxnSpPr>
        <p:spPr bwMode="auto">
          <a:xfrm rot="5400000">
            <a:off x="4265612" y="5857876"/>
            <a:ext cx="142875" cy="0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68" name="Shape 101"/>
          <p:cNvCxnSpPr>
            <a:cxnSpLocks noChangeShapeType="1"/>
            <a:stCxn id="57" idx="3"/>
            <a:endCxn id="66" idx="1"/>
          </p:cNvCxnSpPr>
          <p:nvPr/>
        </p:nvCxnSpPr>
        <p:spPr bwMode="auto">
          <a:xfrm>
            <a:off x="4872038" y="6303963"/>
            <a:ext cx="704850" cy="53975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69" name="Shape 68"/>
          <p:cNvCxnSpPr>
            <a:stCxn id="17" idx="0"/>
            <a:endCxn id="59" idx="3"/>
          </p:cNvCxnSpPr>
          <p:nvPr/>
        </p:nvCxnSpPr>
        <p:spPr bwMode="auto">
          <a:xfrm rot="16200000" flipV="1">
            <a:off x="2853241" y="5017003"/>
            <a:ext cx="248075" cy="4920"/>
          </a:xfrm>
          <a:prstGeom prst="bentConnector3">
            <a:avLst>
              <a:gd name="adj1" fmla="val 50000"/>
            </a:avLst>
          </a:prstGeom>
          <a:solidFill>
            <a:srgbClr val="99CC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1" name="꺾인 연결선 80"/>
          <p:cNvCxnSpPr>
            <a:stCxn id="19" idx="3"/>
            <a:endCxn id="59" idx="2"/>
          </p:cNvCxnSpPr>
          <p:nvPr/>
        </p:nvCxnSpPr>
        <p:spPr>
          <a:xfrm flipV="1">
            <a:off x="2159000" y="4704925"/>
            <a:ext cx="396718" cy="867201"/>
          </a:xfrm>
          <a:prstGeom prst="bentConnector3">
            <a:avLst>
              <a:gd name="adj1" fmla="val 32538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571472" y="2000240"/>
            <a:ext cx="7761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/>
              <a:t>1. </a:t>
            </a:r>
            <a:r>
              <a:rPr lang="ko-KR" altLang="en-US" sz="900" dirty="0" smtClean="0"/>
              <a:t>재고확인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3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l" eaLnBrk="1" latin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ko-KR" sz="28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en-US" altLang="ko-KR" sz="2800" dirty="0" smtClea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4. </a:t>
            </a:r>
            <a:r>
              <a:rPr lang="ko-KR" altLang="en-US" sz="28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시스템 </a:t>
            </a:r>
            <a:r>
              <a:rPr lang="ko-KR" altLang="en-US" sz="2800" dirty="0" smtClea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개발 </a:t>
            </a:r>
            <a:r>
              <a:rPr lang="ko-KR" altLang="en-US" sz="2800" dirty="0" smtClea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범위</a:t>
            </a:r>
            <a:endParaRPr lang="en-US" altLang="ko-KR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6" name="Rectangle 674"/>
          <p:cNvSpPr>
            <a:spLocks noChangeArrowheads="1"/>
          </p:cNvSpPr>
          <p:nvPr/>
        </p:nvSpPr>
        <p:spPr bwMode="auto">
          <a:xfrm>
            <a:off x="449263" y="1712913"/>
            <a:ext cx="1408112" cy="449262"/>
          </a:xfrm>
          <a:prstGeom prst="rect">
            <a:avLst/>
          </a:prstGeom>
          <a:solidFill>
            <a:srgbClr val="CCECFF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체" pitchFamily="49" charset="-127"/>
                <a:ea typeface="굴림체" pitchFamily="49" charset="-127"/>
              </a:rPr>
              <a:t>상품발주관리</a:t>
            </a:r>
          </a:p>
        </p:txBody>
      </p:sp>
      <p:sp>
        <p:nvSpPr>
          <p:cNvPr id="7" name="Rectangle 675"/>
          <p:cNvSpPr>
            <a:spLocks noChangeArrowheads="1"/>
          </p:cNvSpPr>
          <p:nvPr/>
        </p:nvSpPr>
        <p:spPr bwMode="auto">
          <a:xfrm>
            <a:off x="2227263" y="1733550"/>
            <a:ext cx="1409700" cy="449263"/>
          </a:xfrm>
          <a:prstGeom prst="rect">
            <a:avLst/>
          </a:prstGeom>
          <a:solidFill>
            <a:srgbClr val="CCECFF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체" pitchFamily="49" charset="-127"/>
                <a:ea typeface="굴림체" pitchFamily="49" charset="-127"/>
              </a:rPr>
              <a:t>입고관리</a:t>
            </a:r>
          </a:p>
        </p:txBody>
      </p:sp>
      <p:sp>
        <p:nvSpPr>
          <p:cNvPr id="8" name="Rectangle 677"/>
          <p:cNvSpPr>
            <a:spLocks noChangeArrowheads="1"/>
          </p:cNvSpPr>
          <p:nvPr/>
        </p:nvSpPr>
        <p:spPr bwMode="auto">
          <a:xfrm>
            <a:off x="428625" y="4141788"/>
            <a:ext cx="1341438" cy="449262"/>
          </a:xfrm>
          <a:prstGeom prst="rect">
            <a:avLst/>
          </a:prstGeom>
          <a:solidFill>
            <a:srgbClr val="CCECFF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체" pitchFamily="49" charset="-127"/>
                <a:ea typeface="굴림체" pitchFamily="49" charset="-127"/>
              </a:rPr>
              <a:t>주문관리</a:t>
            </a:r>
          </a:p>
        </p:txBody>
      </p:sp>
      <p:sp>
        <p:nvSpPr>
          <p:cNvPr id="9" name="Rectangle 679"/>
          <p:cNvSpPr>
            <a:spLocks noChangeArrowheads="1"/>
          </p:cNvSpPr>
          <p:nvPr/>
        </p:nvSpPr>
        <p:spPr bwMode="auto">
          <a:xfrm>
            <a:off x="2857500" y="1057275"/>
            <a:ext cx="3500438" cy="442913"/>
          </a:xfrm>
          <a:prstGeom prst="rect">
            <a:avLst/>
          </a:prstGeom>
          <a:solidFill>
            <a:srgbClr val="FFFF66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체" pitchFamily="49" charset="-127"/>
                <a:ea typeface="굴림체" pitchFamily="49" charset="-127"/>
              </a:rPr>
              <a:t>가구유통시스템</a:t>
            </a:r>
          </a:p>
        </p:txBody>
      </p:sp>
      <p:sp>
        <p:nvSpPr>
          <p:cNvPr id="10" name="Rectangle 680"/>
          <p:cNvSpPr>
            <a:spLocks noChangeArrowheads="1"/>
          </p:cNvSpPr>
          <p:nvPr/>
        </p:nvSpPr>
        <p:spPr bwMode="auto">
          <a:xfrm>
            <a:off x="428625" y="2255838"/>
            <a:ext cx="1449388" cy="1304925"/>
          </a:xfrm>
          <a:prstGeom prst="rect">
            <a:avLst/>
          </a:prstGeom>
          <a:solidFill>
            <a:srgbClr val="FFFFCC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Ctr="1"/>
          <a:lstStyle/>
          <a:p>
            <a:pPr algn="l">
              <a:defRPr/>
            </a:pPr>
            <a:r>
              <a:rPr lang="ko-KR" altLang="en-US" sz="1200" dirty="0">
                <a:latin typeface="굴림체" pitchFamily="49" charset="-127"/>
                <a:ea typeface="굴림체" pitchFamily="49" charset="-127"/>
              </a:rPr>
              <a:t>상품발주등록</a:t>
            </a:r>
            <a:endParaRPr lang="en-US" altLang="ko-KR" sz="1200" dirty="0">
              <a:latin typeface="굴림체" pitchFamily="49" charset="-127"/>
              <a:ea typeface="굴림체" pitchFamily="49" charset="-127"/>
            </a:endParaRPr>
          </a:p>
          <a:p>
            <a:pPr algn="l">
              <a:defRPr/>
            </a:pPr>
            <a:r>
              <a:rPr lang="en-US" altLang="ko-KR" sz="1200" dirty="0" smtClean="0">
                <a:latin typeface="굴림체" pitchFamily="49" charset="-127"/>
                <a:ea typeface="굴림체" pitchFamily="49" charset="-127"/>
              </a:rPr>
              <a:t>(</a:t>
            </a:r>
            <a:r>
              <a:rPr lang="ko-KR" altLang="en-US" sz="1200" dirty="0" err="1" smtClean="0">
                <a:latin typeface="굴림체" pitchFamily="49" charset="-127"/>
                <a:ea typeface="굴림체" pitchFamily="49" charset="-127"/>
              </a:rPr>
              <a:t>현재고확인</a:t>
            </a:r>
            <a:r>
              <a:rPr lang="en-US" altLang="ko-KR" sz="1200" dirty="0" smtClean="0">
                <a:latin typeface="굴림체" pitchFamily="49" charset="-127"/>
                <a:ea typeface="굴림체" pitchFamily="49" charset="-127"/>
              </a:rPr>
              <a:t>)</a:t>
            </a:r>
            <a:endParaRPr lang="en-US" altLang="ko-KR" sz="1200" dirty="0">
              <a:latin typeface="굴림체" pitchFamily="49" charset="-127"/>
              <a:ea typeface="굴림체" pitchFamily="49" charset="-127"/>
            </a:endParaRPr>
          </a:p>
          <a:p>
            <a:pPr algn="l">
              <a:defRPr/>
            </a:pPr>
            <a:r>
              <a:rPr lang="en-US" altLang="ko-KR" sz="1200" dirty="0">
                <a:latin typeface="굴림체" pitchFamily="49" charset="-127"/>
                <a:ea typeface="굴림체" pitchFamily="49" charset="-127"/>
              </a:rPr>
              <a:t>[</a:t>
            </a:r>
            <a:r>
              <a:rPr lang="ko-KR" altLang="en-US" sz="1200" dirty="0" smtClean="0">
                <a:latin typeface="굴림체" pitchFamily="49" charset="-127"/>
                <a:ea typeface="굴림체" pitchFamily="49" charset="-127"/>
              </a:rPr>
              <a:t>반품의뢰등록</a:t>
            </a:r>
            <a:r>
              <a:rPr lang="en-US" altLang="ko-KR" sz="1200" dirty="0" smtClean="0">
                <a:latin typeface="굴림체" pitchFamily="49" charset="-127"/>
                <a:ea typeface="굴림체" pitchFamily="49" charset="-127"/>
              </a:rPr>
              <a:t>]</a:t>
            </a:r>
            <a:endParaRPr lang="ko-KR" altLang="en-US" sz="1200" dirty="0">
              <a:latin typeface="굴림체" pitchFamily="49" charset="-127"/>
              <a:ea typeface="굴림체" pitchFamily="49" charset="-127"/>
            </a:endParaRPr>
          </a:p>
          <a:p>
            <a:pPr algn="l">
              <a:defRPr/>
            </a:pPr>
            <a:endParaRPr lang="en-US" altLang="ko-KR" sz="1200" dirty="0"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11" name="Rectangle 683"/>
          <p:cNvSpPr>
            <a:spLocks noChangeArrowheads="1"/>
          </p:cNvSpPr>
          <p:nvPr/>
        </p:nvSpPr>
        <p:spPr bwMode="auto">
          <a:xfrm>
            <a:off x="2219325" y="2263775"/>
            <a:ext cx="1409700" cy="1304925"/>
          </a:xfrm>
          <a:prstGeom prst="rect">
            <a:avLst/>
          </a:prstGeom>
          <a:solidFill>
            <a:srgbClr val="FFFFCC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Ctr="1"/>
          <a:lstStyle/>
          <a:p>
            <a:pPr algn="l">
              <a:defRPr/>
            </a:pPr>
            <a:r>
              <a:rPr lang="ko-KR" altLang="en-US" sz="1200" dirty="0">
                <a:latin typeface="굴림체" pitchFamily="49" charset="-127"/>
                <a:ea typeface="굴림체" pitchFamily="49" charset="-127"/>
              </a:rPr>
              <a:t>상품입고처리</a:t>
            </a:r>
            <a:endParaRPr lang="en-US" altLang="ko-KR" sz="1200" dirty="0">
              <a:latin typeface="굴림체" pitchFamily="49" charset="-127"/>
              <a:ea typeface="굴림체" pitchFamily="49" charset="-127"/>
            </a:endParaRPr>
          </a:p>
          <a:p>
            <a:pPr algn="l">
              <a:defRPr/>
            </a:pPr>
            <a:r>
              <a:rPr lang="en-US" altLang="ko-KR" sz="1200" dirty="0" smtClean="0">
                <a:latin typeface="굴림체" pitchFamily="49" charset="-127"/>
                <a:ea typeface="굴림체" pitchFamily="49" charset="-127"/>
              </a:rPr>
              <a:t>(</a:t>
            </a:r>
            <a:r>
              <a:rPr lang="ko-KR" altLang="en-US" sz="1200" dirty="0" err="1" smtClean="0">
                <a:latin typeface="굴림체" pitchFamily="49" charset="-127"/>
                <a:ea typeface="굴림체" pitchFamily="49" charset="-127"/>
              </a:rPr>
              <a:t>상품현재고처리</a:t>
            </a:r>
            <a:r>
              <a:rPr lang="en-US" altLang="ko-KR" sz="1200" dirty="0" smtClean="0">
                <a:latin typeface="굴림체" pitchFamily="49" charset="-127"/>
                <a:ea typeface="굴림체" pitchFamily="49" charset="-127"/>
              </a:rPr>
              <a:t>)</a:t>
            </a:r>
            <a:endParaRPr lang="en-US" altLang="ko-KR" sz="1200" dirty="0">
              <a:latin typeface="굴림체" pitchFamily="49" charset="-127"/>
              <a:ea typeface="굴림체" pitchFamily="49" charset="-127"/>
            </a:endParaRPr>
          </a:p>
          <a:p>
            <a:pPr algn="l">
              <a:defRPr/>
            </a:pPr>
            <a:r>
              <a:rPr lang="ko-KR" altLang="en-US" sz="1200" dirty="0">
                <a:latin typeface="굴림체" pitchFamily="49" charset="-127"/>
                <a:ea typeface="굴림체" pitchFamily="49" charset="-127"/>
              </a:rPr>
              <a:t>상품입고내역</a:t>
            </a:r>
            <a:endParaRPr lang="en-US" altLang="ko-KR" sz="1200" dirty="0">
              <a:latin typeface="굴림체" pitchFamily="49" charset="-127"/>
              <a:ea typeface="굴림체" pitchFamily="49" charset="-127"/>
            </a:endParaRPr>
          </a:p>
          <a:p>
            <a:pPr algn="l">
              <a:defRPr/>
            </a:pPr>
            <a:r>
              <a:rPr lang="en-US" altLang="ko-KR" sz="1200" dirty="0" smtClean="0">
                <a:latin typeface="굴림체" pitchFamily="49" charset="-127"/>
                <a:ea typeface="굴림체" pitchFamily="49" charset="-127"/>
              </a:rPr>
              <a:t>[</a:t>
            </a:r>
            <a:r>
              <a:rPr lang="ko-KR" altLang="en-US" sz="1200" dirty="0">
                <a:latin typeface="굴림체" pitchFamily="49" charset="-127"/>
                <a:ea typeface="굴림체" pitchFamily="49" charset="-127"/>
              </a:rPr>
              <a:t>반품등록</a:t>
            </a:r>
            <a:endParaRPr lang="en-US" altLang="ko-KR" sz="1200" dirty="0">
              <a:latin typeface="굴림체" pitchFamily="49" charset="-127"/>
              <a:ea typeface="굴림체" pitchFamily="49" charset="-127"/>
            </a:endParaRPr>
          </a:p>
          <a:p>
            <a:pPr algn="l">
              <a:defRPr/>
            </a:pPr>
            <a:r>
              <a:rPr lang="ko-KR" altLang="en-US" sz="1200" dirty="0">
                <a:latin typeface="굴림체" pitchFamily="49" charset="-127"/>
                <a:ea typeface="굴림체" pitchFamily="49" charset="-127"/>
              </a:rPr>
              <a:t>반품내역</a:t>
            </a:r>
            <a:r>
              <a:rPr lang="en-US" altLang="ko-KR" sz="1200" dirty="0">
                <a:latin typeface="굴림체" pitchFamily="49" charset="-127"/>
                <a:ea typeface="굴림체" pitchFamily="49" charset="-127"/>
              </a:rPr>
              <a:t>]</a:t>
            </a:r>
            <a:endParaRPr lang="ko-KR" altLang="en-US" sz="1200" dirty="0"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12" name="Rectangle 685"/>
          <p:cNvSpPr>
            <a:spLocks noChangeArrowheads="1"/>
          </p:cNvSpPr>
          <p:nvPr/>
        </p:nvSpPr>
        <p:spPr bwMode="auto">
          <a:xfrm>
            <a:off x="5703888" y="4214813"/>
            <a:ext cx="1368425" cy="450850"/>
          </a:xfrm>
          <a:prstGeom prst="rect">
            <a:avLst/>
          </a:prstGeom>
          <a:solidFill>
            <a:srgbClr val="CCECFF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체" pitchFamily="49" charset="-127"/>
                <a:ea typeface="굴림체" pitchFamily="49" charset="-127"/>
              </a:rPr>
              <a:t>기준정보</a:t>
            </a:r>
          </a:p>
        </p:txBody>
      </p:sp>
      <p:sp>
        <p:nvSpPr>
          <p:cNvPr id="13" name="Rectangle 686"/>
          <p:cNvSpPr>
            <a:spLocks noChangeArrowheads="1"/>
          </p:cNvSpPr>
          <p:nvPr/>
        </p:nvSpPr>
        <p:spPr bwMode="auto">
          <a:xfrm>
            <a:off x="5715000" y="4786313"/>
            <a:ext cx="1368425" cy="1214437"/>
          </a:xfrm>
          <a:prstGeom prst="rect">
            <a:avLst/>
          </a:prstGeom>
          <a:solidFill>
            <a:srgbClr val="FFFFCC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Ctr="1"/>
          <a:lstStyle/>
          <a:p>
            <a:pPr algn="l">
              <a:defRPr/>
            </a:pPr>
            <a:r>
              <a:rPr lang="ko-KR" altLang="en-US" sz="1200" dirty="0" smtClean="0">
                <a:latin typeface="굴림체" pitchFamily="49" charset="-127"/>
                <a:ea typeface="굴림체" pitchFamily="49" charset="-127"/>
              </a:rPr>
              <a:t>상품정보</a:t>
            </a:r>
            <a:endParaRPr lang="ko-KR" altLang="en-US" sz="1200" dirty="0">
              <a:latin typeface="굴림체" pitchFamily="49" charset="-127"/>
              <a:ea typeface="굴림체" pitchFamily="49" charset="-127"/>
            </a:endParaRPr>
          </a:p>
          <a:p>
            <a:pPr algn="l">
              <a:defRPr/>
            </a:pPr>
            <a:r>
              <a:rPr lang="ko-KR" altLang="en-US" sz="1200" dirty="0" smtClean="0">
                <a:latin typeface="굴림체" pitchFamily="49" charset="-127"/>
                <a:ea typeface="굴림체" pitchFamily="49" charset="-127"/>
              </a:rPr>
              <a:t>공급업체정보</a:t>
            </a:r>
            <a:endParaRPr lang="en-US" altLang="ko-KR" sz="1200" dirty="0">
              <a:latin typeface="굴림체" pitchFamily="49" charset="-127"/>
              <a:ea typeface="굴림체" pitchFamily="49" charset="-127"/>
            </a:endParaRPr>
          </a:p>
          <a:p>
            <a:pPr algn="l">
              <a:defRPr/>
            </a:pPr>
            <a:r>
              <a:rPr lang="ko-KR" altLang="en-US" sz="1200" dirty="0" smtClean="0">
                <a:latin typeface="굴림체" pitchFamily="49" charset="-127"/>
                <a:ea typeface="굴림체" pitchFamily="49" charset="-127"/>
              </a:rPr>
              <a:t>시스템관리</a:t>
            </a:r>
            <a:endParaRPr lang="en-US" altLang="ko-KR" sz="1200" dirty="0"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14" name="Rectangle 687"/>
          <p:cNvSpPr>
            <a:spLocks noChangeArrowheads="1"/>
          </p:cNvSpPr>
          <p:nvPr/>
        </p:nvSpPr>
        <p:spPr bwMode="auto">
          <a:xfrm>
            <a:off x="439738" y="4662488"/>
            <a:ext cx="1341437" cy="1260475"/>
          </a:xfrm>
          <a:prstGeom prst="rect">
            <a:avLst/>
          </a:prstGeom>
          <a:solidFill>
            <a:srgbClr val="FFFFCC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Ctr="1"/>
          <a:lstStyle/>
          <a:p>
            <a:pPr algn="l">
              <a:defRPr/>
            </a:pPr>
            <a:r>
              <a:rPr lang="ko-KR" altLang="en-US" sz="1200" dirty="0" smtClean="0">
                <a:latin typeface="굴림체" pitchFamily="49" charset="-127"/>
                <a:ea typeface="굴림체" pitchFamily="49" charset="-127"/>
              </a:rPr>
              <a:t>주문요청</a:t>
            </a:r>
            <a:endParaRPr lang="en-US" altLang="ko-KR" sz="1200" dirty="0" smtClean="0">
              <a:latin typeface="굴림체" pitchFamily="49" charset="-127"/>
              <a:ea typeface="굴림체" pitchFamily="49" charset="-127"/>
            </a:endParaRPr>
          </a:p>
          <a:p>
            <a:pPr algn="l">
              <a:defRPr/>
            </a:pPr>
            <a:r>
              <a:rPr lang="en-US" altLang="ko-KR" sz="1200" dirty="0" smtClean="0">
                <a:latin typeface="굴림체" pitchFamily="49" charset="-127"/>
                <a:ea typeface="굴림체" pitchFamily="49" charset="-127"/>
              </a:rPr>
              <a:t>(</a:t>
            </a:r>
            <a:r>
              <a:rPr lang="ko-KR" altLang="en-US" sz="1200" dirty="0" smtClean="0">
                <a:latin typeface="굴림체" pitchFamily="49" charset="-127"/>
                <a:ea typeface="굴림체" pitchFamily="49" charset="-127"/>
              </a:rPr>
              <a:t>재고확인</a:t>
            </a:r>
            <a:r>
              <a:rPr lang="en-US" altLang="ko-KR" sz="1200" dirty="0" smtClean="0">
                <a:latin typeface="굴림체" pitchFamily="49" charset="-127"/>
                <a:ea typeface="굴림체" pitchFamily="49" charset="-127"/>
              </a:rPr>
              <a:t>)</a:t>
            </a:r>
            <a:endParaRPr lang="en-US" altLang="ko-KR" sz="1200" dirty="0">
              <a:latin typeface="굴림체" pitchFamily="49" charset="-127"/>
              <a:ea typeface="굴림체" pitchFamily="49" charset="-127"/>
            </a:endParaRPr>
          </a:p>
          <a:p>
            <a:pPr algn="l">
              <a:defRPr/>
            </a:pPr>
            <a:r>
              <a:rPr lang="ko-KR" altLang="en-US" sz="1200" dirty="0">
                <a:latin typeface="굴림체" pitchFamily="49" charset="-127"/>
                <a:ea typeface="굴림체" pitchFamily="49" charset="-127"/>
              </a:rPr>
              <a:t>주문예정리스트</a:t>
            </a:r>
            <a:endParaRPr lang="en-US" altLang="ko-KR" sz="1200" dirty="0">
              <a:latin typeface="굴림체" pitchFamily="49" charset="-127"/>
              <a:ea typeface="굴림체" pitchFamily="49" charset="-127"/>
            </a:endParaRPr>
          </a:p>
          <a:p>
            <a:pPr algn="l">
              <a:defRPr/>
            </a:pPr>
            <a:r>
              <a:rPr lang="ko-KR" altLang="en-US" sz="1200" dirty="0">
                <a:latin typeface="굴림체" pitchFamily="49" charset="-127"/>
                <a:ea typeface="굴림체" pitchFamily="49" charset="-127"/>
              </a:rPr>
              <a:t>주문확정처리</a:t>
            </a:r>
            <a:endParaRPr lang="en-US" altLang="ko-KR" sz="1200" dirty="0">
              <a:latin typeface="굴림체" pitchFamily="49" charset="-127"/>
              <a:ea typeface="굴림체" pitchFamily="49" charset="-127"/>
            </a:endParaRPr>
          </a:p>
          <a:p>
            <a:pPr algn="l">
              <a:defRPr/>
            </a:pPr>
            <a:r>
              <a:rPr lang="en-US" altLang="ko-KR" sz="1200" dirty="0" smtClean="0">
                <a:latin typeface="굴림체" pitchFamily="49" charset="-127"/>
                <a:ea typeface="굴림체" pitchFamily="49" charset="-127"/>
              </a:rPr>
              <a:t>[</a:t>
            </a:r>
            <a:r>
              <a:rPr lang="ko-KR" altLang="en-US" sz="1200" dirty="0" smtClean="0">
                <a:latin typeface="굴림체" pitchFamily="49" charset="-127"/>
                <a:ea typeface="굴림체" pitchFamily="49" charset="-127"/>
              </a:rPr>
              <a:t>반품요청등록</a:t>
            </a:r>
            <a:r>
              <a:rPr lang="en-US" altLang="ko-KR" sz="1200" dirty="0" smtClean="0">
                <a:latin typeface="굴림체" pitchFamily="49" charset="-127"/>
                <a:ea typeface="굴림체" pitchFamily="49" charset="-127"/>
              </a:rPr>
              <a:t>]</a:t>
            </a:r>
            <a:endParaRPr lang="en-US" altLang="ko-KR" sz="1200" dirty="0"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15" name="Rectangle 705"/>
          <p:cNvSpPr>
            <a:spLocks noChangeArrowheads="1"/>
          </p:cNvSpPr>
          <p:nvPr/>
        </p:nvSpPr>
        <p:spPr bwMode="auto">
          <a:xfrm>
            <a:off x="5643563" y="2286000"/>
            <a:ext cx="1370012" cy="1304925"/>
          </a:xfrm>
          <a:prstGeom prst="rect">
            <a:avLst/>
          </a:prstGeom>
          <a:solidFill>
            <a:srgbClr val="FFFFCC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Ctr="1"/>
          <a:lstStyle/>
          <a:p>
            <a:pPr algn="l">
              <a:defRPr/>
            </a:pPr>
            <a:r>
              <a:rPr lang="ko-KR" altLang="en-US" sz="1200" dirty="0">
                <a:latin typeface="굴림체" pitchFamily="49" charset="-127"/>
                <a:ea typeface="굴림체" pitchFamily="49" charset="-127"/>
              </a:rPr>
              <a:t>회원가입</a:t>
            </a:r>
            <a:r>
              <a:rPr lang="en-US" altLang="ko-KR" sz="1200" dirty="0">
                <a:latin typeface="굴림체" pitchFamily="49" charset="-127"/>
                <a:ea typeface="굴림체" pitchFamily="49" charset="-127"/>
              </a:rPr>
              <a:t>/</a:t>
            </a:r>
            <a:r>
              <a:rPr lang="ko-KR" altLang="en-US" sz="1200" dirty="0">
                <a:latin typeface="굴림체" pitchFamily="49" charset="-127"/>
                <a:ea typeface="굴림체" pitchFamily="49" charset="-127"/>
              </a:rPr>
              <a:t>탈퇴</a:t>
            </a:r>
            <a:endParaRPr lang="en-US" altLang="ko-KR" sz="1200" dirty="0">
              <a:latin typeface="굴림체" pitchFamily="49" charset="-127"/>
              <a:ea typeface="굴림체" pitchFamily="49" charset="-127"/>
            </a:endParaRPr>
          </a:p>
          <a:p>
            <a:pPr algn="l">
              <a:defRPr/>
            </a:pPr>
            <a:r>
              <a:rPr lang="ko-KR" altLang="en-US" sz="1200" dirty="0" smtClean="0">
                <a:latin typeface="굴림체" pitchFamily="49" charset="-127"/>
                <a:ea typeface="굴림체" pitchFamily="49" charset="-127"/>
              </a:rPr>
              <a:t>회원권한관리</a:t>
            </a:r>
            <a:endParaRPr lang="en-US" altLang="ko-KR" sz="1200" dirty="0" smtClean="0">
              <a:latin typeface="굴림체" pitchFamily="49" charset="-127"/>
              <a:ea typeface="굴림체" pitchFamily="49" charset="-127"/>
            </a:endParaRPr>
          </a:p>
          <a:p>
            <a:pPr algn="l">
              <a:defRPr/>
            </a:pPr>
            <a:r>
              <a:rPr lang="ko-KR" altLang="en-US" sz="1200" dirty="0" smtClean="0">
                <a:latin typeface="굴림체" pitchFamily="49" charset="-127"/>
                <a:ea typeface="굴림체" pitchFamily="49" charset="-127"/>
              </a:rPr>
              <a:t>회원실적관리</a:t>
            </a:r>
            <a:endParaRPr lang="ko-KR" altLang="en-US" sz="1200" dirty="0"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16" name="Line 707"/>
          <p:cNvSpPr>
            <a:spLocks noChangeShapeType="1"/>
          </p:cNvSpPr>
          <p:nvPr/>
        </p:nvSpPr>
        <p:spPr bwMode="auto">
          <a:xfrm>
            <a:off x="8343900" y="4799013"/>
            <a:ext cx="1588" cy="2238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17" name="Line 709"/>
          <p:cNvSpPr>
            <a:spLocks noChangeShapeType="1"/>
          </p:cNvSpPr>
          <p:nvPr/>
        </p:nvSpPr>
        <p:spPr bwMode="auto">
          <a:xfrm>
            <a:off x="6715125" y="5011738"/>
            <a:ext cx="0" cy="3000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18" name="Rectangle 702"/>
          <p:cNvSpPr>
            <a:spLocks noChangeArrowheads="1"/>
          </p:cNvSpPr>
          <p:nvPr/>
        </p:nvSpPr>
        <p:spPr bwMode="auto">
          <a:xfrm>
            <a:off x="5643563" y="1766888"/>
            <a:ext cx="1370012" cy="449262"/>
          </a:xfrm>
          <a:prstGeom prst="rect">
            <a:avLst/>
          </a:prstGeom>
          <a:solidFill>
            <a:srgbClr val="CCECFF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체" pitchFamily="49" charset="-127"/>
                <a:ea typeface="굴림체" pitchFamily="49" charset="-127"/>
              </a:rPr>
              <a:t>회원관리</a:t>
            </a:r>
          </a:p>
        </p:txBody>
      </p:sp>
      <p:sp>
        <p:nvSpPr>
          <p:cNvPr id="19" name="Rectangle 696"/>
          <p:cNvSpPr>
            <a:spLocks noChangeArrowheads="1"/>
          </p:cNvSpPr>
          <p:nvPr/>
        </p:nvSpPr>
        <p:spPr bwMode="auto">
          <a:xfrm>
            <a:off x="3714750" y="6357938"/>
            <a:ext cx="5214938" cy="285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defRPr/>
            </a:pPr>
            <a:r>
              <a:rPr lang="en-US" altLang="ko-KR" sz="12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체" pitchFamily="49" charset="-127"/>
                <a:ea typeface="굴림체" pitchFamily="49" charset="-127"/>
              </a:rPr>
              <a:t>● </a:t>
            </a:r>
            <a:r>
              <a:rPr lang="ko-KR" altLang="en-US" sz="12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체" pitchFamily="49" charset="-127"/>
                <a:ea typeface="굴림체" pitchFamily="49" charset="-127"/>
              </a:rPr>
              <a:t>주황색으로 표현된 기능은 </a:t>
            </a:r>
            <a:r>
              <a:rPr lang="en-US" altLang="ko-KR" sz="12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체" pitchFamily="49" charset="-127"/>
                <a:ea typeface="굴림체" pitchFamily="49" charset="-127"/>
              </a:rPr>
              <a:t>Customizing</a:t>
            </a:r>
            <a:r>
              <a:rPr lang="ko-KR" altLang="en-US" sz="12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체" pitchFamily="49" charset="-127"/>
                <a:ea typeface="굴림체" pitchFamily="49" charset="-127"/>
              </a:rPr>
              <a:t>이나 </a:t>
            </a:r>
            <a:r>
              <a:rPr lang="en-US" altLang="ko-KR" sz="12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체" pitchFamily="49" charset="-127"/>
                <a:ea typeface="굴림체" pitchFamily="49" charset="-127"/>
              </a:rPr>
              <a:t>Add-On</a:t>
            </a:r>
            <a:r>
              <a:rPr lang="ko-KR" altLang="en-US" sz="12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체" pitchFamily="49" charset="-127"/>
                <a:ea typeface="굴림체" pitchFamily="49" charset="-127"/>
              </a:rPr>
              <a:t>이 필요한 기능임</a:t>
            </a:r>
            <a:r>
              <a:rPr lang="en-US" altLang="ko-KR" sz="12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체" pitchFamily="49" charset="-127"/>
                <a:ea typeface="굴림체" pitchFamily="49" charset="-127"/>
              </a:rPr>
              <a:t>.</a:t>
            </a:r>
          </a:p>
        </p:txBody>
      </p:sp>
      <p:sp>
        <p:nvSpPr>
          <p:cNvPr id="20" name="Rectangle 677"/>
          <p:cNvSpPr>
            <a:spLocks noChangeArrowheads="1"/>
          </p:cNvSpPr>
          <p:nvPr/>
        </p:nvSpPr>
        <p:spPr bwMode="auto">
          <a:xfrm>
            <a:off x="2263775" y="4195763"/>
            <a:ext cx="1341438" cy="449262"/>
          </a:xfrm>
          <a:prstGeom prst="rect">
            <a:avLst/>
          </a:prstGeom>
          <a:solidFill>
            <a:srgbClr val="CCECFF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체" pitchFamily="49" charset="-127"/>
                <a:ea typeface="굴림체" pitchFamily="49" charset="-127"/>
              </a:rPr>
              <a:t>출고관리</a:t>
            </a:r>
          </a:p>
        </p:txBody>
      </p:sp>
      <p:sp>
        <p:nvSpPr>
          <p:cNvPr id="21" name="Rectangle 687"/>
          <p:cNvSpPr>
            <a:spLocks noChangeArrowheads="1"/>
          </p:cNvSpPr>
          <p:nvPr/>
        </p:nvSpPr>
        <p:spPr bwMode="auto">
          <a:xfrm>
            <a:off x="2274888" y="4714875"/>
            <a:ext cx="1341437" cy="1285875"/>
          </a:xfrm>
          <a:prstGeom prst="rect">
            <a:avLst/>
          </a:prstGeom>
          <a:solidFill>
            <a:srgbClr val="FFFFCC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Ctr="1"/>
          <a:lstStyle/>
          <a:p>
            <a:pPr algn="l">
              <a:defRPr/>
            </a:pPr>
            <a:r>
              <a:rPr lang="ko-KR" altLang="en-US" sz="1200" dirty="0" smtClean="0">
                <a:latin typeface="굴림체" pitchFamily="49" charset="-127"/>
                <a:ea typeface="굴림체" pitchFamily="49" charset="-127"/>
              </a:rPr>
              <a:t>출고처리</a:t>
            </a:r>
            <a:endParaRPr lang="en-US" altLang="ko-KR" sz="1200" dirty="0" smtClean="0">
              <a:latin typeface="굴림체" pitchFamily="49" charset="-127"/>
              <a:ea typeface="굴림체" pitchFamily="49" charset="-127"/>
            </a:endParaRPr>
          </a:p>
          <a:p>
            <a:pPr algn="l">
              <a:defRPr/>
            </a:pPr>
            <a:r>
              <a:rPr lang="en-US" altLang="ko-KR" sz="1200" dirty="0" smtClean="0">
                <a:latin typeface="굴림체" pitchFamily="49" charset="-127"/>
                <a:ea typeface="굴림체" pitchFamily="49" charset="-127"/>
              </a:rPr>
              <a:t>(</a:t>
            </a:r>
            <a:r>
              <a:rPr lang="ko-KR" altLang="en-US" sz="1200" dirty="0" smtClean="0">
                <a:latin typeface="굴림체" pitchFamily="49" charset="-127"/>
                <a:ea typeface="굴림체" pitchFamily="49" charset="-127"/>
              </a:rPr>
              <a:t>주문확정확인</a:t>
            </a:r>
            <a:r>
              <a:rPr lang="en-US" altLang="ko-KR" sz="1200" dirty="0" smtClean="0">
                <a:latin typeface="굴림체" pitchFamily="49" charset="-127"/>
                <a:ea typeface="굴림체" pitchFamily="49" charset="-127"/>
              </a:rPr>
              <a:t>)</a:t>
            </a:r>
            <a:endParaRPr lang="en-US" altLang="ko-KR" sz="1200" dirty="0">
              <a:latin typeface="굴림체" pitchFamily="49" charset="-127"/>
              <a:ea typeface="굴림체" pitchFamily="49" charset="-127"/>
            </a:endParaRPr>
          </a:p>
          <a:p>
            <a:pPr algn="l">
              <a:defRPr/>
            </a:pPr>
            <a:r>
              <a:rPr lang="ko-KR" altLang="en-US" sz="1200" dirty="0" err="1" smtClean="0">
                <a:latin typeface="굴림체" pitchFamily="49" charset="-127"/>
                <a:ea typeface="굴림체" pitchFamily="49" charset="-127"/>
              </a:rPr>
              <a:t>현재고처리</a:t>
            </a:r>
            <a:endParaRPr lang="en-US" altLang="ko-KR" sz="1200" dirty="0" smtClean="0">
              <a:latin typeface="굴림체" pitchFamily="49" charset="-127"/>
              <a:ea typeface="굴림체" pitchFamily="49" charset="-127"/>
            </a:endParaRPr>
          </a:p>
          <a:p>
            <a:pPr algn="l">
              <a:defRPr/>
            </a:pPr>
            <a:r>
              <a:rPr lang="en-US" altLang="ko-KR" sz="1200" b="1" dirty="0" smtClean="0">
                <a:solidFill>
                  <a:schemeClr val="accent6"/>
                </a:solidFill>
                <a:latin typeface="굴림체" pitchFamily="49" charset="-127"/>
                <a:ea typeface="굴림체" pitchFamily="49" charset="-127"/>
              </a:rPr>
              <a:t>[</a:t>
            </a:r>
            <a:r>
              <a:rPr lang="ko-KR" altLang="en-US" sz="1200" b="1" dirty="0" smtClean="0">
                <a:solidFill>
                  <a:schemeClr val="accent6"/>
                </a:solidFill>
                <a:latin typeface="굴림체" pitchFamily="49" charset="-127"/>
                <a:ea typeface="굴림체" pitchFamily="49" charset="-127"/>
              </a:rPr>
              <a:t>배송요청</a:t>
            </a:r>
            <a:r>
              <a:rPr lang="en-US" altLang="ko-KR" sz="1200" b="1" dirty="0" smtClean="0">
                <a:solidFill>
                  <a:schemeClr val="accent6"/>
                </a:solidFill>
                <a:latin typeface="굴림체" pitchFamily="49" charset="-127"/>
                <a:ea typeface="굴림체" pitchFamily="49" charset="-127"/>
              </a:rPr>
              <a:t>]</a:t>
            </a:r>
            <a:endParaRPr lang="en-US" altLang="ko-KR" sz="1200" b="1" dirty="0">
              <a:solidFill>
                <a:schemeClr val="accent6"/>
              </a:solidFill>
              <a:latin typeface="굴림체" pitchFamily="49" charset="-127"/>
              <a:ea typeface="굴림체" pitchFamily="49" charset="-127"/>
            </a:endParaRPr>
          </a:p>
          <a:p>
            <a:pPr algn="l">
              <a:defRPr/>
            </a:pPr>
            <a:r>
              <a:rPr lang="en-US" altLang="ko-KR" sz="1200" dirty="0" smtClean="0">
                <a:latin typeface="굴림체" pitchFamily="49" charset="-127"/>
                <a:ea typeface="굴림체" pitchFamily="49" charset="-127"/>
              </a:rPr>
              <a:t>[</a:t>
            </a:r>
            <a:r>
              <a:rPr lang="ko-KR" altLang="en-US" sz="1200" dirty="0" smtClean="0">
                <a:latin typeface="굴림체" pitchFamily="49" charset="-127"/>
                <a:ea typeface="굴림체" pitchFamily="49" charset="-127"/>
              </a:rPr>
              <a:t>반품등록</a:t>
            </a:r>
            <a:r>
              <a:rPr lang="en-US" altLang="ko-KR" sz="1200" dirty="0" smtClean="0">
                <a:latin typeface="굴림체" pitchFamily="49" charset="-127"/>
                <a:ea typeface="굴림체" pitchFamily="49" charset="-127"/>
              </a:rPr>
              <a:t>]</a:t>
            </a:r>
            <a:endParaRPr lang="ko-KR" altLang="en-US" sz="1200" dirty="0"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22" name="Rectangle 687"/>
          <p:cNvSpPr>
            <a:spLocks noChangeArrowheads="1"/>
          </p:cNvSpPr>
          <p:nvPr/>
        </p:nvSpPr>
        <p:spPr bwMode="auto">
          <a:xfrm>
            <a:off x="7429500" y="4786313"/>
            <a:ext cx="1341438" cy="1143000"/>
          </a:xfrm>
          <a:prstGeom prst="rect">
            <a:avLst/>
          </a:prstGeom>
          <a:solidFill>
            <a:srgbClr val="FFFFCC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Ctr="1"/>
          <a:lstStyle/>
          <a:p>
            <a:pPr algn="l">
              <a:defRPr/>
            </a:pPr>
            <a:r>
              <a:rPr lang="ko-KR" altLang="en-US" sz="1200" dirty="0">
                <a:latin typeface="굴림체" pitchFamily="49" charset="-127"/>
                <a:ea typeface="굴림체" pitchFamily="49" charset="-127"/>
              </a:rPr>
              <a:t>운송업체정보</a:t>
            </a:r>
            <a:endParaRPr lang="en-US" altLang="ko-KR" sz="1200" dirty="0">
              <a:latin typeface="굴림체" pitchFamily="49" charset="-127"/>
              <a:ea typeface="굴림체" pitchFamily="49" charset="-127"/>
            </a:endParaRPr>
          </a:p>
          <a:p>
            <a:pPr algn="l">
              <a:defRPr/>
            </a:pPr>
            <a:r>
              <a:rPr lang="ko-KR" altLang="en-US" sz="1200" dirty="0">
                <a:latin typeface="굴림체" pitchFamily="49" charset="-127"/>
                <a:ea typeface="굴림체" pitchFamily="49" charset="-127"/>
              </a:rPr>
              <a:t>배송차량정보</a:t>
            </a:r>
            <a:endParaRPr lang="en-US" altLang="ko-KR" sz="1200" dirty="0">
              <a:latin typeface="굴림체" pitchFamily="49" charset="-127"/>
              <a:ea typeface="굴림체" pitchFamily="49" charset="-127"/>
            </a:endParaRPr>
          </a:p>
          <a:p>
            <a:pPr algn="l">
              <a:defRPr/>
            </a:pPr>
            <a:r>
              <a:rPr lang="ko-KR" altLang="en-US" sz="1200" dirty="0">
                <a:latin typeface="굴림체" pitchFamily="49" charset="-127"/>
                <a:ea typeface="굴림체" pitchFamily="49" charset="-127"/>
              </a:rPr>
              <a:t>배송완료등록</a:t>
            </a:r>
            <a:endParaRPr lang="en-US" altLang="ko-KR" sz="1200" dirty="0">
              <a:latin typeface="굴림체" pitchFamily="49" charset="-127"/>
              <a:ea typeface="굴림체" pitchFamily="49" charset="-127"/>
            </a:endParaRPr>
          </a:p>
          <a:p>
            <a:pPr algn="l">
              <a:defRPr/>
            </a:pPr>
            <a:r>
              <a:rPr lang="ko-KR" altLang="en-US" sz="1200" dirty="0">
                <a:latin typeface="굴림체" pitchFamily="49" charset="-127"/>
                <a:ea typeface="굴림체" pitchFamily="49" charset="-127"/>
              </a:rPr>
              <a:t>배송진행현황</a:t>
            </a:r>
            <a:endParaRPr lang="en-US" altLang="ko-KR" sz="1200" dirty="0"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23" name="Rectangle 721"/>
          <p:cNvSpPr>
            <a:spLocks noChangeArrowheads="1"/>
          </p:cNvSpPr>
          <p:nvPr/>
        </p:nvSpPr>
        <p:spPr bwMode="auto">
          <a:xfrm>
            <a:off x="7429500" y="4214813"/>
            <a:ext cx="1341438" cy="500062"/>
          </a:xfrm>
          <a:prstGeom prst="rect">
            <a:avLst/>
          </a:prstGeom>
          <a:solidFill>
            <a:srgbClr val="FFCC66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18000" anchor="ctr" anchorCtr="1"/>
          <a:lstStyle/>
          <a:p>
            <a:pPr algn="ctr">
              <a:defRPr/>
            </a:pPr>
            <a:r>
              <a:rPr lang="ko-KR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체" pitchFamily="49" charset="-127"/>
                <a:ea typeface="굴림체" pitchFamily="49" charset="-127"/>
              </a:rPr>
              <a:t>배송관리</a:t>
            </a:r>
          </a:p>
        </p:txBody>
      </p:sp>
      <p:sp>
        <p:nvSpPr>
          <p:cNvPr id="24" name="Rectangle 677"/>
          <p:cNvSpPr>
            <a:spLocks noChangeArrowheads="1"/>
          </p:cNvSpPr>
          <p:nvPr/>
        </p:nvSpPr>
        <p:spPr bwMode="auto">
          <a:xfrm>
            <a:off x="7286625" y="1785938"/>
            <a:ext cx="1341438" cy="449262"/>
          </a:xfrm>
          <a:prstGeom prst="rect">
            <a:avLst/>
          </a:prstGeom>
          <a:solidFill>
            <a:srgbClr val="FFC000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체" pitchFamily="49" charset="-127"/>
                <a:ea typeface="굴림체" pitchFamily="49" charset="-127"/>
              </a:rPr>
              <a:t>마감관리</a:t>
            </a:r>
          </a:p>
        </p:txBody>
      </p:sp>
      <p:sp>
        <p:nvSpPr>
          <p:cNvPr id="25" name="Rectangle 687"/>
          <p:cNvSpPr>
            <a:spLocks noChangeArrowheads="1"/>
          </p:cNvSpPr>
          <p:nvPr/>
        </p:nvSpPr>
        <p:spPr bwMode="auto">
          <a:xfrm>
            <a:off x="7286625" y="2327275"/>
            <a:ext cx="1341438" cy="1285875"/>
          </a:xfrm>
          <a:prstGeom prst="rect">
            <a:avLst/>
          </a:prstGeom>
          <a:solidFill>
            <a:srgbClr val="FFFFCC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Ctr="1"/>
          <a:lstStyle/>
          <a:p>
            <a:pPr algn="l">
              <a:defRPr/>
            </a:pPr>
            <a:r>
              <a:rPr lang="ko-KR" altLang="en-US" sz="1200" dirty="0" smtClean="0">
                <a:latin typeface="굴림체" pitchFamily="49" charset="-127"/>
                <a:ea typeface="굴림체" pitchFamily="49" charset="-127"/>
              </a:rPr>
              <a:t>재고관리</a:t>
            </a:r>
            <a:endParaRPr lang="en-US" altLang="ko-KR" sz="1200" dirty="0">
              <a:latin typeface="굴림체" pitchFamily="49" charset="-127"/>
              <a:ea typeface="굴림체" pitchFamily="49" charset="-127"/>
            </a:endParaRPr>
          </a:p>
          <a:p>
            <a:pPr algn="l">
              <a:defRPr/>
            </a:pPr>
            <a:r>
              <a:rPr lang="ko-KR" altLang="en-US" sz="1200" dirty="0">
                <a:latin typeface="굴림체" pitchFamily="49" charset="-127"/>
                <a:ea typeface="굴림체" pitchFamily="49" charset="-127"/>
              </a:rPr>
              <a:t>매출</a:t>
            </a:r>
            <a:r>
              <a:rPr lang="en-US" altLang="ko-KR" sz="1200" dirty="0">
                <a:latin typeface="굴림체" pitchFamily="49" charset="-127"/>
                <a:ea typeface="굴림체" pitchFamily="49" charset="-127"/>
              </a:rPr>
              <a:t>/</a:t>
            </a:r>
            <a:r>
              <a:rPr lang="ko-KR" altLang="en-US" sz="1200" dirty="0" smtClean="0">
                <a:latin typeface="굴림체" pitchFamily="49" charset="-127"/>
                <a:ea typeface="굴림체" pitchFamily="49" charset="-127"/>
              </a:rPr>
              <a:t>매입관리</a:t>
            </a:r>
            <a:endParaRPr lang="en-US" altLang="ko-KR" sz="1200" dirty="0">
              <a:latin typeface="굴림체" pitchFamily="49" charset="-127"/>
              <a:ea typeface="굴림체" pitchFamily="49" charset="-127"/>
            </a:endParaRPr>
          </a:p>
          <a:p>
            <a:pPr algn="l">
              <a:defRPr/>
            </a:pPr>
            <a:r>
              <a:rPr lang="ko-KR" altLang="en-US" sz="1200" dirty="0">
                <a:latin typeface="굴림체" pitchFamily="49" charset="-127"/>
                <a:ea typeface="굴림체" pitchFamily="49" charset="-127"/>
              </a:rPr>
              <a:t>손익관리</a:t>
            </a:r>
            <a:endParaRPr lang="en-US" altLang="ko-KR" sz="1200" dirty="0">
              <a:latin typeface="굴림체" pitchFamily="49" charset="-127"/>
              <a:ea typeface="굴림체" pitchFamily="49" charset="-127"/>
            </a:endParaRPr>
          </a:p>
          <a:p>
            <a:pPr algn="l">
              <a:defRPr/>
            </a:pPr>
            <a:r>
              <a:rPr lang="en-US" altLang="ko-KR" sz="1200" dirty="0" smtClean="0">
                <a:latin typeface="굴림체" pitchFamily="49" charset="-127"/>
                <a:ea typeface="굴림체" pitchFamily="49" charset="-127"/>
              </a:rPr>
              <a:t>(</a:t>
            </a:r>
            <a:r>
              <a:rPr lang="ko-KR" altLang="en-US" sz="1200" dirty="0" smtClean="0">
                <a:latin typeface="굴림체" pitchFamily="49" charset="-127"/>
                <a:ea typeface="굴림체" pitchFamily="49" charset="-127"/>
              </a:rPr>
              <a:t>수금</a:t>
            </a:r>
            <a:r>
              <a:rPr lang="en-US" altLang="ko-KR" sz="1200" dirty="0" smtClean="0">
                <a:latin typeface="굴림체" pitchFamily="49" charset="-127"/>
                <a:ea typeface="굴림체" pitchFamily="49" charset="-127"/>
              </a:rPr>
              <a:t>/</a:t>
            </a:r>
            <a:r>
              <a:rPr lang="ko-KR" altLang="en-US" sz="1200" dirty="0" smtClean="0">
                <a:latin typeface="굴림체" pitchFamily="49" charset="-127"/>
                <a:ea typeface="굴림체" pitchFamily="49" charset="-127"/>
              </a:rPr>
              <a:t>비용관리</a:t>
            </a:r>
            <a:r>
              <a:rPr lang="en-US" altLang="ko-KR" sz="1200" dirty="0" smtClean="0">
                <a:latin typeface="굴림체" pitchFamily="49" charset="-127"/>
                <a:ea typeface="굴림체" pitchFamily="49" charset="-127"/>
              </a:rPr>
              <a:t>)</a:t>
            </a:r>
            <a:endParaRPr lang="en-US" altLang="ko-KR" sz="1200" dirty="0"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26" name="Rectangle 678"/>
          <p:cNvSpPr>
            <a:spLocks noChangeArrowheads="1"/>
          </p:cNvSpPr>
          <p:nvPr/>
        </p:nvSpPr>
        <p:spPr bwMode="auto">
          <a:xfrm>
            <a:off x="3987800" y="1766888"/>
            <a:ext cx="1343025" cy="449262"/>
          </a:xfrm>
          <a:prstGeom prst="rect">
            <a:avLst/>
          </a:prstGeom>
          <a:solidFill>
            <a:srgbClr val="CCECFF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체" pitchFamily="49" charset="-127"/>
                <a:ea typeface="굴림체" pitchFamily="49" charset="-127"/>
              </a:rPr>
              <a:t>매입관리</a:t>
            </a:r>
            <a:endParaRPr lang="ko-KR" alt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27" name="Rectangle 688"/>
          <p:cNvSpPr>
            <a:spLocks noChangeArrowheads="1"/>
          </p:cNvSpPr>
          <p:nvPr/>
        </p:nvSpPr>
        <p:spPr bwMode="auto">
          <a:xfrm>
            <a:off x="4000500" y="2286000"/>
            <a:ext cx="1343025" cy="1285875"/>
          </a:xfrm>
          <a:prstGeom prst="rect">
            <a:avLst/>
          </a:prstGeom>
          <a:solidFill>
            <a:srgbClr val="FFFFCC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Ctr="1"/>
          <a:lstStyle/>
          <a:p>
            <a:pPr>
              <a:defRPr/>
            </a:pPr>
            <a:r>
              <a:rPr lang="ko-KR" altLang="en-US" sz="1200" dirty="0" smtClean="0">
                <a:latin typeface="굴림체" pitchFamily="49" charset="-127"/>
                <a:ea typeface="굴림체" pitchFamily="49" charset="-127"/>
              </a:rPr>
              <a:t>매입관리</a:t>
            </a:r>
            <a:endParaRPr lang="en-US" altLang="ko-KR" sz="1200" dirty="0">
              <a:latin typeface="굴림체" pitchFamily="49" charset="-127"/>
              <a:ea typeface="굴림체" pitchFamily="49" charset="-127"/>
            </a:endParaRPr>
          </a:p>
          <a:p>
            <a:pPr>
              <a:defRPr/>
            </a:pPr>
            <a:r>
              <a:rPr lang="ko-KR" altLang="en-US" sz="1200" dirty="0" smtClean="0">
                <a:latin typeface="굴림체" pitchFamily="49" charset="-127"/>
                <a:ea typeface="굴림체" pitchFamily="49" charset="-127"/>
              </a:rPr>
              <a:t>지급관리</a:t>
            </a:r>
            <a:endParaRPr lang="en-US" altLang="ko-KR" sz="1200" dirty="0">
              <a:latin typeface="굴림체" pitchFamily="49" charset="-127"/>
              <a:ea typeface="굴림체" pitchFamily="49" charset="-127"/>
            </a:endParaRPr>
          </a:p>
          <a:p>
            <a:pPr>
              <a:defRPr/>
            </a:pPr>
            <a:r>
              <a:rPr lang="en-US" altLang="ko-KR" sz="1200" b="1" dirty="0" smtClean="0">
                <a:solidFill>
                  <a:schemeClr val="accent6"/>
                </a:solidFill>
                <a:latin typeface="굴림체" pitchFamily="49" charset="-127"/>
                <a:ea typeface="굴림체" pitchFamily="49" charset="-127"/>
              </a:rPr>
              <a:t>[</a:t>
            </a:r>
            <a:r>
              <a:rPr lang="ko-KR" altLang="en-US" sz="1200" b="1" dirty="0">
                <a:solidFill>
                  <a:schemeClr val="accent6"/>
                </a:solidFill>
                <a:latin typeface="굴림체" pitchFamily="49" charset="-127"/>
                <a:ea typeface="굴림체" pitchFamily="49" charset="-127"/>
              </a:rPr>
              <a:t>은행연계</a:t>
            </a:r>
            <a:endParaRPr lang="en-US" altLang="ko-KR" sz="1200" b="1" dirty="0">
              <a:solidFill>
                <a:schemeClr val="accent6"/>
              </a:solidFill>
              <a:latin typeface="굴림체" pitchFamily="49" charset="-127"/>
              <a:ea typeface="굴림체" pitchFamily="49" charset="-127"/>
            </a:endParaRPr>
          </a:p>
          <a:p>
            <a:pPr>
              <a:defRPr/>
            </a:pPr>
            <a:r>
              <a:rPr lang="ko-KR" altLang="en-US" sz="1200" b="1" dirty="0">
                <a:solidFill>
                  <a:schemeClr val="accent6"/>
                </a:solidFill>
                <a:latin typeface="굴림체" pitchFamily="49" charset="-127"/>
                <a:ea typeface="굴림체" pitchFamily="49" charset="-127"/>
              </a:rPr>
              <a:t>카드결제관리</a:t>
            </a:r>
            <a:r>
              <a:rPr lang="en-US" altLang="ko-KR" sz="1200" b="1" dirty="0">
                <a:solidFill>
                  <a:schemeClr val="accent6"/>
                </a:solidFill>
                <a:latin typeface="굴림체" pitchFamily="49" charset="-127"/>
                <a:ea typeface="굴림체" pitchFamily="49" charset="-127"/>
              </a:rPr>
              <a:t>]</a:t>
            </a:r>
          </a:p>
          <a:p>
            <a:pPr>
              <a:defRPr/>
            </a:pPr>
            <a:endParaRPr lang="ko-KR" altLang="en-US" sz="1200" dirty="0">
              <a:solidFill>
                <a:srgbClr val="FFC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28" name="Rectangle 678"/>
          <p:cNvSpPr>
            <a:spLocks noChangeArrowheads="1"/>
          </p:cNvSpPr>
          <p:nvPr/>
        </p:nvSpPr>
        <p:spPr bwMode="auto">
          <a:xfrm>
            <a:off x="3987800" y="4195763"/>
            <a:ext cx="1343025" cy="449262"/>
          </a:xfrm>
          <a:prstGeom prst="rect">
            <a:avLst/>
          </a:prstGeom>
          <a:solidFill>
            <a:srgbClr val="CCECFF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체" pitchFamily="49" charset="-127"/>
                <a:ea typeface="굴림체" pitchFamily="49" charset="-127"/>
              </a:rPr>
              <a:t>매출관리</a:t>
            </a:r>
            <a:endParaRPr lang="ko-KR" alt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29" name="Rectangle 688"/>
          <p:cNvSpPr>
            <a:spLocks noChangeArrowheads="1"/>
          </p:cNvSpPr>
          <p:nvPr/>
        </p:nvSpPr>
        <p:spPr bwMode="auto">
          <a:xfrm>
            <a:off x="4000500" y="4714875"/>
            <a:ext cx="1343025" cy="1285875"/>
          </a:xfrm>
          <a:prstGeom prst="rect">
            <a:avLst/>
          </a:prstGeom>
          <a:solidFill>
            <a:srgbClr val="FFFFCC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Ctr="1"/>
          <a:lstStyle/>
          <a:p>
            <a:pPr>
              <a:defRPr/>
            </a:pPr>
            <a:r>
              <a:rPr lang="ko-KR" altLang="en-US" sz="1200" dirty="0" smtClean="0">
                <a:latin typeface="굴림체" pitchFamily="49" charset="-127"/>
                <a:ea typeface="굴림체" pitchFamily="49" charset="-127"/>
              </a:rPr>
              <a:t>매출관리</a:t>
            </a:r>
            <a:endParaRPr lang="en-US" altLang="ko-KR" sz="1200" dirty="0" smtClean="0">
              <a:latin typeface="굴림체" pitchFamily="49" charset="-127"/>
              <a:ea typeface="굴림체" pitchFamily="49" charset="-127"/>
            </a:endParaRPr>
          </a:p>
          <a:p>
            <a:pPr>
              <a:defRPr/>
            </a:pPr>
            <a:r>
              <a:rPr lang="en-US" altLang="ko-KR" sz="1200" dirty="0" smtClean="0">
                <a:latin typeface="굴림체" pitchFamily="49" charset="-127"/>
                <a:ea typeface="굴림체" pitchFamily="49" charset="-127"/>
              </a:rPr>
              <a:t>(</a:t>
            </a:r>
            <a:r>
              <a:rPr lang="ko-KR" altLang="en-US" sz="1200" dirty="0" smtClean="0">
                <a:latin typeface="굴림체" pitchFamily="49" charset="-127"/>
                <a:ea typeface="굴림체" pitchFamily="49" charset="-127"/>
              </a:rPr>
              <a:t>주문확정확인</a:t>
            </a:r>
            <a:r>
              <a:rPr lang="en-US" altLang="ko-KR" sz="1200" dirty="0" smtClean="0">
                <a:latin typeface="굴림체" pitchFamily="49" charset="-127"/>
                <a:ea typeface="굴림체" pitchFamily="49" charset="-127"/>
              </a:rPr>
              <a:t>)</a:t>
            </a:r>
            <a:endParaRPr lang="ko-KR" altLang="en-US" sz="1200" dirty="0">
              <a:latin typeface="굴림체" pitchFamily="49" charset="-127"/>
              <a:ea typeface="굴림체" pitchFamily="49" charset="-127"/>
            </a:endParaRPr>
          </a:p>
          <a:p>
            <a:pPr>
              <a:defRPr/>
            </a:pPr>
            <a:r>
              <a:rPr lang="ko-KR" altLang="en-US" sz="1200" dirty="0" smtClean="0">
                <a:latin typeface="굴림체" pitchFamily="49" charset="-127"/>
                <a:ea typeface="굴림체" pitchFamily="49" charset="-127"/>
              </a:rPr>
              <a:t>수금관리</a:t>
            </a:r>
            <a:endParaRPr lang="en-US" altLang="ko-KR" sz="1200" dirty="0">
              <a:latin typeface="굴림체" pitchFamily="49" charset="-127"/>
              <a:ea typeface="굴림체" pitchFamily="49" charset="-127"/>
            </a:endParaRPr>
          </a:p>
          <a:p>
            <a:pPr>
              <a:defRPr/>
            </a:pPr>
            <a:r>
              <a:rPr lang="en-US" altLang="ko-KR" sz="1200" b="1" dirty="0">
                <a:solidFill>
                  <a:schemeClr val="accent6"/>
                </a:solidFill>
                <a:latin typeface="굴림체" pitchFamily="49" charset="-127"/>
                <a:ea typeface="굴림체" pitchFamily="49" charset="-127"/>
              </a:rPr>
              <a:t>[</a:t>
            </a:r>
            <a:r>
              <a:rPr lang="ko-KR" altLang="en-US" sz="1200" b="1" dirty="0">
                <a:solidFill>
                  <a:schemeClr val="accent6"/>
                </a:solidFill>
                <a:latin typeface="굴림체" pitchFamily="49" charset="-127"/>
                <a:ea typeface="굴림체" pitchFamily="49" charset="-127"/>
              </a:rPr>
              <a:t>은행연계</a:t>
            </a:r>
            <a:endParaRPr lang="en-US" altLang="ko-KR" sz="1200" b="1" dirty="0">
              <a:solidFill>
                <a:schemeClr val="accent6"/>
              </a:solidFill>
              <a:latin typeface="굴림체" pitchFamily="49" charset="-127"/>
              <a:ea typeface="굴림체" pitchFamily="49" charset="-127"/>
            </a:endParaRPr>
          </a:p>
          <a:p>
            <a:pPr>
              <a:defRPr/>
            </a:pPr>
            <a:r>
              <a:rPr lang="ko-KR" altLang="en-US" sz="1200" b="1" dirty="0">
                <a:solidFill>
                  <a:schemeClr val="accent6"/>
                </a:solidFill>
                <a:latin typeface="굴림체" pitchFamily="49" charset="-127"/>
                <a:ea typeface="굴림체" pitchFamily="49" charset="-127"/>
              </a:rPr>
              <a:t>카드결제관리</a:t>
            </a:r>
            <a:r>
              <a:rPr lang="en-US" altLang="ko-KR" sz="1200" b="1" dirty="0">
                <a:solidFill>
                  <a:schemeClr val="accent6"/>
                </a:solidFill>
                <a:latin typeface="굴림체" pitchFamily="49" charset="-127"/>
                <a:ea typeface="굴림체" pitchFamily="49" charset="-127"/>
              </a:rPr>
              <a:t>]</a:t>
            </a:r>
          </a:p>
          <a:p>
            <a:pPr>
              <a:defRPr/>
            </a:pPr>
            <a:endParaRPr lang="ko-KR" altLang="en-US" sz="1200" dirty="0">
              <a:latin typeface="굴림체" pitchFamily="49" charset="-127"/>
              <a:ea typeface="굴림체" pitchFamily="49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3"/>
          <p:cNvSpPr>
            <a:spLocks noChangeArrowheads="1"/>
          </p:cNvSpPr>
          <p:nvPr/>
        </p:nvSpPr>
        <p:spPr bwMode="auto">
          <a:xfrm>
            <a:off x="0" y="0"/>
            <a:ext cx="8077200" cy="76200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l" eaLnBrk="1" latin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ko-KR" sz="28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en-US" altLang="ko-KR" sz="2800" dirty="0" smtClea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5.  </a:t>
            </a:r>
            <a:r>
              <a:rPr lang="ko-KR" altLang="en-US" sz="28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개발 일정 및 </a:t>
            </a:r>
            <a:r>
              <a:rPr lang="en-US" altLang="ko-KR" sz="28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Man Power</a:t>
            </a:r>
            <a:endParaRPr lang="en-US" altLang="ko-KR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762000" y="928688"/>
            <a:ext cx="7696200" cy="53959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 eaLnBrk="1" latinLnBrk="1" hangingPunct="1">
              <a:spcBef>
                <a:spcPct val="50000"/>
              </a:spcBef>
            </a:pPr>
            <a:r>
              <a:rPr lang="ko-KR" altLang="en-US" sz="1800" b="0" dirty="0">
                <a:latin typeface="HY헤드라인M" pitchFamily="18" charset="-127"/>
                <a:ea typeface="HY헤드라인M" pitchFamily="18" charset="-127"/>
              </a:rPr>
              <a:t>가</a:t>
            </a:r>
            <a:r>
              <a:rPr lang="en-US" altLang="ko-KR" sz="1800" b="0" dirty="0"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sz="1800" b="0" dirty="0">
                <a:latin typeface="HY헤드라인M" pitchFamily="18" charset="-127"/>
                <a:ea typeface="HY헤드라인M" pitchFamily="18" charset="-127"/>
              </a:rPr>
              <a:t>일정</a:t>
            </a:r>
            <a:endParaRPr lang="en-US" altLang="ko-KR" sz="1800" b="0" dirty="0">
              <a:latin typeface="HY헤드라인M" pitchFamily="18" charset="-127"/>
              <a:ea typeface="HY헤드라인M" pitchFamily="18" charset="-127"/>
            </a:endParaRPr>
          </a:p>
          <a:p>
            <a:pPr algn="l" eaLnBrk="1" latinLnBrk="1" hangingPunct="1">
              <a:spcBef>
                <a:spcPct val="50000"/>
              </a:spcBef>
            </a:pPr>
            <a:endParaRPr lang="en-US" altLang="ko-KR" sz="1800" b="0" dirty="0">
              <a:latin typeface="HY헤드라인M" pitchFamily="18" charset="-127"/>
              <a:ea typeface="HY헤드라인M" pitchFamily="18" charset="-127"/>
            </a:endParaRPr>
          </a:p>
          <a:p>
            <a:pPr algn="l" eaLnBrk="1" latinLnBrk="1" hangingPunct="1">
              <a:spcBef>
                <a:spcPct val="50000"/>
              </a:spcBef>
            </a:pPr>
            <a:endParaRPr lang="ko-KR" altLang="en-US" sz="1400" b="0" dirty="0">
              <a:latin typeface="HY헤드라인M" pitchFamily="18" charset="-127"/>
              <a:ea typeface="HY헤드라인M" pitchFamily="18" charset="-127"/>
            </a:endParaRPr>
          </a:p>
          <a:p>
            <a:pPr algn="l" eaLnBrk="1" latinLnBrk="1" hangingPunct="1">
              <a:spcBef>
                <a:spcPct val="50000"/>
              </a:spcBef>
            </a:pPr>
            <a:endParaRPr lang="ko-KR" altLang="en-US" sz="1400" b="0" dirty="0">
              <a:latin typeface="HY헤드라인M" pitchFamily="18" charset="-127"/>
              <a:ea typeface="HY헤드라인M" pitchFamily="18" charset="-127"/>
            </a:endParaRPr>
          </a:p>
          <a:p>
            <a:pPr algn="l" eaLnBrk="1" latinLnBrk="1" hangingPunct="1">
              <a:spcBef>
                <a:spcPct val="50000"/>
              </a:spcBef>
            </a:pPr>
            <a:endParaRPr lang="ko-KR" altLang="en-US" sz="1400" b="0" dirty="0">
              <a:latin typeface="HY헤드라인M" pitchFamily="18" charset="-127"/>
              <a:ea typeface="HY헤드라인M" pitchFamily="18" charset="-127"/>
            </a:endParaRPr>
          </a:p>
          <a:p>
            <a:pPr algn="l" eaLnBrk="1" latinLnBrk="1" hangingPunct="1">
              <a:spcBef>
                <a:spcPct val="50000"/>
              </a:spcBef>
            </a:pPr>
            <a:endParaRPr lang="ko-KR" altLang="en-US" sz="1400" b="0" dirty="0">
              <a:latin typeface="HY헤드라인M" pitchFamily="18" charset="-127"/>
              <a:ea typeface="HY헤드라인M" pitchFamily="18" charset="-127"/>
            </a:endParaRPr>
          </a:p>
          <a:p>
            <a:pPr algn="l" eaLnBrk="1" latinLnBrk="1" hangingPunct="1">
              <a:spcBef>
                <a:spcPct val="50000"/>
              </a:spcBef>
            </a:pPr>
            <a:r>
              <a:rPr lang="ko-KR" altLang="en-US" sz="1400" b="0" dirty="0">
                <a:latin typeface="HY헤드라인M" pitchFamily="18" charset="-127"/>
                <a:ea typeface="HY헤드라인M" pitchFamily="18" charset="-127"/>
              </a:rPr>
              <a:t> </a:t>
            </a:r>
            <a:endParaRPr lang="en-US" altLang="ko-KR" sz="1400" b="0" dirty="0">
              <a:latin typeface="HY헤드라인M" pitchFamily="18" charset="-127"/>
              <a:ea typeface="HY헤드라인M" pitchFamily="18" charset="-127"/>
            </a:endParaRPr>
          </a:p>
          <a:p>
            <a:pPr algn="l" eaLnBrk="1" latinLnBrk="1" hangingPunct="1">
              <a:spcBef>
                <a:spcPct val="50000"/>
              </a:spcBef>
            </a:pPr>
            <a:endParaRPr lang="en-US" altLang="ko-KR" sz="1400" b="0" dirty="0">
              <a:latin typeface="HY헤드라인M" pitchFamily="18" charset="-127"/>
              <a:ea typeface="HY헤드라인M" pitchFamily="18" charset="-127"/>
            </a:endParaRPr>
          </a:p>
          <a:p>
            <a:pPr algn="l" eaLnBrk="1" latinLnBrk="1" hangingPunct="1">
              <a:spcBef>
                <a:spcPct val="50000"/>
              </a:spcBef>
            </a:pPr>
            <a:endParaRPr lang="en-US" altLang="ko-KR" sz="1400" b="0" dirty="0">
              <a:latin typeface="HY헤드라인M" pitchFamily="18" charset="-127"/>
              <a:ea typeface="HY헤드라인M" pitchFamily="18" charset="-127"/>
            </a:endParaRPr>
          </a:p>
          <a:p>
            <a:pPr algn="l" eaLnBrk="1" latinLnBrk="1" hangingPunct="1">
              <a:spcBef>
                <a:spcPct val="50000"/>
              </a:spcBef>
            </a:pPr>
            <a:r>
              <a:rPr lang="ko-KR" altLang="en-US" sz="1400" b="0" dirty="0">
                <a:latin typeface="HY헤드라인M" pitchFamily="18" charset="-127"/>
                <a:ea typeface="HY헤드라인M" pitchFamily="18" charset="-127"/>
              </a:rPr>
              <a:t>   </a:t>
            </a:r>
          </a:p>
          <a:p>
            <a:pPr algn="l" eaLnBrk="1" latinLnBrk="1" hangingPunct="1">
              <a:spcBef>
                <a:spcPct val="50000"/>
              </a:spcBef>
            </a:pPr>
            <a:r>
              <a:rPr lang="ko-KR" altLang="en-US" sz="1800" b="0" dirty="0">
                <a:latin typeface="HY헤드라인M" pitchFamily="18" charset="-127"/>
                <a:ea typeface="HY헤드라인M" pitchFamily="18" charset="-127"/>
              </a:rPr>
              <a:t> 나</a:t>
            </a:r>
            <a:r>
              <a:rPr lang="en-US" altLang="ko-KR" sz="1800" b="0" dirty="0">
                <a:latin typeface="HY헤드라인M" pitchFamily="18" charset="-127"/>
                <a:ea typeface="HY헤드라인M" pitchFamily="18" charset="-127"/>
              </a:rPr>
              <a:t>. Man Power</a:t>
            </a:r>
          </a:p>
        </p:txBody>
      </p:sp>
      <p:graphicFrame>
        <p:nvGraphicFramePr>
          <p:cNvPr id="7" name="Group 5"/>
          <p:cNvGraphicFramePr>
            <a:graphicFrameLocks noGrp="1"/>
          </p:cNvGraphicFramePr>
          <p:nvPr/>
        </p:nvGraphicFramePr>
        <p:xfrm>
          <a:off x="1214414" y="1428736"/>
          <a:ext cx="7057055" cy="2604944"/>
        </p:xfrm>
        <a:graphic>
          <a:graphicData uri="http://schemas.openxmlformats.org/drawingml/2006/table">
            <a:tbl>
              <a:tblPr/>
              <a:tblGrid>
                <a:gridCol w="1077560"/>
                <a:gridCol w="404085"/>
                <a:gridCol w="404085"/>
                <a:gridCol w="336737"/>
                <a:gridCol w="336737"/>
                <a:gridCol w="336737"/>
                <a:gridCol w="336737"/>
                <a:gridCol w="336737"/>
                <a:gridCol w="336737"/>
                <a:gridCol w="336737"/>
                <a:gridCol w="336737"/>
                <a:gridCol w="336737"/>
                <a:gridCol w="336737"/>
                <a:gridCol w="336737"/>
                <a:gridCol w="336737"/>
                <a:gridCol w="336737"/>
                <a:gridCol w="793744"/>
              </a:tblGrid>
              <a:tr h="446364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구   분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1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일 정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비고</a:t>
                      </a:r>
                      <a:endParaRPr kumimoji="1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51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4</a:t>
                      </a: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월</a:t>
                      </a:r>
                      <a:endParaRPr kumimoji="1" lang="en-US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5</a:t>
                      </a: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월</a:t>
                      </a:r>
                      <a:endParaRPr kumimoji="1" lang="en-US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6</a:t>
                      </a: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월</a:t>
                      </a:r>
                      <a:endParaRPr kumimoji="1" lang="en-US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7</a:t>
                      </a: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월</a:t>
                      </a:r>
                      <a:endParaRPr kumimoji="1" lang="en-US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002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단계별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구축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Group 54"/>
          <p:cNvGraphicFramePr>
            <a:graphicFrameLocks noGrp="1"/>
          </p:cNvGraphicFramePr>
          <p:nvPr/>
        </p:nvGraphicFramePr>
        <p:xfrm>
          <a:off x="1295400" y="4656138"/>
          <a:ext cx="6781800" cy="1524000"/>
        </p:xfrm>
        <a:graphic>
          <a:graphicData uri="http://schemas.openxmlformats.org/drawingml/2006/table">
            <a:tbl>
              <a:tblPr/>
              <a:tblGrid>
                <a:gridCol w="1981200"/>
                <a:gridCol w="1143000"/>
                <a:gridCol w="1219200"/>
                <a:gridCol w="1143000"/>
                <a:gridCol w="1295400"/>
              </a:tblGrid>
              <a:tr h="18097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구  분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소요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(M/M)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계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고급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중급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초급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PM/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프로그래머</a:t>
                      </a:r>
                      <a:endParaRPr kumimoji="1" lang="en-US" altLang="ko-K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2</a:t>
                      </a:r>
                      <a:endParaRPr kumimoji="1" lang="ko-KR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2</a:t>
                      </a:r>
                      <a:endParaRPr kumimoji="1" lang="ko-KR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Web-</a:t>
                      </a:r>
                      <a:r>
                        <a:rPr kumimoji="1" lang="en-US" altLang="ko-KR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deginer</a:t>
                      </a: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계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17" name="직선 화살표 연결선 16"/>
          <p:cNvCxnSpPr/>
          <p:nvPr/>
        </p:nvCxnSpPr>
        <p:spPr>
          <a:xfrm flipV="1">
            <a:off x="2285984" y="3000372"/>
            <a:ext cx="2214578" cy="21426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357422" y="2786058"/>
            <a:ext cx="12858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Y헤드라인M" pitchFamily="18" charset="-127"/>
                <a:ea typeface="HY헤드라인M" pitchFamily="18" charset="-127"/>
              </a:rPr>
              <a:t>개발교육과정실시</a:t>
            </a:r>
          </a:p>
        </p:txBody>
      </p:sp>
      <p:cxnSp>
        <p:nvCxnSpPr>
          <p:cNvPr id="19" name="직선 화살표 연결선 18"/>
          <p:cNvCxnSpPr/>
          <p:nvPr/>
        </p:nvCxnSpPr>
        <p:spPr>
          <a:xfrm>
            <a:off x="2285984" y="2786058"/>
            <a:ext cx="1071570" cy="1588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302006" y="2537250"/>
            <a:ext cx="12858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sz="10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Y헤드라인M" pitchFamily="18" charset="-127"/>
                <a:ea typeface="HY헤드라인M" pitchFamily="18" charset="-127"/>
              </a:rPr>
              <a:t>제안</a:t>
            </a:r>
            <a:r>
              <a:rPr lang="en-US" altLang="ko-KR" sz="10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Y헤드라인M" pitchFamily="18" charset="-127"/>
                <a:ea typeface="HY헤드라인M" pitchFamily="18" charset="-127"/>
              </a:rPr>
              <a:t>/</a:t>
            </a:r>
            <a:r>
              <a:rPr lang="ko-KR" altLang="en-US" sz="10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Y헤드라인M" pitchFamily="18" charset="-127"/>
                <a:ea typeface="HY헤드라인M" pitchFamily="18" charset="-127"/>
              </a:rPr>
              <a:t>수행계획수립</a:t>
            </a:r>
            <a:endParaRPr lang="ko-KR" altLang="en-US" sz="1000" dirty="0">
              <a:effectLst>
                <a:outerShdw blurRad="38100" dist="38100" dir="2700000" algn="tl">
                  <a:srgbClr val="FFFFFF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428992" y="3003821"/>
            <a:ext cx="7858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Y헤드라인M" pitchFamily="18" charset="-127"/>
                <a:ea typeface="HY헤드라인M" pitchFamily="18" charset="-127"/>
              </a:rPr>
              <a:t>분석</a:t>
            </a:r>
            <a:r>
              <a:rPr lang="en-US" altLang="ko-KR" sz="10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Y헤드라인M" pitchFamily="18" charset="-127"/>
                <a:ea typeface="HY헤드라인M" pitchFamily="18" charset="-127"/>
              </a:rPr>
              <a:t>/</a:t>
            </a:r>
            <a:r>
              <a:rPr lang="ko-KR" altLang="en-US" sz="10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Y헤드라인M" pitchFamily="18" charset="-127"/>
                <a:ea typeface="HY헤드라인M" pitchFamily="18" charset="-127"/>
              </a:rPr>
              <a:t>설계</a:t>
            </a:r>
          </a:p>
        </p:txBody>
      </p:sp>
      <p:cxnSp>
        <p:nvCxnSpPr>
          <p:cNvPr id="45" name="직선 화살표 연결선 44"/>
          <p:cNvCxnSpPr/>
          <p:nvPr/>
        </p:nvCxnSpPr>
        <p:spPr>
          <a:xfrm>
            <a:off x="3428992" y="3250042"/>
            <a:ext cx="1071570" cy="1588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/>
          <p:nvPr/>
        </p:nvCxnSpPr>
        <p:spPr>
          <a:xfrm>
            <a:off x="4429124" y="3429000"/>
            <a:ext cx="1714512" cy="1588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572000" y="3214686"/>
            <a:ext cx="12858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Y헤드라인M" pitchFamily="18" charset="-127"/>
                <a:ea typeface="HY헤드라인M" pitchFamily="18" charset="-127"/>
              </a:rPr>
              <a:t>개발</a:t>
            </a:r>
            <a:r>
              <a:rPr lang="en-US" altLang="ko-KR" sz="10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Y헤드라인M" pitchFamily="18" charset="-127"/>
                <a:ea typeface="HY헤드라인M" pitchFamily="18" charset="-127"/>
              </a:rPr>
              <a:t>/</a:t>
            </a:r>
            <a:r>
              <a:rPr lang="ko-KR" altLang="en-US" sz="10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Y헤드라인M" pitchFamily="18" charset="-127"/>
                <a:ea typeface="HY헤드라인M" pitchFamily="18" charset="-127"/>
              </a:rPr>
              <a:t>단위테스트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57818" y="3395505"/>
            <a:ext cx="85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Y헤드라인M" pitchFamily="18" charset="-127"/>
                <a:ea typeface="HY헤드라인M" pitchFamily="18" charset="-127"/>
              </a:rPr>
              <a:t>통합테스트</a:t>
            </a:r>
          </a:p>
        </p:txBody>
      </p:sp>
      <p:cxnSp>
        <p:nvCxnSpPr>
          <p:cNvPr id="53" name="직선 화살표 연결선 52"/>
          <p:cNvCxnSpPr>
            <a:stCxn id="52" idx="2"/>
          </p:cNvCxnSpPr>
          <p:nvPr/>
        </p:nvCxnSpPr>
        <p:spPr>
          <a:xfrm rot="16200000" flipH="1">
            <a:off x="6071403" y="3356769"/>
            <a:ext cx="1588" cy="571502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429388" y="3571876"/>
            <a:ext cx="7858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Y헤드라인M" pitchFamily="18" charset="-127"/>
                <a:ea typeface="HY헤드라인M" pitchFamily="18" charset="-127"/>
              </a:rPr>
              <a:t>이행</a:t>
            </a:r>
          </a:p>
        </p:txBody>
      </p:sp>
      <p:cxnSp>
        <p:nvCxnSpPr>
          <p:cNvPr id="62" name="직선 화살표 연결선 61"/>
          <p:cNvCxnSpPr/>
          <p:nvPr/>
        </p:nvCxnSpPr>
        <p:spPr>
          <a:xfrm rot="16200000" flipH="1">
            <a:off x="6714345" y="3501233"/>
            <a:ext cx="1588" cy="571502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/>
          <p:cNvCxnSpPr/>
          <p:nvPr/>
        </p:nvCxnSpPr>
        <p:spPr>
          <a:xfrm rot="16200000" flipH="1">
            <a:off x="7214411" y="3681053"/>
            <a:ext cx="1588" cy="571502"/>
          </a:xfrm>
          <a:prstGeom prst="straightConnector1">
            <a:avLst/>
          </a:prstGeom>
          <a:ln w="38100">
            <a:solidFill>
              <a:srgbClr val="0070C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929454" y="3682845"/>
            <a:ext cx="9286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HY헤드라인M" pitchFamily="18" charset="-127"/>
                <a:ea typeface="HY헤드라인M" pitchFamily="18" charset="-127"/>
              </a:rPr>
              <a:t>2</a:t>
            </a:r>
            <a:r>
              <a:rPr lang="ko-KR" altLang="en-US" sz="1000" b="1" dirty="0" err="1" smtClean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HY헤드라인M" pitchFamily="18" charset="-127"/>
                <a:ea typeface="HY헤드라인M" pitchFamily="18" charset="-127"/>
              </a:rPr>
              <a:t>차개발검토</a:t>
            </a:r>
            <a:endParaRPr lang="ko-KR" altLang="en-US" sz="1000" b="1" dirty="0" smtClean="0">
              <a:solidFill>
                <a:srgbClr val="0070C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3"/>
          <p:cNvSpPr>
            <a:spLocks noChangeArrowheads="1"/>
          </p:cNvSpPr>
          <p:nvPr/>
        </p:nvSpPr>
        <p:spPr bwMode="auto">
          <a:xfrm>
            <a:off x="71406" y="-24"/>
            <a:ext cx="8077200" cy="76200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l" eaLnBrk="1" latin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ko-KR" sz="2800" dirty="0" smtClea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6. </a:t>
            </a:r>
            <a:r>
              <a:rPr lang="ko-KR" altLang="en-US" sz="2800" dirty="0" smtClea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향후 시스템 </a:t>
            </a:r>
            <a:r>
              <a:rPr lang="ko-KR" altLang="en-US" sz="2800" dirty="0" smtClea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제안 및 기대효과</a:t>
            </a:r>
            <a:endParaRPr lang="en-US" altLang="ko-KR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89" name="Text Box 3"/>
          <p:cNvSpPr txBox="1">
            <a:spLocks noChangeArrowheads="1"/>
          </p:cNvSpPr>
          <p:nvPr/>
        </p:nvSpPr>
        <p:spPr bwMode="auto">
          <a:xfrm>
            <a:off x="2133600" y="1466854"/>
            <a:ext cx="4724400" cy="4238639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85000"/>
              </a:lnSpc>
              <a:spcBef>
                <a:spcPct val="50000"/>
              </a:spcBef>
              <a:buFontTx/>
              <a:buChar char="-"/>
            </a:pPr>
            <a:endParaRPr kumimoji="0" lang="ko-KR" altLang="ko-KR" sz="1600" b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90" name="Rectangle 14"/>
          <p:cNvSpPr>
            <a:spLocks noChangeArrowheads="1"/>
          </p:cNvSpPr>
          <p:nvPr/>
        </p:nvSpPr>
        <p:spPr bwMode="auto">
          <a:xfrm>
            <a:off x="4857750" y="1776416"/>
            <a:ext cx="1571625" cy="350044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algn="ctr">
              <a:defRPr/>
            </a:pPr>
            <a:r>
              <a:rPr lang="ko-KR" altLang="en-US" sz="1600" b="0" dirty="0">
                <a:ea typeface="HY헤드라인M" pitchFamily="18" charset="-127"/>
              </a:rPr>
              <a:t>판매 관리</a:t>
            </a:r>
          </a:p>
        </p:txBody>
      </p:sp>
      <p:sp>
        <p:nvSpPr>
          <p:cNvPr id="191" name="Text Box 15"/>
          <p:cNvSpPr txBox="1">
            <a:spLocks noChangeArrowheads="1"/>
          </p:cNvSpPr>
          <p:nvPr/>
        </p:nvSpPr>
        <p:spPr bwMode="auto">
          <a:xfrm>
            <a:off x="2000250" y="2347906"/>
            <a:ext cx="381000" cy="2581291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CC99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anchor="ctr" anchorCtr="1"/>
          <a:lstStyle/>
          <a:p>
            <a:pPr algn="ctr"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0" lang="ko-KR" altLang="en-US" sz="1400" b="0">
                <a:latin typeface="HY헤드라인M" pitchFamily="18" charset="-127"/>
                <a:ea typeface="HY헤드라인M" pitchFamily="18" charset="-127"/>
              </a:rPr>
              <a:t>공</a:t>
            </a:r>
          </a:p>
          <a:p>
            <a:pPr algn="ctr"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0" lang="ko-KR" altLang="en-US" sz="1400" b="0">
                <a:latin typeface="HY헤드라인M" pitchFamily="18" charset="-127"/>
                <a:ea typeface="HY헤드라인M" pitchFamily="18" charset="-127"/>
              </a:rPr>
              <a:t>급</a:t>
            </a:r>
          </a:p>
          <a:p>
            <a:pPr algn="ctr"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0" lang="ko-KR" altLang="en-US" sz="1400" b="0">
                <a:latin typeface="HY헤드라인M" pitchFamily="18" charset="-127"/>
                <a:ea typeface="HY헤드라인M" pitchFamily="18" charset="-127"/>
              </a:rPr>
              <a:t>업</a:t>
            </a:r>
          </a:p>
          <a:p>
            <a:pPr algn="ctr"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0" lang="ko-KR" altLang="en-US" sz="1400" b="0">
                <a:latin typeface="HY헤드라인M" pitchFamily="18" charset="-127"/>
                <a:ea typeface="HY헤드라인M" pitchFamily="18" charset="-127"/>
              </a:rPr>
              <a:t>체</a:t>
            </a:r>
          </a:p>
          <a:p>
            <a:pPr algn="ctr"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0" lang="ko-KR" altLang="en-US" sz="1400" b="0">
                <a:latin typeface="HY헤드라인M" pitchFamily="18" charset="-127"/>
                <a:ea typeface="HY헤드라인M" pitchFamily="18" charset="-127"/>
              </a:rPr>
              <a:t>관</a:t>
            </a:r>
          </a:p>
          <a:p>
            <a:pPr algn="ctr"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0" lang="ko-KR" altLang="en-US" sz="1400" b="0">
                <a:latin typeface="HY헤드라인M" pitchFamily="18" charset="-127"/>
                <a:ea typeface="HY헤드라인M" pitchFamily="18" charset="-127"/>
              </a:rPr>
              <a:t>리</a:t>
            </a:r>
          </a:p>
        </p:txBody>
      </p:sp>
      <p:sp>
        <p:nvSpPr>
          <p:cNvPr id="192" name="Rectangle 16"/>
          <p:cNvSpPr>
            <a:spLocks noChangeArrowheads="1"/>
          </p:cNvSpPr>
          <p:nvPr/>
        </p:nvSpPr>
        <p:spPr bwMode="auto">
          <a:xfrm>
            <a:off x="3000364" y="1214422"/>
            <a:ext cx="3048000" cy="369332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ko-KR" altLang="en-US" b="0" dirty="0">
                <a:ea typeface="HY헤드라인M" pitchFamily="18" charset="-127"/>
              </a:rPr>
              <a:t>가구 유통 시스템</a:t>
            </a:r>
          </a:p>
        </p:txBody>
      </p:sp>
      <p:sp>
        <p:nvSpPr>
          <p:cNvPr id="193" name="AutoShape 64"/>
          <p:cNvSpPr>
            <a:spLocks noChangeArrowheads="1"/>
          </p:cNvSpPr>
          <p:nvPr/>
        </p:nvSpPr>
        <p:spPr bwMode="auto">
          <a:xfrm>
            <a:off x="7072313" y="2347916"/>
            <a:ext cx="533400" cy="457200"/>
          </a:xfrm>
          <a:prstGeom prst="lightningBolt">
            <a:avLst/>
          </a:prstGeom>
          <a:solidFill>
            <a:srgbClr val="99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4" name="AutoShape 65"/>
          <p:cNvSpPr>
            <a:spLocks noChangeArrowheads="1"/>
          </p:cNvSpPr>
          <p:nvPr/>
        </p:nvSpPr>
        <p:spPr bwMode="auto">
          <a:xfrm>
            <a:off x="7148513" y="2119316"/>
            <a:ext cx="533400" cy="457200"/>
          </a:xfrm>
          <a:prstGeom prst="lightningBolt">
            <a:avLst/>
          </a:prstGeom>
          <a:solidFill>
            <a:srgbClr val="99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5" name="AutoShape 66"/>
          <p:cNvSpPr>
            <a:spLocks noChangeArrowheads="1"/>
          </p:cNvSpPr>
          <p:nvPr/>
        </p:nvSpPr>
        <p:spPr bwMode="auto">
          <a:xfrm rot="5400000">
            <a:off x="1428750" y="3271838"/>
            <a:ext cx="533400" cy="457200"/>
          </a:xfrm>
          <a:prstGeom prst="lightningBolt">
            <a:avLst/>
          </a:prstGeom>
          <a:solidFill>
            <a:srgbClr val="99CC00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6" name="AutoShape 67"/>
          <p:cNvSpPr>
            <a:spLocks noChangeArrowheads="1"/>
          </p:cNvSpPr>
          <p:nvPr/>
        </p:nvSpPr>
        <p:spPr bwMode="auto">
          <a:xfrm rot="5400000">
            <a:off x="1428750" y="3043238"/>
            <a:ext cx="533400" cy="457200"/>
          </a:xfrm>
          <a:prstGeom prst="lightningBolt">
            <a:avLst/>
          </a:prstGeom>
          <a:solidFill>
            <a:srgbClr val="99CC00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7" name="Rectangle 75"/>
          <p:cNvSpPr>
            <a:spLocks noChangeArrowheads="1"/>
          </p:cNvSpPr>
          <p:nvPr/>
        </p:nvSpPr>
        <p:spPr bwMode="auto">
          <a:xfrm>
            <a:off x="7072330" y="3786190"/>
            <a:ext cx="1214446" cy="214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10800" rIns="18000" bIns="10800" anchor="ctr"/>
          <a:lstStyle/>
          <a:p>
            <a:pPr algn="ctr"/>
            <a:r>
              <a:rPr lang="ko-KR" altLang="en-US" sz="1200" b="0" dirty="0" smtClean="0">
                <a:solidFill>
                  <a:srgbClr val="FF0000"/>
                </a:solidFill>
                <a:ea typeface="HY헤드라인M" pitchFamily="18" charset="-127"/>
              </a:rPr>
              <a:t>배송정보연결</a:t>
            </a:r>
            <a:endParaRPr lang="ko-KR" altLang="en-US" sz="1200" b="0" dirty="0">
              <a:solidFill>
                <a:srgbClr val="FF0000"/>
              </a:solidFill>
              <a:ea typeface="HY헤드라인M" pitchFamily="18" charset="-127"/>
            </a:endParaRPr>
          </a:p>
        </p:txBody>
      </p:sp>
      <p:sp>
        <p:nvSpPr>
          <p:cNvPr id="198" name="Rectangle 68"/>
          <p:cNvSpPr>
            <a:spLocks noChangeArrowheads="1"/>
          </p:cNvSpPr>
          <p:nvPr/>
        </p:nvSpPr>
        <p:spPr bwMode="auto">
          <a:xfrm>
            <a:off x="2571750" y="1776416"/>
            <a:ext cx="1600200" cy="35004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algn="ctr">
              <a:defRPr/>
            </a:pPr>
            <a:r>
              <a:rPr lang="ko-KR" altLang="en-US" sz="1600" b="0" dirty="0">
                <a:ea typeface="HY헤드라인M" pitchFamily="18" charset="-127"/>
              </a:rPr>
              <a:t>구매관리</a:t>
            </a:r>
          </a:p>
        </p:txBody>
      </p:sp>
      <p:sp>
        <p:nvSpPr>
          <p:cNvPr id="199" name="Rectangle 73"/>
          <p:cNvSpPr>
            <a:spLocks noChangeArrowheads="1"/>
          </p:cNvSpPr>
          <p:nvPr/>
        </p:nvSpPr>
        <p:spPr bwMode="auto">
          <a:xfrm>
            <a:off x="2857500" y="2466978"/>
            <a:ext cx="1143000" cy="307777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ko-KR" altLang="en-US" sz="1400" dirty="0">
                <a:ea typeface="HY헤드라인M" pitchFamily="18" charset="-127"/>
              </a:rPr>
              <a:t>발주관리</a:t>
            </a:r>
          </a:p>
        </p:txBody>
      </p:sp>
      <p:sp>
        <p:nvSpPr>
          <p:cNvPr id="200" name="Rectangle 11"/>
          <p:cNvSpPr>
            <a:spLocks noChangeArrowheads="1"/>
          </p:cNvSpPr>
          <p:nvPr/>
        </p:nvSpPr>
        <p:spPr bwMode="auto">
          <a:xfrm>
            <a:off x="4357688" y="2990849"/>
            <a:ext cx="381000" cy="11430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ko-KR" altLang="en-US" sz="1400" dirty="0">
                <a:ea typeface="HY헤드라인M" pitchFamily="18" charset="-127"/>
              </a:rPr>
              <a:t>재</a:t>
            </a:r>
          </a:p>
          <a:p>
            <a:pPr algn="ctr"/>
            <a:r>
              <a:rPr lang="ko-KR" altLang="en-US" sz="1400" dirty="0">
                <a:ea typeface="HY헤드라인M" pitchFamily="18" charset="-127"/>
              </a:rPr>
              <a:t>고</a:t>
            </a:r>
          </a:p>
          <a:p>
            <a:pPr algn="ctr"/>
            <a:r>
              <a:rPr lang="ko-KR" altLang="en-US" sz="1400" dirty="0">
                <a:ea typeface="HY헤드라인M" pitchFamily="18" charset="-127"/>
              </a:rPr>
              <a:t>관</a:t>
            </a:r>
          </a:p>
          <a:p>
            <a:pPr algn="ctr"/>
            <a:r>
              <a:rPr lang="ko-KR" altLang="en-US" sz="1400" dirty="0">
                <a:ea typeface="HY헤드라인M" pitchFamily="18" charset="-127"/>
              </a:rPr>
              <a:t>리</a:t>
            </a:r>
          </a:p>
        </p:txBody>
      </p:sp>
      <p:sp>
        <p:nvSpPr>
          <p:cNvPr id="201" name="Rectangle 12"/>
          <p:cNvSpPr>
            <a:spLocks noChangeArrowheads="1"/>
          </p:cNvSpPr>
          <p:nvPr/>
        </p:nvSpPr>
        <p:spPr bwMode="auto">
          <a:xfrm>
            <a:off x="2857500" y="3262966"/>
            <a:ext cx="1143000" cy="307777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ko-KR" altLang="en-US" sz="1400" dirty="0">
                <a:ea typeface="HY헤드라인M" pitchFamily="18" charset="-127"/>
              </a:rPr>
              <a:t>입고관리</a:t>
            </a:r>
          </a:p>
        </p:txBody>
      </p:sp>
      <p:sp>
        <p:nvSpPr>
          <p:cNvPr id="202" name="Rectangle 77"/>
          <p:cNvSpPr>
            <a:spLocks noChangeArrowheads="1"/>
          </p:cNvSpPr>
          <p:nvPr/>
        </p:nvSpPr>
        <p:spPr bwMode="auto">
          <a:xfrm>
            <a:off x="2857500" y="3997764"/>
            <a:ext cx="1143000" cy="307777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ko-KR" altLang="en-US" sz="1400" dirty="0">
                <a:ea typeface="HY헤드라인M" pitchFamily="18" charset="-127"/>
              </a:rPr>
              <a:t>매입관리</a:t>
            </a:r>
          </a:p>
        </p:txBody>
      </p:sp>
      <p:sp>
        <p:nvSpPr>
          <p:cNvPr id="203" name="Text Box 13"/>
          <p:cNvSpPr txBox="1">
            <a:spLocks noChangeArrowheads="1"/>
          </p:cNvSpPr>
          <p:nvPr/>
        </p:nvSpPr>
        <p:spPr bwMode="auto">
          <a:xfrm>
            <a:off x="6643688" y="1919291"/>
            <a:ext cx="381000" cy="1571624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CECF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 eaLnBrk="1" hangingPunct="1">
              <a:lnSpc>
                <a:spcPct val="150000"/>
              </a:lnSpc>
            </a:pPr>
            <a:r>
              <a:rPr kumimoji="0" lang="ko-KR" altLang="en-US" sz="1400" dirty="0">
                <a:latin typeface="HY헤드라인M" pitchFamily="18" charset="-127"/>
                <a:ea typeface="HY헤드라인M" pitchFamily="18" charset="-127"/>
              </a:rPr>
              <a:t>고</a:t>
            </a:r>
            <a:endParaRPr kumimoji="0" lang="en-US" altLang="ko-KR" sz="1400" dirty="0">
              <a:latin typeface="HY헤드라인M" pitchFamily="18" charset="-127"/>
              <a:ea typeface="HY헤드라인M" pitchFamily="18" charset="-127"/>
            </a:endParaRPr>
          </a:p>
          <a:p>
            <a:pPr algn="ctr" eaLnBrk="1" hangingPunct="1">
              <a:lnSpc>
                <a:spcPct val="150000"/>
              </a:lnSpc>
            </a:pPr>
            <a:r>
              <a:rPr kumimoji="0" lang="ko-KR" altLang="en-US" sz="1400" dirty="0">
                <a:latin typeface="HY헤드라인M" pitchFamily="18" charset="-127"/>
                <a:ea typeface="HY헤드라인M" pitchFamily="18" charset="-127"/>
              </a:rPr>
              <a:t>객</a:t>
            </a:r>
          </a:p>
          <a:p>
            <a:pPr algn="ctr" eaLnBrk="1" hangingPunct="1">
              <a:lnSpc>
                <a:spcPct val="150000"/>
              </a:lnSpc>
            </a:pPr>
            <a:r>
              <a:rPr kumimoji="0" lang="ko-KR" altLang="en-US" sz="1400" dirty="0">
                <a:latin typeface="HY헤드라인M" pitchFamily="18" charset="-127"/>
                <a:ea typeface="HY헤드라인M" pitchFamily="18" charset="-127"/>
              </a:rPr>
              <a:t>관</a:t>
            </a:r>
          </a:p>
          <a:p>
            <a:pPr algn="ctr" eaLnBrk="1" hangingPunct="1">
              <a:lnSpc>
                <a:spcPct val="150000"/>
              </a:lnSpc>
            </a:pPr>
            <a:r>
              <a:rPr kumimoji="0" lang="ko-KR" altLang="en-US" sz="1400" dirty="0">
                <a:latin typeface="HY헤드라인M" pitchFamily="18" charset="-127"/>
                <a:ea typeface="HY헤드라인M" pitchFamily="18" charset="-127"/>
              </a:rPr>
              <a:t>리</a:t>
            </a:r>
          </a:p>
        </p:txBody>
      </p:sp>
      <p:sp>
        <p:nvSpPr>
          <p:cNvPr id="204" name="Rectangle 11"/>
          <p:cNvSpPr>
            <a:spLocks noChangeArrowheads="1"/>
          </p:cNvSpPr>
          <p:nvPr/>
        </p:nvSpPr>
        <p:spPr bwMode="auto">
          <a:xfrm>
            <a:off x="4357688" y="4205295"/>
            <a:ext cx="381000" cy="1071562"/>
          </a:xfrm>
          <a:prstGeom prst="rect">
            <a:avLst/>
          </a:prstGeom>
          <a:solidFill>
            <a:srgbClr val="FFFF99"/>
          </a:solidFill>
          <a:ln w="28575">
            <a:solidFill>
              <a:srgbClr val="FF0000"/>
            </a:solidFill>
            <a:prstDash val="solid"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ko-KR" altLang="en-US" sz="1600" dirty="0" smtClean="0">
                <a:solidFill>
                  <a:srgbClr val="FF0000"/>
                </a:solidFill>
                <a:ea typeface="HY헤드라인M" pitchFamily="18" charset="-127"/>
              </a:rPr>
              <a:t>분석</a:t>
            </a:r>
            <a:r>
              <a:rPr lang="ko-KR" altLang="en-US" sz="1600" b="0" dirty="0" smtClean="0">
                <a:solidFill>
                  <a:srgbClr val="FF0000"/>
                </a:solidFill>
                <a:ea typeface="HY헤드라인M" pitchFamily="18" charset="-127"/>
              </a:rPr>
              <a:t>관</a:t>
            </a:r>
            <a:endParaRPr lang="ko-KR" altLang="en-US" sz="1600" b="0" dirty="0">
              <a:solidFill>
                <a:srgbClr val="FF0000"/>
              </a:solidFill>
              <a:ea typeface="HY헤드라인M" pitchFamily="18" charset="-127"/>
            </a:endParaRPr>
          </a:p>
          <a:p>
            <a:pPr algn="ctr"/>
            <a:r>
              <a:rPr lang="ko-KR" altLang="en-US" sz="1600" b="0" dirty="0">
                <a:solidFill>
                  <a:srgbClr val="FF0000"/>
                </a:solidFill>
                <a:ea typeface="HY헤드라인M" pitchFamily="18" charset="-127"/>
              </a:rPr>
              <a:t>리</a:t>
            </a:r>
          </a:p>
        </p:txBody>
      </p:sp>
      <p:sp>
        <p:nvSpPr>
          <p:cNvPr id="205" name="Text Box 13"/>
          <p:cNvSpPr txBox="1">
            <a:spLocks noChangeArrowheads="1"/>
          </p:cNvSpPr>
          <p:nvPr/>
        </p:nvSpPr>
        <p:spPr bwMode="auto">
          <a:xfrm>
            <a:off x="6643702" y="3643314"/>
            <a:ext cx="381000" cy="1500198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CECFF"/>
              </a:gs>
            </a:gsLst>
            <a:path path="shape">
              <a:fillToRect l="50000" t="50000" r="50000" b="50000"/>
            </a:path>
          </a:gradFill>
          <a:ln w="28575">
            <a:solidFill>
              <a:srgbClr val="FF0000"/>
            </a:solidFill>
            <a:prstDash val="solid"/>
            <a:miter lim="800000"/>
            <a:headEnd/>
            <a:tailEnd/>
          </a:ln>
        </p:spPr>
        <p:txBody>
          <a:bodyPr anchor="ctr" anchorCtr="1"/>
          <a:lstStyle/>
          <a:p>
            <a:pPr algn="ctr"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0" lang="ko-KR" altLang="en-US" sz="1600" b="0" dirty="0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</a:rPr>
              <a:t>운</a:t>
            </a:r>
            <a:endParaRPr kumimoji="0" lang="en-US" altLang="ko-KR" sz="1600" b="0" dirty="0">
              <a:solidFill>
                <a:srgbClr val="FF0000"/>
              </a:solidFill>
              <a:latin typeface="HY헤드라인M" pitchFamily="18" charset="-127"/>
              <a:ea typeface="HY헤드라인M" pitchFamily="18" charset="-127"/>
            </a:endParaRPr>
          </a:p>
          <a:p>
            <a:pPr algn="ctr"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0" lang="ko-KR" altLang="en-US" sz="1600" b="0" dirty="0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</a:rPr>
              <a:t>송</a:t>
            </a:r>
            <a:endParaRPr kumimoji="0" lang="en-US" altLang="ko-KR" sz="1600" b="0" dirty="0">
              <a:solidFill>
                <a:srgbClr val="FF0000"/>
              </a:solidFill>
              <a:latin typeface="HY헤드라인M" pitchFamily="18" charset="-127"/>
              <a:ea typeface="HY헤드라인M" pitchFamily="18" charset="-127"/>
            </a:endParaRPr>
          </a:p>
          <a:p>
            <a:pPr algn="ctr" eaLnBrk="1" hangingPunct="1">
              <a:lnSpc>
                <a:spcPct val="150000"/>
              </a:lnSpc>
            </a:pPr>
            <a:r>
              <a:rPr kumimoji="0" lang="ko-KR" altLang="en-US" sz="1600" b="0" dirty="0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</a:rPr>
              <a:t>관</a:t>
            </a:r>
            <a:endParaRPr kumimoji="0" lang="en-US" altLang="ko-KR" sz="1600" b="0" dirty="0">
              <a:solidFill>
                <a:srgbClr val="FF0000"/>
              </a:solidFill>
              <a:latin typeface="HY헤드라인M" pitchFamily="18" charset="-127"/>
              <a:ea typeface="HY헤드라인M" pitchFamily="18" charset="-127"/>
            </a:endParaRPr>
          </a:p>
          <a:p>
            <a:pPr algn="ctr"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0" lang="ko-KR" altLang="en-US" sz="1600" b="0" dirty="0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</a:rPr>
              <a:t>리</a:t>
            </a:r>
          </a:p>
        </p:txBody>
      </p:sp>
      <p:sp>
        <p:nvSpPr>
          <p:cNvPr id="206" name="Rectangle 11"/>
          <p:cNvSpPr>
            <a:spLocks noChangeArrowheads="1"/>
          </p:cNvSpPr>
          <p:nvPr/>
        </p:nvSpPr>
        <p:spPr bwMode="auto">
          <a:xfrm>
            <a:off x="4357688" y="1847840"/>
            <a:ext cx="381000" cy="1071571"/>
          </a:xfrm>
          <a:prstGeom prst="rect">
            <a:avLst/>
          </a:prstGeom>
          <a:solidFill>
            <a:srgbClr val="FFFF99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ko-KR" altLang="en-US" sz="1400" dirty="0" smtClean="0">
                <a:solidFill>
                  <a:srgbClr val="FF0000"/>
                </a:solidFill>
                <a:ea typeface="HY헤드라인M" pitchFamily="18" charset="-127"/>
              </a:rPr>
              <a:t>품목</a:t>
            </a:r>
            <a:endParaRPr lang="ko-KR" altLang="en-US" sz="1400" dirty="0">
              <a:solidFill>
                <a:srgbClr val="FF0000"/>
              </a:solidFill>
              <a:ea typeface="HY헤드라인M" pitchFamily="18" charset="-127"/>
            </a:endParaRPr>
          </a:p>
          <a:p>
            <a:pPr algn="ctr"/>
            <a:r>
              <a:rPr lang="ko-KR" altLang="en-US" sz="1400" dirty="0">
                <a:solidFill>
                  <a:srgbClr val="FF0000"/>
                </a:solidFill>
                <a:ea typeface="HY헤드라인M" pitchFamily="18" charset="-127"/>
              </a:rPr>
              <a:t>관</a:t>
            </a:r>
          </a:p>
          <a:p>
            <a:pPr algn="ctr"/>
            <a:r>
              <a:rPr lang="ko-KR" altLang="en-US" sz="1400" dirty="0">
                <a:solidFill>
                  <a:srgbClr val="FF0000"/>
                </a:solidFill>
                <a:ea typeface="HY헤드라인M" pitchFamily="18" charset="-127"/>
              </a:rPr>
              <a:t>리</a:t>
            </a:r>
          </a:p>
        </p:txBody>
      </p:sp>
      <p:sp>
        <p:nvSpPr>
          <p:cNvPr id="207" name="Rectangle 11"/>
          <p:cNvSpPr>
            <a:spLocks noChangeArrowheads="1"/>
          </p:cNvSpPr>
          <p:nvPr/>
        </p:nvSpPr>
        <p:spPr bwMode="auto">
          <a:xfrm>
            <a:off x="3428992" y="5572140"/>
            <a:ext cx="2286016" cy="366713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FFFF66"/>
              </a:gs>
            </a:gsLst>
            <a:path path="rect">
              <a:fillToRect l="50000" t="50000" r="50000" b="50000"/>
            </a:path>
          </a:gradFill>
          <a:ln w="28575">
            <a:solidFill>
              <a:srgbClr val="FF0000"/>
            </a:solidFill>
            <a:prstDash val="solid"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ko-KR" altLang="en-US" sz="1600" b="0" dirty="0">
                <a:solidFill>
                  <a:srgbClr val="FF0000"/>
                </a:solidFill>
                <a:ea typeface="HY헤드라인M" pitchFamily="18" charset="-127"/>
              </a:rPr>
              <a:t>은 행  관 리</a:t>
            </a:r>
          </a:p>
        </p:txBody>
      </p:sp>
      <p:pic>
        <p:nvPicPr>
          <p:cNvPr id="208" name="Picture 228" descr="icon5"/>
          <p:cNvPicPr>
            <a:picLocks noChangeAspect="1" noChangeArrowheads="1"/>
          </p:cNvPicPr>
          <p:nvPr/>
        </p:nvPicPr>
        <p:blipFill>
          <a:blip r:embed="rId2" cstate="print">
            <a:lum bright="6000"/>
          </a:blip>
          <a:srcRect/>
          <a:stretch>
            <a:fillRect/>
          </a:stretch>
        </p:blipFill>
        <p:spPr bwMode="auto">
          <a:xfrm>
            <a:off x="7715272" y="4143380"/>
            <a:ext cx="719137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9" name="AutoShape 64"/>
          <p:cNvSpPr>
            <a:spLocks noChangeArrowheads="1"/>
          </p:cNvSpPr>
          <p:nvPr/>
        </p:nvSpPr>
        <p:spPr bwMode="auto">
          <a:xfrm>
            <a:off x="7072330" y="4348171"/>
            <a:ext cx="533400" cy="457200"/>
          </a:xfrm>
          <a:prstGeom prst="lightningBolt">
            <a:avLst/>
          </a:prstGeom>
          <a:solidFill>
            <a:srgbClr val="99CC00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0" name="AutoShape 65"/>
          <p:cNvSpPr>
            <a:spLocks noChangeArrowheads="1"/>
          </p:cNvSpPr>
          <p:nvPr/>
        </p:nvSpPr>
        <p:spPr bwMode="auto">
          <a:xfrm>
            <a:off x="7143768" y="4062419"/>
            <a:ext cx="533400" cy="457200"/>
          </a:xfrm>
          <a:prstGeom prst="lightningBolt">
            <a:avLst/>
          </a:prstGeom>
          <a:solidFill>
            <a:srgbClr val="99CC00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1" name="Rectangle 77"/>
          <p:cNvSpPr>
            <a:spLocks noChangeArrowheads="1"/>
          </p:cNvSpPr>
          <p:nvPr/>
        </p:nvSpPr>
        <p:spPr bwMode="auto">
          <a:xfrm>
            <a:off x="2857500" y="4559741"/>
            <a:ext cx="1143000" cy="307777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ko-KR" altLang="en-US" sz="1400" dirty="0">
                <a:ea typeface="HY헤드라인M" pitchFamily="18" charset="-127"/>
              </a:rPr>
              <a:t>지불관리</a:t>
            </a:r>
          </a:p>
        </p:txBody>
      </p:sp>
      <p:pic>
        <p:nvPicPr>
          <p:cNvPr id="212" name="Picture 162" descr="BD19933_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15250" y="2000250"/>
            <a:ext cx="914400" cy="604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714348" y="3071810"/>
            <a:ext cx="533400" cy="857250"/>
            <a:chOff x="288" y="432"/>
            <a:chExt cx="414" cy="354"/>
          </a:xfrm>
        </p:grpSpPr>
        <p:pic>
          <p:nvPicPr>
            <p:cNvPr id="214" name="Picture 18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88" y="608"/>
              <a:ext cx="414" cy="1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3" name="Group 19"/>
            <p:cNvGrpSpPr>
              <a:grpSpLocks/>
            </p:cNvGrpSpPr>
            <p:nvPr/>
          </p:nvGrpSpPr>
          <p:grpSpPr bwMode="auto">
            <a:xfrm>
              <a:off x="379" y="468"/>
              <a:ext cx="249" cy="244"/>
              <a:chOff x="553" y="3797"/>
              <a:chExt cx="400" cy="208"/>
            </a:xfrm>
          </p:grpSpPr>
          <p:sp>
            <p:nvSpPr>
              <p:cNvPr id="216" name="Freeform 20"/>
              <p:cNvSpPr>
                <a:spLocks/>
              </p:cNvSpPr>
              <p:nvPr/>
            </p:nvSpPr>
            <p:spPr bwMode="auto">
              <a:xfrm>
                <a:off x="553" y="3813"/>
                <a:ext cx="400" cy="41"/>
              </a:xfrm>
              <a:custGeom>
                <a:avLst/>
                <a:gdLst/>
                <a:ahLst/>
                <a:cxnLst>
                  <a:cxn ang="0">
                    <a:pos x="0" y="31"/>
                  </a:cxn>
                  <a:cxn ang="0">
                    <a:pos x="245" y="40"/>
                  </a:cxn>
                  <a:cxn ang="0">
                    <a:pos x="399" y="6"/>
                  </a:cxn>
                  <a:cxn ang="0">
                    <a:pos x="167" y="0"/>
                  </a:cxn>
                  <a:cxn ang="0">
                    <a:pos x="0" y="31"/>
                  </a:cxn>
                </a:cxnLst>
                <a:rect l="0" t="0" r="r" b="b"/>
                <a:pathLst>
                  <a:path w="400" h="41">
                    <a:moveTo>
                      <a:pt x="0" y="31"/>
                    </a:moveTo>
                    <a:lnTo>
                      <a:pt x="245" y="40"/>
                    </a:lnTo>
                    <a:lnTo>
                      <a:pt x="399" y="6"/>
                    </a:lnTo>
                    <a:lnTo>
                      <a:pt x="167" y="0"/>
                    </a:lnTo>
                    <a:lnTo>
                      <a:pt x="0" y="31"/>
                    </a:lnTo>
                  </a:path>
                </a:pathLst>
              </a:custGeom>
              <a:solidFill>
                <a:srgbClr val="00DFFF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ko-KR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pSp>
            <p:nvGrpSpPr>
              <p:cNvPr id="5" name="Group 21"/>
              <p:cNvGrpSpPr>
                <a:grpSpLocks/>
              </p:cNvGrpSpPr>
              <p:nvPr/>
            </p:nvGrpSpPr>
            <p:grpSpPr bwMode="auto">
              <a:xfrm>
                <a:off x="630" y="3797"/>
                <a:ext cx="294" cy="50"/>
                <a:chOff x="630" y="3797"/>
                <a:chExt cx="294" cy="50"/>
              </a:xfrm>
            </p:grpSpPr>
            <p:sp>
              <p:nvSpPr>
                <p:cNvPr id="233" name="Freeform 22"/>
                <p:cNvSpPr>
                  <a:spLocks/>
                </p:cNvSpPr>
                <p:nvPr/>
              </p:nvSpPr>
              <p:spPr bwMode="auto">
                <a:xfrm>
                  <a:off x="630" y="3818"/>
                  <a:ext cx="156" cy="29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169" y="4"/>
                    </a:cxn>
                    <a:cxn ang="0">
                      <a:pos x="169" y="28"/>
                    </a:cxn>
                    <a:cxn ang="0">
                      <a:pos x="0" y="22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170" h="29">
                      <a:moveTo>
                        <a:pt x="2" y="0"/>
                      </a:moveTo>
                      <a:lnTo>
                        <a:pt x="169" y="4"/>
                      </a:lnTo>
                      <a:lnTo>
                        <a:pt x="169" y="28"/>
                      </a:lnTo>
                      <a:lnTo>
                        <a:pt x="0" y="22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BFDF"/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defRPr/>
                  </a:pPr>
                  <a:endParaRPr lang="ko-KR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34" name="Freeform 23"/>
                <p:cNvSpPr>
                  <a:spLocks/>
                </p:cNvSpPr>
                <p:nvPr/>
              </p:nvSpPr>
              <p:spPr bwMode="auto">
                <a:xfrm>
                  <a:off x="785" y="3802"/>
                  <a:ext cx="139" cy="45"/>
                </a:xfrm>
                <a:custGeom>
                  <a:avLst/>
                  <a:gdLst/>
                  <a:ahLst/>
                  <a:cxnLst>
                    <a:cxn ang="0">
                      <a:pos x="0" y="20"/>
                    </a:cxn>
                    <a:cxn ang="0">
                      <a:pos x="0" y="44"/>
                    </a:cxn>
                    <a:cxn ang="0">
                      <a:pos x="113" y="20"/>
                    </a:cxn>
                    <a:cxn ang="0">
                      <a:pos x="113" y="0"/>
                    </a:cxn>
                    <a:cxn ang="0">
                      <a:pos x="0" y="20"/>
                    </a:cxn>
                  </a:cxnLst>
                  <a:rect l="0" t="0" r="r" b="b"/>
                  <a:pathLst>
                    <a:path w="114" h="45">
                      <a:moveTo>
                        <a:pt x="0" y="20"/>
                      </a:moveTo>
                      <a:lnTo>
                        <a:pt x="0" y="44"/>
                      </a:lnTo>
                      <a:lnTo>
                        <a:pt x="113" y="20"/>
                      </a:lnTo>
                      <a:lnTo>
                        <a:pt x="113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009FBF"/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defRPr/>
                  </a:pPr>
                  <a:endParaRPr lang="ko-KR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35" name="Freeform 24"/>
                <p:cNvSpPr>
                  <a:spLocks/>
                </p:cNvSpPr>
                <p:nvPr/>
              </p:nvSpPr>
              <p:spPr bwMode="auto">
                <a:xfrm>
                  <a:off x="630" y="3797"/>
                  <a:ext cx="281" cy="27"/>
                </a:xfrm>
                <a:custGeom>
                  <a:avLst/>
                  <a:gdLst/>
                  <a:ahLst/>
                  <a:cxnLst>
                    <a:cxn ang="0">
                      <a:pos x="0" y="20"/>
                    </a:cxn>
                    <a:cxn ang="0">
                      <a:pos x="168" y="26"/>
                    </a:cxn>
                    <a:cxn ang="0">
                      <a:pos x="281" y="4"/>
                    </a:cxn>
                    <a:cxn ang="0">
                      <a:pos x="114" y="0"/>
                    </a:cxn>
                    <a:cxn ang="0">
                      <a:pos x="0" y="20"/>
                    </a:cxn>
                  </a:cxnLst>
                  <a:rect l="0" t="0" r="r" b="b"/>
                  <a:pathLst>
                    <a:path w="282" h="27">
                      <a:moveTo>
                        <a:pt x="0" y="20"/>
                      </a:moveTo>
                      <a:lnTo>
                        <a:pt x="168" y="26"/>
                      </a:lnTo>
                      <a:lnTo>
                        <a:pt x="281" y="4"/>
                      </a:lnTo>
                      <a:lnTo>
                        <a:pt x="114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00DFFF"/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defRPr/>
                  </a:pPr>
                  <a:endParaRPr lang="ko-KR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218" name="Freeform 25"/>
              <p:cNvSpPr>
                <a:spLocks/>
              </p:cNvSpPr>
              <p:nvPr/>
            </p:nvSpPr>
            <p:spPr bwMode="auto">
              <a:xfrm>
                <a:off x="553" y="3846"/>
                <a:ext cx="245" cy="15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44" y="7"/>
                  </a:cxn>
                  <a:cxn ang="0">
                    <a:pos x="244" y="158"/>
                  </a:cxn>
                  <a:cxn ang="0">
                    <a:pos x="0" y="142"/>
                  </a:cxn>
                  <a:cxn ang="0">
                    <a:pos x="0" y="0"/>
                  </a:cxn>
                </a:cxnLst>
                <a:rect l="0" t="0" r="r" b="b"/>
                <a:pathLst>
                  <a:path w="245" h="159">
                    <a:moveTo>
                      <a:pt x="0" y="0"/>
                    </a:moveTo>
                    <a:lnTo>
                      <a:pt x="244" y="7"/>
                    </a:lnTo>
                    <a:lnTo>
                      <a:pt x="244" y="158"/>
                    </a:lnTo>
                    <a:lnTo>
                      <a:pt x="0" y="14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BFDF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ko-KR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19" name="Freeform 26"/>
              <p:cNvSpPr>
                <a:spLocks/>
              </p:cNvSpPr>
              <p:nvPr/>
            </p:nvSpPr>
            <p:spPr bwMode="auto">
              <a:xfrm>
                <a:off x="797" y="3819"/>
                <a:ext cx="156" cy="186"/>
              </a:xfrm>
              <a:custGeom>
                <a:avLst/>
                <a:gdLst/>
                <a:ahLst/>
                <a:cxnLst>
                  <a:cxn ang="0">
                    <a:pos x="0" y="33"/>
                  </a:cxn>
                  <a:cxn ang="0">
                    <a:pos x="155" y="0"/>
                  </a:cxn>
                  <a:cxn ang="0">
                    <a:pos x="155" y="141"/>
                  </a:cxn>
                  <a:cxn ang="0">
                    <a:pos x="0" y="185"/>
                  </a:cxn>
                  <a:cxn ang="0">
                    <a:pos x="0" y="33"/>
                  </a:cxn>
                </a:cxnLst>
                <a:rect l="0" t="0" r="r" b="b"/>
                <a:pathLst>
                  <a:path w="156" h="186">
                    <a:moveTo>
                      <a:pt x="0" y="33"/>
                    </a:moveTo>
                    <a:lnTo>
                      <a:pt x="155" y="0"/>
                    </a:lnTo>
                    <a:lnTo>
                      <a:pt x="155" y="141"/>
                    </a:lnTo>
                    <a:lnTo>
                      <a:pt x="0" y="185"/>
                    </a:lnTo>
                    <a:lnTo>
                      <a:pt x="0" y="33"/>
                    </a:lnTo>
                  </a:path>
                </a:pathLst>
              </a:custGeom>
              <a:solidFill>
                <a:srgbClr val="009FBF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ko-KR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pSp>
            <p:nvGrpSpPr>
              <p:cNvPr id="6" name="Group 27"/>
              <p:cNvGrpSpPr>
                <a:grpSpLocks/>
              </p:cNvGrpSpPr>
              <p:nvPr/>
            </p:nvGrpSpPr>
            <p:grpSpPr bwMode="auto">
              <a:xfrm>
                <a:off x="627" y="3857"/>
                <a:ext cx="167" cy="105"/>
                <a:chOff x="627" y="3857"/>
                <a:chExt cx="167" cy="105"/>
              </a:xfrm>
            </p:grpSpPr>
            <p:grpSp>
              <p:nvGrpSpPr>
                <p:cNvPr id="7" name="Group 28"/>
                <p:cNvGrpSpPr>
                  <a:grpSpLocks/>
                </p:cNvGrpSpPr>
                <p:nvPr/>
              </p:nvGrpSpPr>
              <p:grpSpPr bwMode="auto">
                <a:xfrm>
                  <a:off x="627" y="3857"/>
                  <a:ext cx="167" cy="37"/>
                  <a:chOff x="627" y="3857"/>
                  <a:chExt cx="167" cy="37"/>
                </a:xfrm>
              </p:grpSpPr>
              <p:sp>
                <p:nvSpPr>
                  <p:cNvPr id="230" name="Freeform 29"/>
                  <p:cNvSpPr>
                    <a:spLocks/>
                  </p:cNvSpPr>
                  <p:nvPr/>
                </p:nvSpPr>
                <p:spPr bwMode="auto">
                  <a:xfrm>
                    <a:off x="627" y="3857"/>
                    <a:ext cx="42" cy="29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40" y="1"/>
                      </a:cxn>
                      <a:cxn ang="0">
                        <a:pos x="40" y="28"/>
                      </a:cxn>
                      <a:cxn ang="0">
                        <a:pos x="0" y="26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41" h="29">
                        <a:moveTo>
                          <a:pt x="0" y="0"/>
                        </a:moveTo>
                        <a:lnTo>
                          <a:pt x="40" y="1"/>
                        </a:lnTo>
                        <a:lnTo>
                          <a:pt x="40" y="28"/>
                        </a:lnTo>
                        <a:lnTo>
                          <a:pt x="0" y="26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noFill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ko-KR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31" name="Freeform 30"/>
                  <p:cNvSpPr>
                    <a:spLocks/>
                  </p:cNvSpPr>
                  <p:nvPr/>
                </p:nvSpPr>
                <p:spPr bwMode="auto">
                  <a:xfrm>
                    <a:off x="672" y="3861"/>
                    <a:ext cx="49" cy="3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41" y="1"/>
                      </a:cxn>
                      <a:cxn ang="0">
                        <a:pos x="41" y="29"/>
                      </a:cxn>
                      <a:cxn ang="0">
                        <a:pos x="0" y="2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42" h="30">
                        <a:moveTo>
                          <a:pt x="0" y="0"/>
                        </a:moveTo>
                        <a:lnTo>
                          <a:pt x="41" y="1"/>
                        </a:lnTo>
                        <a:lnTo>
                          <a:pt x="41" y="29"/>
                        </a:lnTo>
                        <a:lnTo>
                          <a:pt x="0" y="27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noFill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ko-KR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32" name="Freeform 31"/>
                  <p:cNvSpPr>
                    <a:spLocks/>
                  </p:cNvSpPr>
                  <p:nvPr/>
                </p:nvSpPr>
                <p:spPr bwMode="auto">
                  <a:xfrm>
                    <a:off x="745" y="3863"/>
                    <a:ext cx="49" cy="3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40" y="1"/>
                      </a:cxn>
                      <a:cxn ang="0">
                        <a:pos x="40" y="30"/>
                      </a:cxn>
                      <a:cxn ang="0">
                        <a:pos x="0" y="28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41" h="31">
                        <a:moveTo>
                          <a:pt x="0" y="0"/>
                        </a:moveTo>
                        <a:lnTo>
                          <a:pt x="40" y="1"/>
                        </a:lnTo>
                        <a:lnTo>
                          <a:pt x="40" y="30"/>
                        </a:lnTo>
                        <a:lnTo>
                          <a:pt x="0" y="28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noFill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ko-KR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8" name="Group 32"/>
                <p:cNvGrpSpPr>
                  <a:grpSpLocks/>
                </p:cNvGrpSpPr>
                <p:nvPr/>
              </p:nvGrpSpPr>
              <p:grpSpPr bwMode="auto">
                <a:xfrm>
                  <a:off x="627" y="3891"/>
                  <a:ext cx="167" cy="38"/>
                  <a:chOff x="627" y="3891"/>
                  <a:chExt cx="167" cy="38"/>
                </a:xfrm>
              </p:grpSpPr>
              <p:sp>
                <p:nvSpPr>
                  <p:cNvPr id="227" name="Freeform 33"/>
                  <p:cNvSpPr>
                    <a:spLocks/>
                  </p:cNvSpPr>
                  <p:nvPr/>
                </p:nvSpPr>
                <p:spPr bwMode="auto">
                  <a:xfrm>
                    <a:off x="627" y="3891"/>
                    <a:ext cx="42" cy="3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40" y="2"/>
                      </a:cxn>
                      <a:cxn ang="0">
                        <a:pos x="40" y="30"/>
                      </a:cxn>
                      <a:cxn ang="0">
                        <a:pos x="0" y="2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41" h="31">
                        <a:moveTo>
                          <a:pt x="0" y="0"/>
                        </a:moveTo>
                        <a:lnTo>
                          <a:pt x="40" y="2"/>
                        </a:lnTo>
                        <a:lnTo>
                          <a:pt x="40" y="30"/>
                        </a:lnTo>
                        <a:lnTo>
                          <a:pt x="0" y="27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noFill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ko-KR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28" name="Freeform 34"/>
                  <p:cNvSpPr>
                    <a:spLocks/>
                  </p:cNvSpPr>
                  <p:nvPr/>
                </p:nvSpPr>
                <p:spPr bwMode="auto">
                  <a:xfrm>
                    <a:off x="672" y="3895"/>
                    <a:ext cx="49" cy="3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41" y="2"/>
                      </a:cxn>
                      <a:cxn ang="0">
                        <a:pos x="41" y="29"/>
                      </a:cxn>
                      <a:cxn ang="0">
                        <a:pos x="0" y="2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42" h="30">
                        <a:moveTo>
                          <a:pt x="0" y="0"/>
                        </a:moveTo>
                        <a:lnTo>
                          <a:pt x="41" y="2"/>
                        </a:lnTo>
                        <a:lnTo>
                          <a:pt x="41" y="29"/>
                        </a:lnTo>
                        <a:lnTo>
                          <a:pt x="0" y="27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noFill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ko-KR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29" name="Freeform 35"/>
                  <p:cNvSpPr>
                    <a:spLocks/>
                  </p:cNvSpPr>
                  <p:nvPr/>
                </p:nvSpPr>
                <p:spPr bwMode="auto">
                  <a:xfrm>
                    <a:off x="745" y="3899"/>
                    <a:ext cx="49" cy="3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40" y="2"/>
                      </a:cxn>
                      <a:cxn ang="0">
                        <a:pos x="40" y="29"/>
                      </a:cxn>
                      <a:cxn ang="0">
                        <a:pos x="0" y="26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41" h="30">
                        <a:moveTo>
                          <a:pt x="0" y="0"/>
                        </a:moveTo>
                        <a:lnTo>
                          <a:pt x="40" y="2"/>
                        </a:lnTo>
                        <a:lnTo>
                          <a:pt x="40" y="29"/>
                        </a:lnTo>
                        <a:lnTo>
                          <a:pt x="0" y="26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noFill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ko-KR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9" name="Group 36"/>
                <p:cNvGrpSpPr>
                  <a:grpSpLocks/>
                </p:cNvGrpSpPr>
                <p:nvPr/>
              </p:nvGrpSpPr>
              <p:grpSpPr bwMode="auto">
                <a:xfrm>
                  <a:off x="627" y="3924"/>
                  <a:ext cx="167" cy="38"/>
                  <a:chOff x="627" y="3924"/>
                  <a:chExt cx="167" cy="38"/>
                </a:xfrm>
              </p:grpSpPr>
              <p:sp>
                <p:nvSpPr>
                  <p:cNvPr id="224" name="Freeform 37"/>
                  <p:cNvSpPr>
                    <a:spLocks/>
                  </p:cNvSpPr>
                  <p:nvPr/>
                </p:nvSpPr>
                <p:spPr bwMode="auto">
                  <a:xfrm>
                    <a:off x="627" y="3924"/>
                    <a:ext cx="42" cy="3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40" y="2"/>
                      </a:cxn>
                      <a:cxn ang="0">
                        <a:pos x="40" y="30"/>
                      </a:cxn>
                      <a:cxn ang="0">
                        <a:pos x="0" y="2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41" h="31">
                        <a:moveTo>
                          <a:pt x="0" y="0"/>
                        </a:moveTo>
                        <a:lnTo>
                          <a:pt x="40" y="2"/>
                        </a:lnTo>
                        <a:lnTo>
                          <a:pt x="40" y="30"/>
                        </a:lnTo>
                        <a:lnTo>
                          <a:pt x="0" y="27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noFill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ko-KR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25" name="Freeform 38"/>
                  <p:cNvSpPr>
                    <a:spLocks/>
                  </p:cNvSpPr>
                  <p:nvPr/>
                </p:nvSpPr>
                <p:spPr bwMode="auto">
                  <a:xfrm>
                    <a:off x="672" y="3928"/>
                    <a:ext cx="49" cy="3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41" y="1"/>
                      </a:cxn>
                      <a:cxn ang="0">
                        <a:pos x="41" y="29"/>
                      </a:cxn>
                      <a:cxn ang="0">
                        <a:pos x="0" y="2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42" h="30">
                        <a:moveTo>
                          <a:pt x="0" y="0"/>
                        </a:moveTo>
                        <a:lnTo>
                          <a:pt x="41" y="1"/>
                        </a:lnTo>
                        <a:lnTo>
                          <a:pt x="41" y="29"/>
                        </a:lnTo>
                        <a:lnTo>
                          <a:pt x="0" y="27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noFill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ko-KR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26" name="Freeform 39"/>
                  <p:cNvSpPr>
                    <a:spLocks/>
                  </p:cNvSpPr>
                  <p:nvPr/>
                </p:nvSpPr>
                <p:spPr bwMode="auto">
                  <a:xfrm>
                    <a:off x="745" y="3933"/>
                    <a:ext cx="49" cy="29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40" y="2"/>
                      </a:cxn>
                      <a:cxn ang="0">
                        <a:pos x="40" y="28"/>
                      </a:cxn>
                      <a:cxn ang="0">
                        <a:pos x="0" y="25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41" h="29">
                        <a:moveTo>
                          <a:pt x="0" y="0"/>
                        </a:moveTo>
                        <a:lnTo>
                          <a:pt x="40" y="2"/>
                        </a:lnTo>
                        <a:lnTo>
                          <a:pt x="40" y="28"/>
                        </a:lnTo>
                        <a:lnTo>
                          <a:pt x="0" y="25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noFill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ko-KR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</p:grpSp>
        </p:grpSp>
      </p:grpSp>
      <p:sp>
        <p:nvSpPr>
          <p:cNvPr id="236" name="AutoShape 65"/>
          <p:cNvSpPr>
            <a:spLocks noChangeArrowheads="1"/>
          </p:cNvSpPr>
          <p:nvPr/>
        </p:nvSpPr>
        <p:spPr bwMode="auto">
          <a:xfrm>
            <a:off x="4286248" y="6143644"/>
            <a:ext cx="533400" cy="457200"/>
          </a:xfrm>
          <a:prstGeom prst="lightningBolt">
            <a:avLst/>
          </a:prstGeom>
          <a:solidFill>
            <a:srgbClr val="99CC00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7" name="AutoShape 65"/>
          <p:cNvSpPr>
            <a:spLocks noChangeArrowheads="1"/>
          </p:cNvSpPr>
          <p:nvPr/>
        </p:nvSpPr>
        <p:spPr bwMode="auto">
          <a:xfrm>
            <a:off x="4286248" y="5929330"/>
            <a:ext cx="533400" cy="457200"/>
          </a:xfrm>
          <a:prstGeom prst="lightningBolt">
            <a:avLst/>
          </a:prstGeom>
          <a:solidFill>
            <a:srgbClr val="99CC00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0" name="Group 105"/>
          <p:cNvGrpSpPr>
            <a:grpSpLocks/>
          </p:cNvGrpSpPr>
          <p:nvPr/>
        </p:nvGrpSpPr>
        <p:grpSpPr bwMode="auto">
          <a:xfrm>
            <a:off x="4643438" y="6145744"/>
            <a:ext cx="1087030" cy="712256"/>
            <a:chOff x="1358" y="1218"/>
            <a:chExt cx="496" cy="490"/>
          </a:xfrm>
        </p:grpSpPr>
        <p:pic>
          <p:nvPicPr>
            <p:cNvPr id="239" name="Picture 106"/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440" y="1377"/>
              <a:ext cx="414" cy="1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0" name="Picture 107" descr="경리부클립아트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511" y="1218"/>
              <a:ext cx="248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1" name="Rectangle 108"/>
            <p:cNvSpPr>
              <a:spLocks noChangeArrowheads="1"/>
            </p:cNvSpPr>
            <p:nvPr/>
          </p:nvSpPr>
          <p:spPr bwMode="auto">
            <a:xfrm>
              <a:off x="1358" y="1559"/>
              <a:ext cx="85" cy="1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endParaRPr lang="ko-KR" altLang="en-US" sz="800" dirty="0">
                <a:latin typeface="HY울릉도B" pitchFamily="18" charset="-127"/>
                <a:ea typeface="HY울릉도B" pitchFamily="18" charset="-127"/>
              </a:endParaRPr>
            </a:p>
          </p:txBody>
        </p:sp>
      </p:grpSp>
      <p:sp>
        <p:nvSpPr>
          <p:cNvPr id="242" name="Rectangle 73"/>
          <p:cNvSpPr>
            <a:spLocks noChangeArrowheads="1"/>
          </p:cNvSpPr>
          <p:nvPr/>
        </p:nvSpPr>
        <p:spPr bwMode="auto">
          <a:xfrm>
            <a:off x="5072066" y="2466982"/>
            <a:ext cx="1143000" cy="49244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ko-KR" altLang="en-US" sz="1400" dirty="0" smtClean="0">
                <a:ea typeface="HY헤드라인M" pitchFamily="18" charset="-127"/>
              </a:rPr>
              <a:t>주문관리</a:t>
            </a:r>
            <a:r>
              <a:rPr lang="en-US" altLang="ko-KR" sz="1600" dirty="0" smtClean="0">
                <a:ea typeface="HY헤드라인M" pitchFamily="18" charset="-127"/>
              </a:rPr>
              <a:t/>
            </a:r>
            <a:br>
              <a:rPr lang="en-US" altLang="ko-KR" sz="1600" dirty="0" smtClean="0">
                <a:ea typeface="HY헤드라인M" pitchFamily="18" charset="-127"/>
              </a:rPr>
            </a:br>
            <a:r>
              <a:rPr lang="en-US" altLang="ko-KR" sz="1200" dirty="0" smtClean="0">
                <a:ea typeface="HY헤드라인M" pitchFamily="18" charset="-127"/>
              </a:rPr>
              <a:t>(</a:t>
            </a:r>
            <a:r>
              <a:rPr lang="ko-KR" altLang="en-US" sz="1200" dirty="0" smtClean="0">
                <a:ea typeface="HY헤드라인M" pitchFamily="18" charset="-127"/>
              </a:rPr>
              <a:t>의뢰</a:t>
            </a:r>
            <a:r>
              <a:rPr lang="en-US" altLang="ko-KR" sz="1200" dirty="0" smtClean="0">
                <a:ea typeface="HY헤드라인M" pitchFamily="18" charset="-127"/>
              </a:rPr>
              <a:t>/</a:t>
            </a:r>
            <a:r>
              <a:rPr lang="ko-KR" altLang="en-US" sz="1200" dirty="0" smtClean="0">
                <a:ea typeface="HY헤드라인M" pitchFamily="18" charset="-127"/>
              </a:rPr>
              <a:t>확정</a:t>
            </a:r>
            <a:r>
              <a:rPr lang="en-US" altLang="ko-KR" sz="1200" dirty="0" smtClean="0">
                <a:ea typeface="HY헤드라인M" pitchFamily="18" charset="-127"/>
              </a:rPr>
              <a:t>)</a:t>
            </a:r>
            <a:endParaRPr lang="ko-KR" altLang="en-US" sz="1200" dirty="0">
              <a:ea typeface="HY헤드라인M" pitchFamily="18" charset="-127"/>
            </a:endParaRPr>
          </a:p>
        </p:txBody>
      </p:sp>
      <p:sp>
        <p:nvSpPr>
          <p:cNvPr id="243" name="Rectangle 12"/>
          <p:cNvSpPr>
            <a:spLocks noChangeArrowheads="1"/>
          </p:cNvSpPr>
          <p:nvPr/>
        </p:nvSpPr>
        <p:spPr bwMode="auto">
          <a:xfrm>
            <a:off x="5072066" y="3262970"/>
            <a:ext cx="1143000" cy="49244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ko-KR" altLang="en-US" sz="1400" dirty="0" smtClean="0">
                <a:ea typeface="HY헤드라인M" pitchFamily="18" charset="-127"/>
              </a:rPr>
              <a:t>출고관리</a:t>
            </a:r>
            <a:endParaRPr lang="en-US" altLang="ko-KR" sz="1400" dirty="0" smtClean="0">
              <a:ea typeface="HY헤드라인M" pitchFamily="18" charset="-127"/>
            </a:endParaRPr>
          </a:p>
          <a:p>
            <a:pPr algn="ctr"/>
            <a:r>
              <a:rPr lang="en-US" altLang="ko-KR" sz="1200" dirty="0" smtClean="0">
                <a:ea typeface="HY헤드라인M" pitchFamily="18" charset="-127"/>
              </a:rPr>
              <a:t>(</a:t>
            </a:r>
            <a:r>
              <a:rPr lang="ko-KR" altLang="en-US" sz="1200" dirty="0" smtClean="0">
                <a:ea typeface="HY헤드라인M" pitchFamily="18" charset="-127"/>
              </a:rPr>
              <a:t>운송</a:t>
            </a:r>
            <a:r>
              <a:rPr lang="en-US" altLang="ko-KR" sz="1200" dirty="0" smtClean="0">
                <a:ea typeface="HY헤드라인M" pitchFamily="18" charset="-127"/>
              </a:rPr>
              <a:t>)</a:t>
            </a:r>
            <a:endParaRPr lang="ko-KR" altLang="en-US" sz="1200" dirty="0">
              <a:ea typeface="HY헤드라인M" pitchFamily="18" charset="-127"/>
            </a:endParaRPr>
          </a:p>
        </p:txBody>
      </p:sp>
      <p:sp>
        <p:nvSpPr>
          <p:cNvPr id="244" name="Rectangle 77"/>
          <p:cNvSpPr>
            <a:spLocks noChangeArrowheads="1"/>
          </p:cNvSpPr>
          <p:nvPr/>
        </p:nvSpPr>
        <p:spPr bwMode="auto">
          <a:xfrm>
            <a:off x="5072066" y="4000504"/>
            <a:ext cx="1143000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ko-KR" altLang="en-US" sz="1400" dirty="0" smtClean="0">
                <a:ea typeface="HY헤드라인M" pitchFamily="18" charset="-127"/>
              </a:rPr>
              <a:t>매출관리</a:t>
            </a:r>
            <a:endParaRPr lang="ko-KR" altLang="en-US" sz="1400" dirty="0">
              <a:ea typeface="HY헤드라인M" pitchFamily="18" charset="-127"/>
            </a:endParaRPr>
          </a:p>
        </p:txBody>
      </p:sp>
      <p:sp>
        <p:nvSpPr>
          <p:cNvPr id="245" name="Rectangle 77"/>
          <p:cNvSpPr>
            <a:spLocks noChangeArrowheads="1"/>
          </p:cNvSpPr>
          <p:nvPr/>
        </p:nvSpPr>
        <p:spPr bwMode="auto">
          <a:xfrm>
            <a:off x="5072066" y="4560893"/>
            <a:ext cx="1143000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ko-KR" altLang="en-US" sz="1400" dirty="0" smtClean="0">
                <a:ea typeface="HY헤드라인M" pitchFamily="18" charset="-127"/>
              </a:rPr>
              <a:t>수금관리</a:t>
            </a:r>
            <a:endParaRPr lang="ko-KR" altLang="en-US" sz="1400" dirty="0">
              <a:ea typeface="HY헤드라인M" pitchFamily="18" charset="-127"/>
            </a:endParaRPr>
          </a:p>
        </p:txBody>
      </p:sp>
      <p:sp>
        <p:nvSpPr>
          <p:cNvPr id="60" name="Rectangle 75"/>
          <p:cNvSpPr>
            <a:spLocks noChangeArrowheads="1"/>
          </p:cNvSpPr>
          <p:nvPr/>
        </p:nvSpPr>
        <p:spPr bwMode="auto">
          <a:xfrm>
            <a:off x="4786314" y="5929330"/>
            <a:ext cx="2000264" cy="214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10800" rIns="18000" bIns="10800" anchor="ctr"/>
          <a:lstStyle/>
          <a:p>
            <a:pPr algn="ctr"/>
            <a:r>
              <a:rPr lang="ko-KR" altLang="en-US" sz="1200" b="0" dirty="0" smtClean="0">
                <a:solidFill>
                  <a:srgbClr val="FF0000"/>
                </a:solidFill>
                <a:ea typeface="HY헤드라인M" pitchFamily="18" charset="-127"/>
              </a:rPr>
              <a:t>은행연결</a:t>
            </a:r>
            <a:r>
              <a:rPr lang="en-US" altLang="ko-KR" sz="1200" b="0" dirty="0" smtClean="0">
                <a:solidFill>
                  <a:srgbClr val="FF0000"/>
                </a:solidFill>
                <a:ea typeface="HY헤드라인M" pitchFamily="18" charset="-127"/>
              </a:rPr>
              <a:t>(</a:t>
            </a:r>
            <a:r>
              <a:rPr lang="ko-KR" altLang="en-US" sz="1200" b="0" dirty="0" smtClean="0">
                <a:solidFill>
                  <a:srgbClr val="FF0000"/>
                </a:solidFill>
                <a:ea typeface="HY헤드라인M" pitchFamily="18" charset="-127"/>
              </a:rPr>
              <a:t>계좌</a:t>
            </a:r>
            <a:r>
              <a:rPr lang="en-US" altLang="ko-KR" sz="1200" b="0" dirty="0" smtClean="0">
                <a:solidFill>
                  <a:srgbClr val="FF0000"/>
                </a:solidFill>
                <a:ea typeface="HY헤드라인M" pitchFamily="18" charset="-127"/>
              </a:rPr>
              <a:t>,</a:t>
            </a:r>
            <a:r>
              <a:rPr lang="ko-KR" altLang="en-US" sz="1200" dirty="0" smtClean="0">
                <a:solidFill>
                  <a:srgbClr val="FF0000"/>
                </a:solidFill>
                <a:ea typeface="HY헤드라인M" pitchFamily="18" charset="-127"/>
              </a:rPr>
              <a:t>카드거래</a:t>
            </a:r>
            <a:r>
              <a:rPr lang="en-US" altLang="ko-KR" sz="1200" dirty="0" smtClean="0">
                <a:solidFill>
                  <a:srgbClr val="FF0000"/>
                </a:solidFill>
                <a:ea typeface="HY헤드라인M" pitchFamily="18" charset="-127"/>
              </a:rPr>
              <a:t>)</a:t>
            </a:r>
            <a:endParaRPr lang="ko-KR" altLang="en-US" sz="1200" b="0" dirty="0">
              <a:solidFill>
                <a:srgbClr val="FF0000"/>
              </a:solidFill>
              <a:ea typeface="HY헤드라인M" pitchFamily="18" charset="-127"/>
            </a:endParaRPr>
          </a:p>
        </p:txBody>
      </p:sp>
      <p:sp>
        <p:nvSpPr>
          <p:cNvPr id="61" name="Rectangle 63"/>
          <p:cNvSpPr>
            <a:spLocks noChangeArrowheads="1"/>
          </p:cNvSpPr>
          <p:nvPr/>
        </p:nvSpPr>
        <p:spPr bwMode="auto">
          <a:xfrm>
            <a:off x="428596" y="714356"/>
            <a:ext cx="3571900" cy="50006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l" eaLnBrk="1" latin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2000" dirty="0" smtClean="0">
                <a:latin typeface="HY헤드라인M" pitchFamily="18" charset="-127"/>
                <a:ea typeface="HY헤드라인M" pitchFamily="18" charset="-127"/>
              </a:rPr>
              <a:t>가</a:t>
            </a:r>
            <a:r>
              <a:rPr lang="en-US" altLang="ko-KR" sz="2000" dirty="0" smtClean="0"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sz="2000" dirty="0" smtClean="0">
                <a:latin typeface="HY헤드라인M" pitchFamily="18" charset="-127"/>
                <a:ea typeface="HY헤드라인M" pitchFamily="18" charset="-127"/>
              </a:rPr>
              <a:t>제안 </a:t>
            </a:r>
            <a:r>
              <a:rPr lang="ko-KR" altLang="en-US" sz="2000" dirty="0" smtClean="0">
                <a:latin typeface="HY헤드라인M" pitchFamily="18" charset="-127"/>
                <a:ea typeface="HY헤드라인M" pitchFamily="18" charset="-127"/>
              </a:rPr>
              <a:t>시스템 구성도</a:t>
            </a:r>
            <a:endParaRPr lang="en-US" altLang="ko-KR" sz="2000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62" name="Rectangle 75"/>
          <p:cNvSpPr>
            <a:spLocks noChangeArrowheads="1"/>
          </p:cNvSpPr>
          <p:nvPr/>
        </p:nvSpPr>
        <p:spPr bwMode="auto">
          <a:xfrm>
            <a:off x="928662" y="3929066"/>
            <a:ext cx="1214446" cy="214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10800" rIns="18000" bIns="10800" anchor="ctr"/>
          <a:lstStyle/>
          <a:p>
            <a:pPr algn="ctr"/>
            <a:r>
              <a:rPr lang="ko-KR" altLang="en-US" sz="1200" b="0" dirty="0" smtClean="0">
                <a:solidFill>
                  <a:srgbClr val="FF0000"/>
                </a:solidFill>
                <a:ea typeface="HY헤드라인M" pitchFamily="18" charset="-127"/>
              </a:rPr>
              <a:t>상품정보연결</a:t>
            </a:r>
            <a:endParaRPr lang="ko-KR" altLang="en-US" sz="1200" b="0" dirty="0">
              <a:solidFill>
                <a:srgbClr val="FF0000"/>
              </a:solidFill>
              <a:ea typeface="HY헤드라인M" pitchFamily="18" charset="-127"/>
            </a:endParaRPr>
          </a:p>
        </p:txBody>
      </p:sp>
      <p:sp>
        <p:nvSpPr>
          <p:cNvPr id="63" name="Rectangle 75"/>
          <p:cNvSpPr>
            <a:spLocks noChangeArrowheads="1"/>
          </p:cNvSpPr>
          <p:nvPr/>
        </p:nvSpPr>
        <p:spPr bwMode="auto">
          <a:xfrm>
            <a:off x="3963552" y="1615342"/>
            <a:ext cx="1214446" cy="214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10800" rIns="18000" bIns="10800" anchor="ctr"/>
          <a:lstStyle/>
          <a:p>
            <a:pPr algn="ctr"/>
            <a:r>
              <a:rPr lang="ko-KR" altLang="en-US" sz="1200" b="0" dirty="0" smtClean="0">
                <a:solidFill>
                  <a:srgbClr val="FF0000"/>
                </a:solidFill>
                <a:ea typeface="HY헤드라인M" pitchFamily="18" charset="-127"/>
              </a:rPr>
              <a:t>자재</a:t>
            </a:r>
            <a:r>
              <a:rPr lang="en-US" altLang="ko-KR" sz="1200" b="0" dirty="0" smtClean="0">
                <a:solidFill>
                  <a:srgbClr val="FF0000"/>
                </a:solidFill>
                <a:ea typeface="HY헤드라인M" pitchFamily="18" charset="-127"/>
              </a:rPr>
              <a:t>/</a:t>
            </a:r>
            <a:r>
              <a:rPr lang="ko-KR" altLang="en-US" sz="1200" b="0" dirty="0" smtClean="0">
                <a:solidFill>
                  <a:srgbClr val="FF0000"/>
                </a:solidFill>
                <a:ea typeface="HY헤드라인M" pitchFamily="18" charset="-127"/>
              </a:rPr>
              <a:t>가공품확장</a:t>
            </a:r>
            <a:endParaRPr lang="ko-KR" altLang="en-US" sz="1200" b="0" dirty="0">
              <a:solidFill>
                <a:srgbClr val="FF0000"/>
              </a:solidFill>
              <a:ea typeface="HY헤드라인M" pitchFamily="18" charset="-127"/>
            </a:endParaRPr>
          </a:p>
        </p:txBody>
      </p:sp>
      <p:sp>
        <p:nvSpPr>
          <p:cNvPr id="64" name="Rectangle 75"/>
          <p:cNvSpPr>
            <a:spLocks noChangeArrowheads="1"/>
          </p:cNvSpPr>
          <p:nvPr/>
        </p:nvSpPr>
        <p:spPr bwMode="auto">
          <a:xfrm>
            <a:off x="7000892" y="2786058"/>
            <a:ext cx="1214446" cy="214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10800" rIns="18000" bIns="10800" anchor="ctr"/>
          <a:lstStyle/>
          <a:p>
            <a:pPr algn="ctr"/>
            <a:r>
              <a:rPr lang="ko-KR" altLang="en-US" sz="1200" b="0" dirty="0" smtClean="0">
                <a:solidFill>
                  <a:srgbClr val="FF0000"/>
                </a:solidFill>
                <a:ea typeface="HY헤드라인M" pitchFamily="18" charset="-127"/>
              </a:rPr>
              <a:t>가맹점확장</a:t>
            </a:r>
            <a:endParaRPr lang="ko-KR" altLang="en-US" sz="1200" b="0" dirty="0">
              <a:solidFill>
                <a:srgbClr val="FF0000"/>
              </a:solidFill>
              <a:ea typeface="HY헤드라인M" pitchFamily="18" charset="-127"/>
            </a:endParaRPr>
          </a:p>
        </p:txBody>
      </p:sp>
      <p:sp>
        <p:nvSpPr>
          <p:cNvPr id="65" name="Rectangle 75"/>
          <p:cNvSpPr>
            <a:spLocks noChangeArrowheads="1"/>
          </p:cNvSpPr>
          <p:nvPr/>
        </p:nvSpPr>
        <p:spPr bwMode="auto">
          <a:xfrm>
            <a:off x="3929058" y="5286388"/>
            <a:ext cx="1214446" cy="214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10800" rIns="18000" bIns="10800" anchor="ctr"/>
          <a:lstStyle/>
          <a:p>
            <a:pPr algn="ctr"/>
            <a:r>
              <a:rPr lang="ko-KR" altLang="en-US" sz="1200" b="0" dirty="0" smtClean="0">
                <a:solidFill>
                  <a:srgbClr val="FF0000"/>
                </a:solidFill>
                <a:ea typeface="HY헤드라인M" pitchFamily="18" charset="-127"/>
              </a:rPr>
              <a:t>재고</a:t>
            </a:r>
            <a:r>
              <a:rPr lang="en-US" altLang="ko-KR" sz="1200" b="0" dirty="0" smtClean="0">
                <a:solidFill>
                  <a:srgbClr val="FF0000"/>
                </a:solidFill>
                <a:ea typeface="HY헤드라인M" pitchFamily="18" charset="-127"/>
              </a:rPr>
              <a:t>/</a:t>
            </a:r>
            <a:r>
              <a:rPr lang="ko-KR" altLang="en-US" sz="1200" b="0" dirty="0" smtClean="0">
                <a:solidFill>
                  <a:srgbClr val="FF0000"/>
                </a:solidFill>
                <a:ea typeface="HY헤드라인M" pitchFamily="18" charset="-127"/>
              </a:rPr>
              <a:t>손익분석</a:t>
            </a:r>
            <a:endParaRPr lang="ko-KR" altLang="en-US" sz="1200" b="0" dirty="0">
              <a:solidFill>
                <a:srgbClr val="FF0000"/>
              </a:solidFill>
              <a:ea typeface="HY헤드라인M" pitchFamily="18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63"/>
          <p:cNvSpPr>
            <a:spLocks noChangeArrowheads="1"/>
          </p:cNvSpPr>
          <p:nvPr/>
        </p:nvSpPr>
        <p:spPr bwMode="auto">
          <a:xfrm>
            <a:off x="66700" y="0"/>
            <a:ext cx="8077200" cy="76200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>
              <a:spcBef>
                <a:spcPct val="50000"/>
              </a:spcBef>
            </a:pPr>
            <a:r>
              <a:rPr lang="en-US" altLang="ko-KR" sz="2800" dirty="0" smtClea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6. </a:t>
            </a:r>
            <a:r>
              <a:rPr lang="ko-KR" altLang="en-US" sz="2800" dirty="0" smtClea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향후 시스템 </a:t>
            </a:r>
            <a:r>
              <a:rPr lang="ko-KR" altLang="en-US" sz="2800" dirty="0" smtClea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제안 및 기대효과</a:t>
            </a:r>
            <a:endParaRPr lang="en-US" altLang="ko-KR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6" name="Rectangle 3"/>
          <p:cNvSpPr txBox="1">
            <a:spLocks noChangeArrowheads="1"/>
          </p:cNvSpPr>
          <p:nvPr/>
        </p:nvSpPr>
        <p:spPr>
          <a:xfrm>
            <a:off x="723900" y="1428736"/>
            <a:ext cx="7810500" cy="4572032"/>
          </a:xfrm>
          <a:prstGeom prst="rect">
            <a:avLst/>
          </a:prstGeom>
          <a:solidFill>
            <a:srgbClr val="DDDDDD">
              <a:alpha val="50195"/>
            </a:srgbClr>
          </a:solidFill>
          <a:ln>
            <a:solidFill>
              <a:schemeClr val="bg2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HY헤드라인M" pitchFamily="18" charset="-127"/>
              <a:ea typeface="HY헤드라인M" pitchFamily="18" charset="-127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HY헤드라인M" pitchFamily="18" charset="-127"/>
                <a:ea typeface="HY헤드라인M" pitchFamily="18" charset="-127"/>
              </a:rPr>
              <a:t>1</a:t>
            </a:r>
            <a:r>
              <a:rPr kumimoji="0" lang="en-US" altLang="ko-KR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HY헤드라인M" pitchFamily="18" charset="-127"/>
                <a:ea typeface="HY헤드라인M" pitchFamily="18" charset="-127"/>
              </a:rPr>
              <a:t>)</a:t>
            </a:r>
            <a:r>
              <a:rPr kumimoji="0" lang="ko-KR" altLang="en-US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HY헤드라인M" pitchFamily="18" charset="-127"/>
                <a:ea typeface="HY헤드라인M" pitchFamily="18" charset="-127"/>
              </a:rPr>
              <a:t> 시스템 연계를 통한 업무의 효율성 극대화</a:t>
            </a:r>
            <a:endParaRPr kumimoji="0" lang="en-US" altLang="ko-KR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HY헤드라인M" pitchFamily="18" charset="-127"/>
              <a:ea typeface="HY헤드라인M" pitchFamily="18" charset="-127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latin typeface="HY헤드라인M" pitchFamily="18" charset="-127"/>
                <a:ea typeface="HY헤드라인M" pitchFamily="18" charset="-127"/>
              </a:rPr>
              <a:t>	</a:t>
            </a:r>
            <a:r>
              <a:rPr lang="en-US" altLang="ko-KR" sz="1400" dirty="0" smtClean="0">
                <a:latin typeface="HY헤드라인M" pitchFamily="18" charset="-127"/>
                <a:ea typeface="HY헤드라인M" pitchFamily="18" charset="-127"/>
              </a:rPr>
              <a:t>- </a:t>
            </a:r>
            <a:r>
              <a:rPr lang="ko-KR" altLang="en-US" sz="1400" dirty="0" smtClean="0">
                <a:latin typeface="HY헤드라인M" pitchFamily="18" charset="-127"/>
                <a:ea typeface="HY헤드라인M" pitchFamily="18" charset="-127"/>
              </a:rPr>
              <a:t>은행 </a:t>
            </a:r>
            <a:r>
              <a:rPr lang="en-US" altLang="ko-KR" sz="1400" dirty="0" smtClean="0">
                <a:latin typeface="HY헤드라인M" pitchFamily="18" charset="-127"/>
                <a:ea typeface="HY헤드라인M" pitchFamily="18" charset="-127"/>
              </a:rPr>
              <a:t>:</a:t>
            </a:r>
            <a:r>
              <a:rPr lang="en-US" altLang="ko-KR" sz="1400" dirty="0" smtClean="0">
                <a:latin typeface="HY헤드라인M" pitchFamily="18" charset="-127"/>
                <a:ea typeface="HY헤드라인M" pitchFamily="18" charset="-127"/>
                <a:sym typeface="Wingdings" pitchFamily="2" charset="2"/>
              </a:rPr>
              <a:t> </a:t>
            </a:r>
            <a:r>
              <a:rPr lang="ko-KR" altLang="en-US" sz="1400" dirty="0" smtClean="0">
                <a:latin typeface="HY헤드라인M" pitchFamily="18" charset="-127"/>
                <a:ea typeface="HY헤드라인M" pitchFamily="18" charset="-127"/>
              </a:rPr>
              <a:t>카드결제 및 </a:t>
            </a:r>
            <a:r>
              <a:rPr lang="ko-KR" altLang="en-US" sz="1400" dirty="0" smtClean="0">
                <a:latin typeface="HY헤드라인M" pitchFamily="18" charset="-127"/>
                <a:ea typeface="HY헤드라인M" pitchFamily="18" charset="-127"/>
              </a:rPr>
              <a:t>은행이체의 자동화</a:t>
            </a:r>
            <a:endParaRPr lang="en-US" altLang="ko-KR" sz="1400" dirty="0" smtClean="0">
              <a:latin typeface="HY헤드라인M" pitchFamily="18" charset="-127"/>
              <a:ea typeface="HY헤드라인M" pitchFamily="18" charset="-127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 smtClean="0">
                <a:latin typeface="HY헤드라인M" pitchFamily="18" charset="-127"/>
                <a:ea typeface="HY헤드라인M" pitchFamily="18" charset="-127"/>
              </a:rPr>
              <a:t>	-</a:t>
            </a:r>
            <a:r>
              <a:rPr lang="ko-KR" altLang="en-US" sz="1400" dirty="0" smtClean="0">
                <a:latin typeface="HY헤드라인M" pitchFamily="18" charset="-127"/>
                <a:ea typeface="HY헤드라인M" pitchFamily="18" charset="-127"/>
              </a:rPr>
              <a:t> 공급업체</a:t>
            </a:r>
            <a:r>
              <a:rPr lang="en-US" altLang="ko-KR" sz="1400" dirty="0" smtClean="0">
                <a:latin typeface="HY헤드라인M" pitchFamily="18" charset="-127"/>
                <a:ea typeface="HY헤드라인M" pitchFamily="18" charset="-127"/>
              </a:rPr>
              <a:t> : </a:t>
            </a:r>
            <a:r>
              <a:rPr lang="ko-KR" altLang="en-US" sz="1400" dirty="0" smtClean="0">
                <a:latin typeface="HY헤드라인M" pitchFamily="18" charset="-127"/>
                <a:ea typeface="HY헤드라인M" pitchFamily="18" charset="-127"/>
              </a:rPr>
              <a:t>실시간 품목정보의 공유</a:t>
            </a:r>
            <a:endParaRPr lang="en-US" altLang="ko-KR" sz="1400" dirty="0" smtClean="0">
              <a:latin typeface="HY헤드라인M" pitchFamily="18" charset="-127"/>
              <a:ea typeface="HY헤드라인M" pitchFamily="18" charset="-127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 smtClean="0">
                <a:latin typeface="HY헤드라인M" pitchFamily="18" charset="-127"/>
                <a:ea typeface="HY헤드라인M" pitchFamily="18" charset="-127"/>
              </a:rPr>
              <a:t>	- </a:t>
            </a:r>
            <a:r>
              <a:rPr lang="ko-KR" altLang="en-US" sz="1400" dirty="0" smtClean="0">
                <a:latin typeface="HY헤드라인M" pitchFamily="18" charset="-127"/>
                <a:ea typeface="HY헤드라인M" pitchFamily="18" charset="-127"/>
              </a:rPr>
              <a:t>운송업체 </a:t>
            </a:r>
            <a:r>
              <a:rPr lang="en-US" altLang="ko-KR" sz="1400" dirty="0" smtClean="0">
                <a:latin typeface="HY헤드라인M" pitchFamily="18" charset="-127"/>
                <a:ea typeface="HY헤드라인M" pitchFamily="18" charset="-127"/>
              </a:rPr>
              <a:t>: </a:t>
            </a:r>
            <a:r>
              <a:rPr lang="ko-KR" altLang="en-US" sz="1400" dirty="0" smtClean="0">
                <a:latin typeface="HY헤드라인M" pitchFamily="18" charset="-127"/>
                <a:ea typeface="HY헤드라인M" pitchFamily="18" charset="-127"/>
              </a:rPr>
              <a:t>실시간 배송정보의 공유</a:t>
            </a:r>
            <a:endParaRPr lang="en-US" altLang="ko-KR" sz="1400" dirty="0" smtClean="0">
              <a:latin typeface="HY헤드라인M" pitchFamily="18" charset="-127"/>
              <a:ea typeface="HY헤드라인M" pitchFamily="18" charset="-127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sym typeface="Wingdings" pitchFamily="2" charset="2"/>
              </a:rPr>
              <a:t>	 </a:t>
            </a:r>
            <a:r>
              <a:rPr kumimoji="0" lang="ko-KR" altLang="en-US" sz="160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sym typeface="Wingdings" pitchFamily="2" charset="2"/>
              </a:rPr>
              <a:t>수작업에서 실시간 작업을 통한 업무의 효율성 증대</a:t>
            </a:r>
            <a:endParaRPr kumimoji="0" lang="ko-KR" altLang="en-US" sz="1600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HY헤드라인M" pitchFamily="18" charset="-127"/>
              <a:ea typeface="HY헤드라인M" pitchFamily="18" charset="-127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HY헤드라인M" pitchFamily="18" charset="-127"/>
                <a:ea typeface="HY헤드라인M" pitchFamily="18" charset="-127"/>
              </a:rPr>
              <a:t>2)</a:t>
            </a:r>
            <a:r>
              <a:rPr kumimoji="0" lang="ko-KR" altLang="en-US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HY헤드라인M" pitchFamily="18" charset="-127"/>
                <a:ea typeface="HY헤드라인M" pitchFamily="18" charset="-127"/>
              </a:rPr>
              <a:t> 새로운 기준의 다양한 분석자료 구현</a:t>
            </a:r>
            <a:endParaRPr kumimoji="0" lang="en-US" altLang="ko-KR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HY헤드라인M" pitchFamily="18" charset="-127"/>
              <a:ea typeface="HY헤드라인M" pitchFamily="18" charset="-127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14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HY헤드라인M" pitchFamily="18" charset="-127"/>
                <a:ea typeface="HY헤드라인M" pitchFamily="18" charset="-127"/>
              </a:rPr>
              <a:t>- </a:t>
            </a:r>
            <a:r>
              <a:rPr kumimoji="0" lang="ko-KR" altLang="en-US" sz="14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HY헤드라인M" pitchFamily="18" charset="-127"/>
                <a:ea typeface="HY헤드라인M" pitchFamily="18" charset="-127"/>
              </a:rPr>
              <a:t>재고 및 재무</a:t>
            </a:r>
            <a:r>
              <a:rPr kumimoji="0" lang="en-US" altLang="ko-KR" sz="14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HY헤드라인M" pitchFamily="18" charset="-127"/>
                <a:ea typeface="HY헤드라인M" pitchFamily="18" charset="-127"/>
              </a:rPr>
              <a:t>(</a:t>
            </a:r>
            <a:r>
              <a:rPr kumimoji="0" lang="ko-KR" altLang="en-US" sz="14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HY헤드라인M" pitchFamily="18" charset="-127"/>
                <a:ea typeface="HY헤드라인M" pitchFamily="18" charset="-127"/>
              </a:rPr>
              <a:t>손익</a:t>
            </a:r>
            <a:r>
              <a:rPr kumimoji="0" lang="en-US" altLang="ko-KR" sz="14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HY헤드라인M" pitchFamily="18" charset="-127"/>
                <a:ea typeface="HY헤드라인M" pitchFamily="18" charset="-127"/>
              </a:rPr>
              <a:t>/</a:t>
            </a:r>
            <a:r>
              <a:rPr kumimoji="0" lang="ko-KR" altLang="en-US" sz="14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HY헤드라인M" pitchFamily="18" charset="-127"/>
                <a:ea typeface="HY헤드라인M" pitchFamily="18" charset="-127"/>
              </a:rPr>
              <a:t>비용</a:t>
            </a:r>
            <a:r>
              <a:rPr kumimoji="0" lang="en-US" altLang="ko-KR" sz="14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HY헤드라인M" pitchFamily="18" charset="-127"/>
                <a:ea typeface="HY헤드라인M" pitchFamily="18" charset="-127"/>
              </a:rPr>
              <a:t>)</a:t>
            </a:r>
            <a:r>
              <a:rPr kumimoji="0" lang="ko-KR" altLang="en-US" sz="14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HY헤드라인M" pitchFamily="18" charset="-127"/>
                <a:ea typeface="HY헤드라인M" pitchFamily="18" charset="-127"/>
              </a:rPr>
              <a:t>업무의 다양한 자료 제공</a:t>
            </a:r>
            <a:endParaRPr kumimoji="0" lang="en-US" altLang="ko-KR" sz="140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HY헤드라인M" pitchFamily="18" charset="-127"/>
              <a:ea typeface="HY헤드라인M" pitchFamily="18" charset="-127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ko-KR" sz="1600" noProof="0" dirty="0" smtClean="0">
                <a:solidFill>
                  <a:srgbClr val="0070C0"/>
                </a:solidFill>
                <a:latin typeface="HY헤드라인M" pitchFamily="18" charset="-127"/>
                <a:ea typeface="HY헤드라인M" pitchFamily="18" charset="-127"/>
                <a:sym typeface="Wingdings" pitchFamily="2" charset="2"/>
              </a:rPr>
              <a:t> </a:t>
            </a:r>
            <a:r>
              <a:rPr lang="ko-KR" altLang="en-US" sz="1600" noProof="0" dirty="0" smtClean="0">
                <a:solidFill>
                  <a:srgbClr val="0070C0"/>
                </a:solidFill>
                <a:latin typeface="HY헤드라인M" pitchFamily="18" charset="-127"/>
                <a:ea typeface="HY헤드라인M" pitchFamily="18" charset="-127"/>
              </a:rPr>
              <a:t>자사의 </a:t>
            </a:r>
            <a:r>
              <a:rPr kumimoji="0" lang="ko-KR" altLang="en-US" sz="160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</a:rPr>
              <a:t>분석</a:t>
            </a:r>
            <a:r>
              <a:rPr kumimoji="0" lang="ko-KR" altLang="en-US" sz="1600" i="0" u="none" strike="noStrike" kern="1200" cap="none" spc="0" normalizeH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</a:rPr>
              <a:t> 및 향후 계획의 효율성 증가</a:t>
            </a:r>
            <a:endParaRPr kumimoji="0" lang="en-US" altLang="ko-KR" sz="1600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HY헤드라인M" pitchFamily="18" charset="-127"/>
              <a:ea typeface="HY헤드라인M" pitchFamily="18" charset="-127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HY헤드라인M" pitchFamily="18" charset="-127"/>
                <a:ea typeface="HY헤드라인M" pitchFamily="18" charset="-127"/>
              </a:rPr>
              <a:t>3)</a:t>
            </a:r>
            <a:r>
              <a:rPr kumimoji="0" lang="ko-KR" altLang="en-US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HY헤드라인M" pitchFamily="18" charset="-127"/>
                <a:ea typeface="HY헤드라인M" pitchFamily="18" charset="-127"/>
              </a:rPr>
              <a:t> 기타 확장 개발</a:t>
            </a:r>
            <a:endParaRPr kumimoji="0" lang="en-US" altLang="ko-KR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HY헤드라인M" pitchFamily="18" charset="-127"/>
              <a:ea typeface="HY헤드라인M" pitchFamily="18" charset="-127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14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HY헤드라인M" pitchFamily="18" charset="-127"/>
                <a:ea typeface="HY헤드라인M" pitchFamily="18" charset="-127"/>
              </a:rPr>
              <a:t>- </a:t>
            </a:r>
            <a:r>
              <a:rPr kumimoji="0" lang="ko-KR" altLang="en-US" sz="14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HY헤드라인M" pitchFamily="18" charset="-127"/>
                <a:ea typeface="HY헤드라인M" pitchFamily="18" charset="-127"/>
              </a:rPr>
              <a:t>가공품</a:t>
            </a:r>
            <a:r>
              <a:rPr kumimoji="0" lang="en-US" altLang="ko-KR" sz="14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HY헤드라인M" pitchFamily="18" charset="-127"/>
                <a:ea typeface="HY헤드라인M" pitchFamily="18" charset="-127"/>
              </a:rPr>
              <a:t>/</a:t>
            </a:r>
            <a:r>
              <a:rPr kumimoji="0" lang="ko-KR" altLang="en-US" sz="14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HY헤드라인M" pitchFamily="18" charset="-127"/>
                <a:ea typeface="HY헤드라인M" pitchFamily="18" charset="-127"/>
              </a:rPr>
              <a:t>자재 관리 및 가맹점 관리 시스템의 확장</a:t>
            </a:r>
            <a:endParaRPr kumimoji="0" lang="en-US" altLang="ko-KR" sz="140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HY헤드라인M" pitchFamily="18" charset="-127"/>
              <a:ea typeface="HY헤드라인M" pitchFamily="18" charset="-127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160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sym typeface="Wingdings" pitchFamily="2" charset="2"/>
              </a:rPr>
              <a:t> </a:t>
            </a:r>
            <a:r>
              <a:rPr kumimoji="0" lang="ko-KR" altLang="en-US" sz="160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sym typeface="Wingdings" pitchFamily="2" charset="2"/>
              </a:rPr>
              <a:t>자사의 업무저하의 수작업에서 전산화로 업무의 효율성 </a:t>
            </a:r>
            <a:r>
              <a:rPr kumimoji="0" lang="ko-KR" altLang="en-US" sz="160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sym typeface="Wingdings" pitchFamily="2" charset="2"/>
              </a:rPr>
              <a:t>증대</a:t>
            </a:r>
            <a:endParaRPr lang="en-US" altLang="ko-KR" dirty="0" smtClean="0">
              <a:latin typeface="HY헤드라인M" pitchFamily="18" charset="-127"/>
              <a:ea typeface="HY헤드라인M" pitchFamily="18" charset="-127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ko-KR" altLang="en-US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5" name="Rectangle 63"/>
          <p:cNvSpPr>
            <a:spLocks noChangeArrowheads="1"/>
          </p:cNvSpPr>
          <p:nvPr/>
        </p:nvSpPr>
        <p:spPr bwMode="auto">
          <a:xfrm>
            <a:off x="357158" y="714356"/>
            <a:ext cx="3571900" cy="50006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l" eaLnBrk="1" latin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2000" dirty="0" smtClean="0">
                <a:latin typeface="HY헤드라인M" pitchFamily="18" charset="-127"/>
                <a:ea typeface="HY헤드라인M" pitchFamily="18" charset="-127"/>
              </a:rPr>
              <a:t>나</a:t>
            </a:r>
            <a:r>
              <a:rPr lang="en-US" altLang="ko-KR" sz="2000" dirty="0" smtClean="0"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sz="2000" dirty="0" smtClean="0">
                <a:latin typeface="HY헤드라인M" pitchFamily="18" charset="-127"/>
                <a:ea typeface="HY헤드라인M" pitchFamily="18" charset="-127"/>
              </a:rPr>
              <a:t>향후 시스템 확장 제안  범위 및</a:t>
            </a:r>
            <a:r>
              <a:rPr lang="en-US" altLang="ko-KR" sz="2000" dirty="0" smtClean="0"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2000" dirty="0" smtClean="0">
                <a:latin typeface="HY헤드라인M" pitchFamily="18" charset="-127"/>
                <a:ea typeface="HY헤드라인M" pitchFamily="18" charset="-127"/>
              </a:rPr>
              <a:t>기대 효과</a:t>
            </a:r>
            <a:endParaRPr lang="en-US" altLang="ko-KR" sz="2000" dirty="0">
              <a:latin typeface="HY헤드라인M" pitchFamily="18" charset="-127"/>
              <a:ea typeface="HY헤드라인M" pitchFamily="18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511</Words>
  <Application>Microsoft Office PowerPoint</Application>
  <PresentationFormat>화면 슬라이드 쇼(4:3)</PresentationFormat>
  <Paragraphs>333</Paragraphs>
  <Slides>9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</vt:vector>
  </TitlesOfParts>
  <Company>Samsung Electronics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SEC</dc:creator>
  <cp:lastModifiedBy>choongang</cp:lastModifiedBy>
  <cp:revision>62</cp:revision>
  <dcterms:created xsi:type="dcterms:W3CDTF">2010-05-16T06:49:30Z</dcterms:created>
  <dcterms:modified xsi:type="dcterms:W3CDTF">2010-05-19T12:26:50Z</dcterms:modified>
</cp:coreProperties>
</file>