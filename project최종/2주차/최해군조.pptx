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6" r:id="rId2"/>
    <p:sldId id="257" r:id="rId3"/>
    <p:sldId id="258" r:id="rId4"/>
    <p:sldId id="303" r:id="rId5"/>
    <p:sldId id="306" r:id="rId6"/>
    <p:sldId id="305" r:id="rId7"/>
    <p:sldId id="304" r:id="rId8"/>
    <p:sldId id="291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00"/>
    <a:srgbClr val="F60000"/>
    <a:srgbClr val="E9171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255" autoAdjust="0"/>
    <p:restoredTop sz="94660"/>
  </p:normalViewPr>
  <p:slideViewPr>
    <p:cSldViewPr>
      <p:cViewPr>
        <p:scale>
          <a:sx n="75" d="100"/>
          <a:sy n="75" d="100"/>
        </p:scale>
        <p:origin x="-1200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4C587B2-A839-44D1-985B-11EA9DE5DA93}">
      <dsp:nvSpPr>
        <dsp:cNvPr id="0" name=""/>
        <dsp:cNvSpPr/>
      </dsp:nvSpPr>
      <dsp:spPr>
        <a:xfrm>
          <a:off x="0" y="6444"/>
          <a:ext cx="8280920" cy="5333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smtClean="0"/>
            <a:t>미국의 명품 가방</a:t>
          </a:r>
          <a:r>
            <a:rPr lang="en-US" altLang="ko-KR" sz="1700" kern="1200" smtClean="0"/>
            <a:t>, </a:t>
          </a:r>
          <a:r>
            <a:rPr lang="ko-KR" altLang="en-US" sz="1700" kern="1200" smtClean="0"/>
            <a:t>핸드백 등 </a:t>
          </a:r>
          <a:r>
            <a:rPr lang="ko-KR" altLang="en-US" sz="1700" kern="1200" err="1" smtClean="0"/>
            <a:t>렌탈</a:t>
          </a:r>
          <a:r>
            <a:rPr lang="ko-KR" altLang="en-US" sz="1700" kern="1200" smtClean="0"/>
            <a:t> 서비스</a:t>
          </a:r>
          <a:endParaRPr lang="ko-KR" altLang="en-US" sz="1700" kern="1200"/>
        </a:p>
      </dsp:txBody>
      <dsp:txXfrm>
        <a:off x="0" y="6444"/>
        <a:ext cx="8280920" cy="533300"/>
      </dsp:txXfrm>
    </dsp:sp>
    <dsp:sp modelId="{7CF96205-A2C8-4B1F-90D2-DB60C4457FAA}">
      <dsp:nvSpPr>
        <dsp:cNvPr id="0" name=""/>
        <dsp:cNvSpPr/>
      </dsp:nvSpPr>
      <dsp:spPr>
        <a:xfrm>
          <a:off x="0" y="539745"/>
          <a:ext cx="8280920" cy="172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1590" rIns="120904" bIns="21590" numCol="1" spcCol="1270" anchor="t" anchorCtr="0">
          <a:noAutofit/>
        </a:bodyPr>
        <a:lstStyle/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smtClean="0"/>
            <a:t>여성 소비자들이 열광하는 각종 브랜드의 명품 가방들을 월 단위로 빌려주는 </a:t>
          </a:r>
          <a:r>
            <a:rPr lang="ko-KR" altLang="en-US" sz="1300" b="0" i="0" kern="1200" err="1" smtClean="0"/>
            <a:t>렌탈</a:t>
          </a:r>
          <a:r>
            <a:rPr lang="ko-KR" altLang="en-US" sz="1300" b="0" i="0" kern="1200" smtClean="0"/>
            <a:t> 서비스는 한 달 </a:t>
          </a:r>
          <a:r>
            <a:rPr lang="en-US" altLang="ko-KR" sz="1300" b="0" i="0" kern="1200" smtClean="0"/>
            <a:t>100 ~ 500</a:t>
          </a:r>
          <a:r>
            <a:rPr lang="ko-KR" altLang="en-US" sz="1300" b="0" i="0" kern="1200" smtClean="0"/>
            <a:t>달러 정도의 비용으로 체험해 볼 수 있도록 돕고 있다</a:t>
          </a:r>
          <a:r>
            <a:rPr lang="en-US" altLang="ko-KR" sz="1300" b="0" i="0" kern="1200" smtClean="0"/>
            <a:t>.</a:t>
          </a: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err="1" smtClean="0"/>
            <a:t>렌탈뿐</a:t>
          </a:r>
          <a:r>
            <a:rPr lang="ko-KR" altLang="en-US" sz="1300" b="0" i="0" kern="1200" smtClean="0"/>
            <a:t> 아니라 일부 품목은 중고 판매도 하고 있어 매우 저렴한 가격으로 명품을 구매할 수도 있고</a:t>
          </a:r>
          <a:r>
            <a:rPr lang="en-US" altLang="ko-KR" sz="1300" b="0" i="0" kern="1200" smtClean="0"/>
            <a:t>, </a:t>
          </a:r>
          <a:r>
            <a:rPr lang="ko-KR" altLang="en-US" sz="1300" b="0" i="0" kern="1200" smtClean="0"/>
            <a:t>가방을 판매 할 수 도 있다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또한</a:t>
          </a:r>
          <a:r>
            <a:rPr lang="en-US" altLang="ko-KR" sz="1300" b="0" i="0" kern="1200" smtClean="0"/>
            <a:t>,</a:t>
          </a:r>
          <a:r>
            <a:rPr lang="ko-KR" altLang="en-US" sz="1300" b="0" i="0" kern="1200" smtClean="0"/>
            <a:t> </a:t>
          </a:r>
          <a:r>
            <a:rPr lang="ko-KR" altLang="en-US" sz="1300" b="0" i="0" kern="1200" err="1" smtClean="0"/>
            <a:t>렌탈로</a:t>
          </a:r>
          <a:r>
            <a:rPr lang="ko-KR" altLang="en-US" sz="1300" b="0" i="0" kern="1200" smtClean="0"/>
            <a:t> 사용된 제품을 구입 할 수 도 있으며 소비자가 소유하고 있는 가방을 판매 할 수 도 있다</a:t>
          </a:r>
          <a:r>
            <a:rPr lang="en-US" altLang="ko-KR" sz="1300" b="0" i="0" kern="1200" smtClean="0"/>
            <a:t>. </a:t>
          </a:r>
          <a:endParaRPr lang="ko-KR" altLang="en-US" sz="1300" kern="1200"/>
        </a:p>
      </dsp:txBody>
      <dsp:txXfrm>
        <a:off x="0" y="539745"/>
        <a:ext cx="8280920" cy="1724310"/>
      </dsp:txXfrm>
    </dsp:sp>
    <dsp:sp modelId="{75F8BB08-B557-4E8B-BDD7-C77FD58361F2}">
      <dsp:nvSpPr>
        <dsp:cNvPr id="0" name=""/>
        <dsp:cNvSpPr/>
      </dsp:nvSpPr>
      <dsp:spPr>
        <a:xfrm>
          <a:off x="0" y="2264055"/>
          <a:ext cx="8280920" cy="5333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smtClean="0"/>
            <a:t>인천지역 </a:t>
          </a:r>
          <a:r>
            <a:rPr lang="ko-KR" altLang="en-US" sz="1700" kern="1200" err="1" smtClean="0"/>
            <a:t>렌탈</a:t>
          </a:r>
          <a:r>
            <a:rPr lang="ko-KR" altLang="en-US" sz="1700" kern="1200" smtClean="0"/>
            <a:t> 업체 </a:t>
          </a:r>
          <a:r>
            <a:rPr lang="en-US" altLang="ko-KR" sz="1700" kern="1200" smtClean="0"/>
            <a:t>3~4</a:t>
          </a:r>
          <a:r>
            <a:rPr lang="ko-KR" altLang="en-US" sz="1700" kern="1200" smtClean="0"/>
            <a:t>곳 신설</a:t>
          </a:r>
          <a:endParaRPr lang="ko-KR" altLang="en-US" sz="1700" kern="1200"/>
        </a:p>
      </dsp:txBody>
      <dsp:txXfrm>
        <a:off x="0" y="2264055"/>
        <a:ext cx="8280920" cy="533300"/>
      </dsp:txXfrm>
    </dsp:sp>
    <dsp:sp modelId="{D3D0C041-6D8B-42F6-A45A-9309B6273278}">
      <dsp:nvSpPr>
        <dsp:cNvPr id="0" name=""/>
        <dsp:cNvSpPr/>
      </dsp:nvSpPr>
      <dsp:spPr>
        <a:xfrm>
          <a:off x="0" y="2797355"/>
          <a:ext cx="8280920" cy="1970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19" tIns="21590" rIns="120904" bIns="21590" numCol="1" spcCol="1270" anchor="t" anchorCtr="0">
          <a:noAutofit/>
        </a:bodyPr>
        <a:lstStyle/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smtClean="0"/>
            <a:t>인천 </a:t>
          </a:r>
          <a:r>
            <a:rPr lang="ko-KR" altLang="en-US" sz="1300" b="0" i="0" kern="1200" err="1" smtClean="0"/>
            <a:t>구월동에</a:t>
          </a:r>
          <a:r>
            <a:rPr lang="ko-KR" altLang="en-US" sz="1300" b="0" i="0" kern="1200" smtClean="0"/>
            <a:t> 위치한 상가 명품 </a:t>
          </a:r>
          <a:r>
            <a:rPr lang="ko-KR" altLang="en-US" sz="1300" b="0" i="0" kern="1200" err="1" smtClean="0"/>
            <a:t>렌탈숍은</a:t>
          </a:r>
          <a:r>
            <a:rPr lang="ko-KR" altLang="en-US" sz="1300" b="0" i="0" kern="1200" smtClean="0"/>
            <a:t> 샤넬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구찌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에르메스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프라다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루이비통</a:t>
          </a:r>
          <a:r>
            <a:rPr lang="ko-KR" altLang="en-US" sz="1300" b="0" i="0" kern="1200" smtClean="0"/>
            <a:t> 등의 브랜드를 포함해 총 </a:t>
          </a:r>
          <a:r>
            <a:rPr lang="en-US" altLang="ko-KR" sz="1300" b="0" i="0" kern="1200" smtClean="0"/>
            <a:t>40</a:t>
          </a:r>
          <a:r>
            <a:rPr lang="ko-KR" altLang="en-US" sz="1300" b="0" i="0" kern="1200" err="1" smtClean="0"/>
            <a:t>여개의</a:t>
          </a:r>
          <a:r>
            <a:rPr lang="ko-KR" altLang="en-US" sz="1300" b="0" i="0" kern="1200" smtClean="0"/>
            <a:t> 명품 가방을 대여</a:t>
          </a:r>
          <a:r>
            <a:rPr lang="en-US" altLang="ko-KR" sz="1300" b="0" i="0" kern="1200" smtClean="0"/>
            <a:t>·</a:t>
          </a:r>
          <a:r>
            <a:rPr lang="ko-KR" altLang="en-US" sz="1300" b="0" i="0" kern="1200" smtClean="0"/>
            <a:t>판매한다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더불어</a:t>
          </a:r>
          <a:r>
            <a:rPr lang="en-US" altLang="ko-KR" sz="1300" b="0" i="0" kern="1200" smtClean="0"/>
            <a:t>, </a:t>
          </a:r>
          <a:r>
            <a:rPr lang="ko-KR" altLang="en-US" sz="1300" b="0" i="0" kern="1200" err="1" smtClean="0"/>
            <a:t>송도동에</a:t>
          </a:r>
          <a:r>
            <a:rPr lang="ko-KR" altLang="en-US" sz="1300" b="0" i="0" kern="1200" smtClean="0"/>
            <a:t> 위치한 다른 명품 </a:t>
          </a:r>
          <a:r>
            <a:rPr lang="ko-KR" altLang="en-US" sz="1300" b="0" i="0" kern="1200" err="1" smtClean="0"/>
            <a:t>대여숍에는</a:t>
          </a:r>
          <a:r>
            <a:rPr lang="ko-KR" altLang="en-US" sz="1300" b="0" i="0" kern="1200" smtClean="0"/>
            <a:t> </a:t>
          </a:r>
          <a:r>
            <a:rPr lang="en-US" altLang="ko-KR" sz="1300" b="0" i="0" kern="1200" smtClean="0"/>
            <a:t>100</a:t>
          </a:r>
          <a:r>
            <a:rPr lang="ko-KR" altLang="en-US" sz="1300" b="0" i="0" kern="1200" err="1" smtClean="0"/>
            <a:t>여개</a:t>
          </a:r>
          <a:r>
            <a:rPr lang="ko-KR" altLang="en-US" sz="1300" b="0" i="0" kern="1200" smtClean="0"/>
            <a:t> 이상의 가방과 지갑</a:t>
          </a:r>
          <a:r>
            <a:rPr lang="en-US" altLang="ko-KR" sz="1300" b="0" i="0" kern="1200" smtClean="0"/>
            <a:t>, </a:t>
          </a:r>
          <a:r>
            <a:rPr lang="ko-KR" altLang="en-US" sz="1300" b="0" i="0" kern="1200" smtClean="0"/>
            <a:t>의류</a:t>
          </a:r>
          <a:r>
            <a:rPr lang="en-US" altLang="ko-KR" sz="1300" b="0" i="0" kern="1200" smtClean="0"/>
            <a:t>, </a:t>
          </a:r>
          <a:r>
            <a:rPr lang="ko-KR" altLang="en-US" sz="1300" b="0" i="0" kern="1200" smtClean="0"/>
            <a:t>신발 등의 제품을 보유하고 있다</a:t>
          </a: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300" kern="1200"/>
        </a:p>
        <a:p>
          <a:pPr marL="114300" lvl="1" indent="-114300" algn="l" defTabSz="5778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300" b="0" i="0" kern="1200" smtClean="0"/>
            <a:t>이 가게의 주요 고객층은 바로 주부다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전체 소비자의 </a:t>
          </a:r>
          <a:r>
            <a:rPr lang="en-US" altLang="ko-KR" sz="1300" b="0" i="0" kern="1200" smtClean="0"/>
            <a:t>90%</a:t>
          </a:r>
          <a:r>
            <a:rPr lang="ko-KR" altLang="en-US" sz="1300" b="0" i="0" kern="1200" smtClean="0"/>
            <a:t>가 송도 신도시와 인근 논현동 일대에 사는 </a:t>
          </a:r>
          <a:r>
            <a:rPr lang="en-US" altLang="ko-KR" sz="1300" b="0" i="0" kern="1200" smtClean="0"/>
            <a:t>30</a:t>
          </a:r>
          <a:r>
            <a:rPr lang="ko-KR" altLang="en-US" sz="1300" b="0" i="0" kern="1200" smtClean="0"/>
            <a:t>대 여성이 차지하고 있다</a:t>
          </a:r>
          <a:r>
            <a:rPr lang="en-US" altLang="ko-KR" sz="1300" b="0" i="0" kern="1200" smtClean="0"/>
            <a:t>. </a:t>
          </a:r>
          <a:r>
            <a:rPr lang="ko-KR" altLang="en-US" sz="1300" b="0" i="0" kern="1200" smtClean="0"/>
            <a:t>비교적 소득이 높은 지역에서도 </a:t>
          </a:r>
          <a:r>
            <a:rPr lang="ko-KR" altLang="en-US" sz="1300" b="0" i="0" kern="1200" err="1" smtClean="0"/>
            <a:t>가사비</a:t>
          </a:r>
          <a:r>
            <a:rPr lang="ko-KR" altLang="en-US" sz="1300" b="0" i="0" kern="1200" smtClean="0"/>
            <a:t> 지출이 많은 주부들이 본인의 겉치레를 위해 고가의 명품을 사는 것보다 주요 행사가 있을 때 제품을 잠깐 빌려서 사용하는 사람들이 다수다</a:t>
          </a:r>
          <a:r>
            <a:rPr lang="en-US" altLang="ko-KR" sz="1300" b="0" i="0" kern="1200" smtClean="0"/>
            <a:t>.</a:t>
          </a:r>
          <a:endParaRPr lang="ko-KR" altLang="en-US" sz="1300" kern="1200"/>
        </a:p>
      </dsp:txBody>
      <dsp:txXfrm>
        <a:off x="0" y="2797355"/>
        <a:ext cx="8280920" cy="1970640"/>
      </dsp:txXfrm>
    </dsp:sp>
  </dsp:spTree>
</dsp:drawing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17E6D-81CC-4B51-A111-E9C58B1BFE08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A62-C0FB-48C8-81A0-14ADC9E99D3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4907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1247501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130F2-1FDA-41E0-8A4C-F945853E1617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178576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189964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215082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1368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7"/>
          <p:cNvGrpSpPr/>
          <p:nvPr userDrawn="1"/>
        </p:nvGrpSpPr>
        <p:grpSpPr>
          <a:xfrm>
            <a:off x="117569" y="281122"/>
            <a:ext cx="8987246" cy="6576878"/>
            <a:chOff x="117568" y="279836"/>
            <a:chExt cx="8987246" cy="6576878"/>
          </a:xfrm>
        </p:grpSpPr>
        <p:grpSp>
          <p:nvGrpSpPr>
            <p:cNvPr id="3" name="그룹 10"/>
            <p:cNvGrpSpPr/>
            <p:nvPr userDrawn="1"/>
          </p:nvGrpSpPr>
          <p:grpSpPr>
            <a:xfrm>
              <a:off x="178529" y="279836"/>
              <a:ext cx="540000" cy="373638"/>
              <a:chOff x="3285372" y="1613498"/>
              <a:chExt cx="2573256" cy="1560224"/>
            </a:xfrm>
          </p:grpSpPr>
          <p:sp>
            <p:nvSpPr>
              <p:cNvPr id="12" name="자유형 11"/>
              <p:cNvSpPr/>
              <p:nvPr userDrawn="1"/>
            </p:nvSpPr>
            <p:spPr>
              <a:xfrm>
                <a:off x="4116914" y="1842807"/>
                <a:ext cx="1741714" cy="1330915"/>
              </a:xfrm>
              <a:custGeom>
                <a:avLst/>
                <a:gdLst>
                  <a:gd name="connsiteX0" fmla="*/ 78375 w 1741714"/>
                  <a:gd name="connsiteY0" fmla="*/ 0 h 1330915"/>
                  <a:gd name="connsiteX1" fmla="*/ 1663339 w 1741714"/>
                  <a:gd name="connsiteY1" fmla="*/ 0 h 1330915"/>
                  <a:gd name="connsiteX2" fmla="*/ 1741714 w 1741714"/>
                  <a:gd name="connsiteY2" fmla="*/ 78375 h 1330915"/>
                  <a:gd name="connsiteX3" fmla="*/ 1741714 w 1741714"/>
                  <a:gd name="connsiteY3" fmla="*/ 1062448 h 1330915"/>
                  <a:gd name="connsiteX4" fmla="*/ 1663339 w 1741714"/>
                  <a:gd name="connsiteY4" fmla="*/ 1140823 h 1330915"/>
                  <a:gd name="connsiteX5" fmla="*/ 1609451 w 1741714"/>
                  <a:gd name="connsiteY5" fmla="*/ 1140823 h 1330915"/>
                  <a:gd name="connsiteX6" fmla="*/ 1609451 w 1741714"/>
                  <a:gd name="connsiteY6" fmla="*/ 1330915 h 1330915"/>
                  <a:gd name="connsiteX7" fmla="*/ 1357810 w 1741714"/>
                  <a:gd name="connsiteY7" fmla="*/ 1140823 h 1330915"/>
                  <a:gd name="connsiteX8" fmla="*/ 78375 w 1741714"/>
                  <a:gd name="connsiteY8" fmla="*/ 1140823 h 1330915"/>
                  <a:gd name="connsiteX9" fmla="*/ 0 w 1741714"/>
                  <a:gd name="connsiteY9" fmla="*/ 1062448 h 1330915"/>
                  <a:gd name="connsiteX10" fmla="*/ 0 w 1741714"/>
                  <a:gd name="connsiteY10" fmla="*/ 78375 h 1330915"/>
                  <a:gd name="connsiteX11" fmla="*/ 78375 w 1741714"/>
                  <a:gd name="connsiteY11" fmla="*/ 0 h 133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4" h="1330915">
                    <a:moveTo>
                      <a:pt x="78375" y="0"/>
                    </a:moveTo>
                    <a:lnTo>
                      <a:pt x="1663339" y="0"/>
                    </a:lnTo>
                    <a:cubicBezTo>
                      <a:pt x="1706624" y="0"/>
                      <a:pt x="1741714" y="35090"/>
                      <a:pt x="1741714" y="78375"/>
                    </a:cubicBezTo>
                    <a:lnTo>
                      <a:pt x="1741714" y="1062448"/>
                    </a:lnTo>
                    <a:cubicBezTo>
                      <a:pt x="1741714" y="1105733"/>
                      <a:pt x="1706624" y="1140823"/>
                      <a:pt x="1663339" y="1140823"/>
                    </a:cubicBezTo>
                    <a:lnTo>
                      <a:pt x="1609451" y="1140823"/>
                    </a:lnTo>
                    <a:lnTo>
                      <a:pt x="1609451" y="1330915"/>
                    </a:lnTo>
                    <a:lnTo>
                      <a:pt x="1357810" y="1140823"/>
                    </a:lnTo>
                    <a:lnTo>
                      <a:pt x="78375" y="1140823"/>
                    </a:lnTo>
                    <a:cubicBezTo>
                      <a:pt x="35090" y="1140823"/>
                      <a:pt x="0" y="1105733"/>
                      <a:pt x="0" y="1062448"/>
                    </a:cubicBezTo>
                    <a:lnTo>
                      <a:pt x="0" y="78375"/>
                    </a:lnTo>
                    <a:cubicBezTo>
                      <a:pt x="0" y="35090"/>
                      <a:pt x="35090" y="0"/>
                      <a:pt x="78375" y="0"/>
                    </a:cubicBezTo>
                    <a:close/>
                  </a:path>
                </a:pathLst>
              </a:custGeom>
              <a:solidFill>
                <a:srgbClr val="B1D1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/>
              <p:nvPr userDrawn="1"/>
            </p:nvCxnSpPr>
            <p:spPr>
              <a:xfrm flipH="1">
                <a:off x="4213771" y="1724657"/>
                <a:ext cx="1548000" cy="0"/>
              </a:xfrm>
              <a:prstGeom prst="line">
                <a:avLst/>
              </a:prstGeom>
              <a:ln w="12700">
                <a:solidFill>
                  <a:srgbClr val="EEECE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자유형 13"/>
              <p:cNvSpPr/>
              <p:nvPr userDrawn="1"/>
            </p:nvSpPr>
            <p:spPr>
              <a:xfrm flipH="1">
                <a:off x="3285372" y="1613498"/>
                <a:ext cx="1060205" cy="810146"/>
              </a:xfrm>
              <a:custGeom>
                <a:avLst/>
                <a:gdLst>
                  <a:gd name="connsiteX0" fmla="*/ 1012497 w 1060205"/>
                  <a:gd name="connsiteY0" fmla="*/ 0 h 810146"/>
                  <a:gd name="connsiteX1" fmla="*/ 47708 w 1060205"/>
                  <a:gd name="connsiteY1" fmla="*/ 0 h 810146"/>
                  <a:gd name="connsiteX2" fmla="*/ 0 w 1060205"/>
                  <a:gd name="connsiteY2" fmla="*/ 47708 h 810146"/>
                  <a:gd name="connsiteX3" fmla="*/ 0 w 1060205"/>
                  <a:gd name="connsiteY3" fmla="*/ 646727 h 810146"/>
                  <a:gd name="connsiteX4" fmla="*/ 47708 w 1060205"/>
                  <a:gd name="connsiteY4" fmla="*/ 694435 h 810146"/>
                  <a:gd name="connsiteX5" fmla="*/ 826518 w 1060205"/>
                  <a:gd name="connsiteY5" fmla="*/ 694435 h 810146"/>
                  <a:gd name="connsiteX6" fmla="*/ 979695 w 1060205"/>
                  <a:gd name="connsiteY6" fmla="*/ 810146 h 810146"/>
                  <a:gd name="connsiteX7" fmla="*/ 979695 w 1060205"/>
                  <a:gd name="connsiteY7" fmla="*/ 694435 h 810146"/>
                  <a:gd name="connsiteX8" fmla="*/ 1012497 w 1060205"/>
                  <a:gd name="connsiteY8" fmla="*/ 694435 h 810146"/>
                  <a:gd name="connsiteX9" fmla="*/ 1060205 w 1060205"/>
                  <a:gd name="connsiteY9" fmla="*/ 646727 h 810146"/>
                  <a:gd name="connsiteX10" fmla="*/ 1060205 w 1060205"/>
                  <a:gd name="connsiteY10" fmla="*/ 47708 h 810146"/>
                  <a:gd name="connsiteX11" fmla="*/ 1012497 w 1060205"/>
                  <a:gd name="connsiteY11" fmla="*/ 0 h 81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60205" h="810146">
                    <a:moveTo>
                      <a:pt x="1012497" y="0"/>
                    </a:moveTo>
                    <a:lnTo>
                      <a:pt x="47708" y="0"/>
                    </a:lnTo>
                    <a:cubicBezTo>
                      <a:pt x="21360" y="0"/>
                      <a:pt x="0" y="21360"/>
                      <a:pt x="0" y="47708"/>
                    </a:cubicBezTo>
                    <a:lnTo>
                      <a:pt x="0" y="646727"/>
                    </a:lnTo>
                    <a:cubicBezTo>
                      <a:pt x="0" y="673075"/>
                      <a:pt x="21360" y="694435"/>
                      <a:pt x="47708" y="694435"/>
                    </a:cubicBezTo>
                    <a:lnTo>
                      <a:pt x="826518" y="694435"/>
                    </a:lnTo>
                    <a:lnTo>
                      <a:pt x="979695" y="810146"/>
                    </a:lnTo>
                    <a:lnTo>
                      <a:pt x="979695" y="694435"/>
                    </a:lnTo>
                    <a:lnTo>
                      <a:pt x="1012497" y="694435"/>
                    </a:lnTo>
                    <a:cubicBezTo>
                      <a:pt x="1038845" y="694435"/>
                      <a:pt x="1060205" y="673075"/>
                      <a:pt x="1060205" y="646727"/>
                    </a:cubicBezTo>
                    <a:lnTo>
                      <a:pt x="1060205" y="47708"/>
                    </a:lnTo>
                    <a:cubicBezTo>
                      <a:pt x="1060205" y="21360"/>
                      <a:pt x="1038845" y="0"/>
                      <a:pt x="1012497" y="0"/>
                    </a:cubicBezTo>
                    <a:close/>
                  </a:path>
                </a:pathLst>
              </a:custGeom>
              <a:solidFill>
                <a:srgbClr val="D5858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sp>
          <p:nvSpPr>
            <p:cNvPr id="11" name="자유형 10"/>
            <p:cNvSpPr/>
            <p:nvPr userDrawn="1"/>
          </p:nvSpPr>
          <p:spPr>
            <a:xfrm rot="16200000">
              <a:off x="4566191" y="2318091"/>
              <a:ext cx="90000" cy="8987246"/>
            </a:xfrm>
            <a:custGeom>
              <a:avLst/>
              <a:gdLst>
                <a:gd name="connsiteX0" fmla="*/ 68159 w 68159"/>
                <a:gd name="connsiteY0" fmla="*/ 22382 h 8987246"/>
                <a:gd name="connsiteX1" fmla="*/ 68159 w 68159"/>
                <a:gd name="connsiteY1" fmla="*/ 3991180 h 8987246"/>
                <a:gd name="connsiteX2" fmla="*/ 66675 w 68159"/>
                <a:gd name="connsiteY2" fmla="*/ 3991180 h 8987246"/>
                <a:gd name="connsiteX3" fmla="*/ 66675 w 68159"/>
                <a:gd name="connsiteY3" fmla="*/ 4686505 h 8987246"/>
                <a:gd name="connsiteX4" fmla="*/ 68159 w 68159"/>
                <a:gd name="connsiteY4" fmla="*/ 4686505 h 8987246"/>
                <a:gd name="connsiteX5" fmla="*/ 68159 w 68159"/>
                <a:gd name="connsiteY5" fmla="*/ 8964864 h 8987246"/>
                <a:gd name="connsiteX6" fmla="*/ 0 w 68159"/>
                <a:gd name="connsiteY6" fmla="*/ 8987246 h 8987246"/>
                <a:gd name="connsiteX7" fmla="*/ 0 w 68159"/>
                <a:gd name="connsiteY7" fmla="*/ 0 h 8987246"/>
                <a:gd name="connsiteX8" fmla="*/ 68159 w 68159"/>
                <a:gd name="connsiteY8" fmla="*/ 22382 h 8987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159" h="8987246">
                  <a:moveTo>
                    <a:pt x="68159" y="22382"/>
                  </a:moveTo>
                  <a:lnTo>
                    <a:pt x="68159" y="3991180"/>
                  </a:lnTo>
                  <a:lnTo>
                    <a:pt x="66675" y="3991180"/>
                  </a:lnTo>
                  <a:lnTo>
                    <a:pt x="66675" y="4686505"/>
                  </a:lnTo>
                  <a:lnTo>
                    <a:pt x="68159" y="4686505"/>
                  </a:lnTo>
                  <a:lnTo>
                    <a:pt x="68159" y="8964864"/>
                  </a:lnTo>
                  <a:cubicBezTo>
                    <a:pt x="68159" y="8977225"/>
                    <a:pt x="37643" y="8987246"/>
                    <a:pt x="0" y="8987246"/>
                  </a:cubicBezTo>
                  <a:lnTo>
                    <a:pt x="0" y="0"/>
                  </a:lnTo>
                  <a:cubicBezTo>
                    <a:pt x="37643" y="0"/>
                    <a:pt x="68159" y="10021"/>
                    <a:pt x="68159" y="22382"/>
                  </a:cubicBezTo>
                  <a:close/>
                </a:path>
              </a:pathLst>
            </a:custGeom>
            <a:solidFill>
              <a:srgbClr val="B1D1CE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428728" y="857232"/>
            <a:ext cx="5857916" cy="13234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en-US" altLang="ko-KR" sz="8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2</a:t>
            </a:r>
            <a:r>
              <a:rPr lang="ko-KR" altLang="en-US" sz="80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주차 발표</a:t>
            </a:r>
            <a:endParaRPr lang="ko-KR" altLang="en-US" sz="8000" b="1" kern="0" spc="-15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323528" y="3532197"/>
            <a:ext cx="8334302" cy="0"/>
          </a:xfrm>
          <a:custGeom>
            <a:avLst/>
            <a:gdLst>
              <a:gd name="connsiteX0" fmla="*/ 0 w 8334302"/>
              <a:gd name="connsiteY0" fmla="*/ 0 h 0"/>
              <a:gd name="connsiteX1" fmla="*/ 8334302 w 833430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34302">
                <a:moveTo>
                  <a:pt x="0" y="0"/>
                </a:moveTo>
                <a:lnTo>
                  <a:pt x="8334302" y="0"/>
                </a:lnTo>
              </a:path>
            </a:pathLst>
          </a:custGeom>
          <a:noFill/>
          <a:ln w="19050" cap="rnd">
            <a:solidFill>
              <a:schemeClr val="accent1">
                <a:lumMod val="75000"/>
              </a:schemeClr>
            </a:solidFill>
            <a:tailEnd type="non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786182" y="3714752"/>
            <a:ext cx="4996346" cy="26776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defTabSz="1330325" eaLnBrk="0" latinLnBrk="0" hangingPunct="0">
              <a:buSzPct val="100000"/>
              <a:defRPr/>
            </a:pPr>
            <a:r>
              <a:rPr lang="ko-KR" altLang="en-US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팀장</a:t>
            </a:r>
            <a:r>
              <a:rPr lang="en-US" altLang="ko-KR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 </a:t>
            </a:r>
            <a:r>
              <a:rPr lang="en-US" altLang="ko-KR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: </a:t>
            </a:r>
            <a:r>
              <a:rPr lang="ko-KR" altLang="en-US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송택우</a:t>
            </a:r>
            <a:endParaRPr lang="en-US" altLang="ko-KR" sz="2800" b="1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endParaRPr lang="en-US" altLang="ko-KR" sz="2800" b="1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박성진</a:t>
            </a:r>
            <a:endParaRPr lang="en-US" altLang="ko-KR" sz="2800" b="1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김예진</a:t>
            </a:r>
            <a:endParaRPr lang="en-US" altLang="ko-KR" sz="2800" b="1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장정호</a:t>
            </a:r>
            <a:endParaRPr lang="en-US" altLang="ko-KR" sz="2800" b="1" kern="0" spc="-150" smtClean="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  <a:p>
            <a:pPr algn="r" defTabSz="1330325" eaLnBrk="0" latinLnBrk="0" hangingPunct="0">
              <a:buSzPct val="100000"/>
              <a:defRPr/>
            </a:pPr>
            <a:r>
              <a:rPr lang="ko-KR" altLang="en-US" sz="2800" b="1" kern="0" spc="-150" smtClean="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reflection blurRad="6350" stA="60000" endA="900" endPos="58000" dir="5400000" sy="-100000" algn="bl" rotWithShape="0"/>
                </a:effectLst>
                <a:latin typeface="양재소슬체S" panose="02020603020101020101" pitchFamily="18" charset="-127"/>
                <a:ea typeface="양재소슬체S" panose="02020603020101020101" pitchFamily="18" charset="-127"/>
              </a:rPr>
              <a:t>최해군</a:t>
            </a:r>
            <a:endParaRPr lang="ko-KR" altLang="en-US" sz="2800" b="1" kern="0" spc="-150">
              <a:gradFill>
                <a:gsLst>
                  <a:gs pos="0">
                    <a:srgbClr val="1F497D">
                      <a:lumMod val="50000"/>
                    </a:srgbClr>
                  </a:gs>
                  <a:gs pos="100000">
                    <a:srgbClr val="004D86"/>
                  </a:gs>
                </a:gsLst>
                <a:lin ang="5400000" scaled="0"/>
              </a:gradFill>
              <a:effectLst>
                <a:reflection blurRad="6350" stA="60000" endA="900" endPos="58000" dir="5400000" sy="-100000" algn="bl" rotWithShape="0"/>
              </a:effectLst>
              <a:latin typeface="양재소슬체S" panose="02020603020101020101" pitchFamily="18" charset="-127"/>
              <a:ea typeface="양재소슬체S" panose="02020603020101020101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19847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465940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00496" y="1785926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1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00496" y="3786190"/>
            <a:ext cx="562975" cy="1015663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sz="6000" smtClean="0">
                <a:ln>
                  <a:solidFill>
                    <a:schemeClr val="tx1">
                      <a:alpha val="1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블랙M" panose="02020600000000000000" pitchFamily="18" charset="-127"/>
                <a:ea typeface="a블랙M" panose="02020600000000000000" pitchFamily="18" charset="-127"/>
              </a:rPr>
              <a:t>2</a:t>
            </a:r>
            <a:endParaRPr lang="ko-KR" altLang="en-US" sz="6000">
              <a:ln>
                <a:solidFill>
                  <a:schemeClr val="tx1">
                    <a:alpha val="1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a블랙M" panose="02020600000000000000" pitchFamily="18" charset="-127"/>
              <a:ea typeface="a블랙M" panose="02020600000000000000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43438" y="2071678"/>
            <a:ext cx="432048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chemeClr val="tx2">
                    <a:lumMod val="75000"/>
                  </a:schemeClr>
                </a:solidFill>
              </a:rPr>
              <a:t>모델링</a:t>
            </a:r>
            <a:r>
              <a:rPr lang="en-US" altLang="ko-KR" sz="2400" b="1" smtClean="0">
                <a:solidFill>
                  <a:schemeClr val="tx2">
                    <a:lumMod val="75000"/>
                  </a:schemeClr>
                </a:solidFill>
              </a:rPr>
              <a:t>(EXERD)</a:t>
            </a:r>
            <a:endParaRPr lang="ko-KR" altLang="en-US" sz="2400"/>
          </a:p>
        </p:txBody>
      </p:sp>
      <p:sp>
        <p:nvSpPr>
          <p:cNvPr id="7" name="TextBox 6"/>
          <p:cNvSpPr txBox="1"/>
          <p:nvPr/>
        </p:nvSpPr>
        <p:spPr>
          <a:xfrm>
            <a:off x="4572000" y="3357562"/>
            <a:ext cx="4120342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sz="2400" smtClean="0"/>
              <a:t> </a:t>
            </a:r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1825646" y="1916251"/>
            <a:ext cx="1234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solidFill>
                  <a:schemeClr val="bg1"/>
                </a:solidFill>
              </a:rPr>
              <a:t>목 차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3438" y="4143380"/>
            <a:ext cx="4120342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sz="2400" smtClean="0"/>
              <a:t>진행상황</a:t>
            </a:r>
            <a:endParaRPr lang="ko-KR" altLang="en-US" sz="2400"/>
          </a:p>
        </p:txBody>
      </p:sp>
    </p:spTree>
    <p:extLst>
      <p:ext uri="{BB962C8B-B14F-4D97-AF65-F5344CB8AC3E}">
        <p14:creationId xmlns="" xmlns:p14="http://schemas.microsoft.com/office/powerpoint/2010/main" val="12285901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타원 14"/>
          <p:cNvSpPr/>
          <p:nvPr/>
        </p:nvSpPr>
        <p:spPr>
          <a:xfrm>
            <a:off x="2542974" y="1340768"/>
            <a:ext cx="4032448" cy="374441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 smtClean="0"/>
              <a:t>모델링 </a:t>
            </a:r>
            <a:endParaRPr lang="en-US" altLang="ko-KR" sz="4000" b="1" smtClean="0"/>
          </a:p>
          <a:p>
            <a:pPr algn="ctr"/>
            <a:r>
              <a:rPr lang="ko-KR" altLang="en-US" sz="4000" b="1" smtClean="0"/>
              <a:t>소개</a:t>
            </a:r>
            <a:endParaRPr lang="en-US" altLang="ko-KR" sz="4000" b="1" smtClean="0"/>
          </a:p>
          <a:p>
            <a:pPr algn="ctr"/>
            <a:r>
              <a:rPr lang="en-US" altLang="ko-KR" sz="4000" b="1" smtClean="0"/>
              <a:t>(EXERD)</a:t>
            </a:r>
            <a:endParaRPr lang="ko-KR" altLang="en-US" sz="4000" b="1"/>
          </a:p>
        </p:txBody>
      </p:sp>
    </p:spTree>
    <p:extLst>
      <p:ext uri="{BB962C8B-B14F-4D97-AF65-F5344CB8AC3E}">
        <p14:creationId xmlns="" xmlns:p14="http://schemas.microsoft.com/office/powerpoint/2010/main" val="335680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14476" y="80022"/>
            <a:ext cx="915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mtClean="0">
                <a:solidFill>
                  <a:schemeClr val="bg1"/>
                </a:solidFill>
              </a:rPr>
              <a:t>EXERD</a:t>
            </a:r>
            <a:endParaRPr lang="ko-KR" altLang="en-US" sz="2400" b="1">
              <a:solidFill>
                <a:schemeClr val="bg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642918"/>
            <a:ext cx="9144000" cy="62150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="" xmlns:p14="http://schemas.microsoft.com/office/powerpoint/2010/main" val="269352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8650"/>
            <a:ext cx="9144000" cy="622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직사각형 2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bg2"/>
                </a:solidFill>
              </a:rPr>
              <a:t>회원</a:t>
            </a:r>
            <a:r>
              <a:rPr lang="en-US" altLang="ko-KR" smtClean="0">
                <a:solidFill>
                  <a:schemeClr val="bg2"/>
                </a:solidFill>
              </a:rPr>
              <a:t>, </a:t>
            </a:r>
            <a:r>
              <a:rPr lang="ko-KR" altLang="en-US" smtClean="0">
                <a:solidFill>
                  <a:schemeClr val="bg2"/>
                </a:solidFill>
              </a:rPr>
              <a:t>게시판 </a:t>
            </a:r>
            <a:r>
              <a:rPr lang="en-US" altLang="ko-KR" smtClean="0">
                <a:solidFill>
                  <a:schemeClr val="bg2"/>
                </a:solidFill>
              </a:rPr>
              <a:t>DB</a:t>
            </a:r>
            <a:endParaRPr lang="ko-KR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bg2"/>
                </a:solidFill>
              </a:rPr>
              <a:t>동호회 </a:t>
            </a:r>
            <a:r>
              <a:rPr lang="en-US" altLang="ko-KR" smtClean="0">
                <a:solidFill>
                  <a:schemeClr val="bg2"/>
                </a:solidFill>
              </a:rPr>
              <a:t>DB</a:t>
            </a:r>
            <a:endParaRPr lang="ko-KR" altLang="en-US">
              <a:solidFill>
                <a:schemeClr val="bg2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3999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323531" y="800707"/>
          <a:ext cx="8568948" cy="6009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042"/>
                <a:gridCol w="416544"/>
                <a:gridCol w="416544"/>
                <a:gridCol w="416544"/>
                <a:gridCol w="416544"/>
                <a:gridCol w="416544"/>
                <a:gridCol w="453170"/>
                <a:gridCol w="416544"/>
                <a:gridCol w="518015"/>
                <a:gridCol w="513437"/>
                <a:gridCol w="508859"/>
                <a:gridCol w="504281"/>
                <a:gridCol w="499703"/>
                <a:gridCol w="495125"/>
                <a:gridCol w="527171"/>
                <a:gridCol w="487881"/>
              </a:tblGrid>
              <a:tr h="5323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진행사항</a:t>
                      </a:r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7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8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9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10</a:t>
                      </a:r>
                      <a:r>
                        <a:rPr lang="ko-KR" altLang="en-US" sz="1600" dirty="0" smtClean="0"/>
                        <a:t>월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주제</a:t>
                      </a:r>
                      <a:r>
                        <a:rPr lang="en-US" altLang="ko-KR" sz="1600" dirty="0" smtClean="0"/>
                        <a:t>&amp;</a:t>
                      </a:r>
                      <a:r>
                        <a:rPr lang="ko-KR" altLang="en-US" sz="1600" dirty="0" smtClean="0"/>
                        <a:t>자료수집</a:t>
                      </a:r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smtClean="0"/>
                        <a:t>데이터 모델링</a:t>
                      </a:r>
                      <a:r>
                        <a:rPr lang="en-US" altLang="ko-KR" sz="1600" smtClean="0"/>
                        <a:t>,</a:t>
                      </a:r>
                      <a:r>
                        <a:rPr lang="ko-KR" altLang="en-US" sz="1600" smtClean="0"/>
                        <a:t>스토리 </a:t>
                      </a:r>
                      <a:r>
                        <a:rPr lang="ko-KR" altLang="en-US" sz="1600" dirty="0" smtClean="0"/>
                        <a:t>보드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smtClean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539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DB </a:t>
                      </a:r>
                      <a:r>
                        <a:rPr lang="ko-KR" altLang="en-US" sz="1600" dirty="0" smtClean="0"/>
                        <a:t>구축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디자인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(Front End)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6465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</a:tr>
              <a:tr h="7882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기능별구현</a:t>
                      </a:r>
                      <a:endParaRPr lang="en-US" altLang="ko-KR" sz="1600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(Back</a:t>
                      </a:r>
                      <a:r>
                        <a:rPr lang="en-US" altLang="ko-KR" sz="1600" baseline="0" dirty="0" smtClean="0"/>
                        <a:t> End)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D2E5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Angular</a:t>
                      </a:r>
                      <a:r>
                        <a:rPr lang="en-US" altLang="ko-KR" sz="1600" baseline="0" dirty="0" smtClean="0"/>
                        <a:t> &amp;React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762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모듈통합 및</a:t>
                      </a:r>
                      <a:r>
                        <a:rPr lang="ko-KR" altLang="en-US" sz="1600" baseline="0" dirty="0" smtClean="0"/>
                        <a:t> </a:t>
                      </a:r>
                      <a:r>
                        <a:rPr lang="en-US" altLang="ko-KR" sz="1600" baseline="0" dirty="0" smtClean="0"/>
                        <a:t>Error </a:t>
                      </a:r>
                      <a:r>
                        <a:rPr lang="ko-KR" altLang="en-US" sz="1600" baseline="0" dirty="0" smtClean="0"/>
                        <a:t>수정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F6BB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F6BB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13" name="오른쪽 화살표 12"/>
          <p:cNvSpPr/>
          <p:nvPr/>
        </p:nvSpPr>
        <p:spPr>
          <a:xfrm>
            <a:off x="1857356" y="1928802"/>
            <a:ext cx="1285884" cy="928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/>
              <a:t>진행상황</a:t>
            </a:r>
            <a:endParaRPr lang="ko-KR" altLang="en-US" sz="1400"/>
          </a:p>
        </p:txBody>
      </p:sp>
      <p:sp>
        <p:nvSpPr>
          <p:cNvPr id="5" name="직사각형 4"/>
          <p:cNvSpPr/>
          <p:nvPr/>
        </p:nvSpPr>
        <p:spPr>
          <a:xfrm>
            <a:off x="-9520" y="1022"/>
            <a:ext cx="9153520" cy="6196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bg2"/>
                </a:solidFill>
              </a:rPr>
              <a:t>진행상황</a:t>
            </a:r>
            <a:endParaRPr lang="ko-KR" altLang="en-US">
              <a:solidFill>
                <a:schemeClr val="bg2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 rot="5400000">
            <a:off x="2250265" y="2178835"/>
            <a:ext cx="178595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 4"/>
          <p:cNvSpPr/>
          <p:nvPr/>
        </p:nvSpPr>
        <p:spPr>
          <a:xfrm>
            <a:off x="580036" y="3730992"/>
            <a:ext cx="7879404" cy="0"/>
          </a:xfrm>
          <a:custGeom>
            <a:avLst/>
            <a:gdLst>
              <a:gd name="connsiteX0" fmla="*/ 0 w 7879404"/>
              <a:gd name="connsiteY0" fmla="*/ 0 h 0"/>
              <a:gd name="connsiteX1" fmla="*/ 7879404 w 787940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79404">
                <a:moveTo>
                  <a:pt x="0" y="0"/>
                </a:moveTo>
                <a:lnTo>
                  <a:pt x="7879404" y="0"/>
                </a:lnTo>
              </a:path>
            </a:pathLst>
          </a:custGeom>
          <a:noFill/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" name="그룹 10"/>
          <p:cNvGrpSpPr/>
          <p:nvPr/>
        </p:nvGrpSpPr>
        <p:grpSpPr>
          <a:xfrm>
            <a:off x="589068" y="2924944"/>
            <a:ext cx="8015380" cy="727060"/>
            <a:chOff x="589068" y="3278004"/>
            <a:chExt cx="8015380" cy="727060"/>
          </a:xfrm>
        </p:grpSpPr>
        <p:sp>
          <p:nvSpPr>
            <p:cNvPr id="19" name="직사각형 18"/>
            <p:cNvSpPr/>
            <p:nvPr/>
          </p:nvSpPr>
          <p:spPr>
            <a:xfrm>
              <a:off x="589068" y="3297178"/>
              <a:ext cx="8015380" cy="70788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r>
                <a:rPr lang="en-US" altLang="ko-KR" sz="4000" b="1" kern="0" spc="-150" smtClean="0">
                  <a:gradFill>
                    <a:gsLst>
                      <a:gs pos="0">
                        <a:srgbClr val="1F497D">
                          <a:lumMod val="50000"/>
                        </a:srgbClr>
                      </a:gs>
                      <a:gs pos="100000">
                        <a:srgbClr val="004D86"/>
                      </a:gs>
                    </a:gsLst>
                    <a:lin ang="5400000" scaled="0"/>
                  </a:gra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  <a:latin typeface="Arial" panose="020B0604020202020204" pitchFamily="34" charset="0"/>
                  <a:ea typeface="양재소슬체S" panose="02020603020101020101" pitchFamily="18" charset="-127"/>
                  <a:cs typeface="Arial" panose="020B0604020202020204" pitchFamily="34" charset="0"/>
                </a:rPr>
                <a:t>Thanks for Viewing &amp; Reading</a:t>
              </a:r>
              <a:endParaRPr lang="ko-KR" altLang="en-US" sz="3600" b="1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 panose="020B0604020202020204" pitchFamily="34" charset="0"/>
                <a:ea typeface="양재소슬체S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99592" y="3278004"/>
              <a:ext cx="59855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330325" eaLnBrk="0" latinLnBrk="0" hangingPunct="0">
                <a:buSzPct val="100000"/>
                <a:defRPr/>
              </a:pPr>
              <a:endParaRPr lang="ko-KR" altLang="en-US" sz="3600" kern="0" spc="-150">
                <a:gradFill>
                  <a:gsLst>
                    <a:gs pos="0">
                      <a:srgbClr val="1F497D">
                        <a:lumMod val="50000"/>
                      </a:srgbClr>
                    </a:gs>
                    <a:gs pos="100000">
                      <a:srgbClr val="004D86"/>
                    </a:gs>
                  </a:gsLst>
                  <a:lin ang="5400000" scaled="0"/>
                </a:gradFill>
                <a:latin typeface="-윤고딕330" panose="02030504000101010101" pitchFamily="18" charset="-127"/>
                <a:ea typeface="-윤고딕330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83894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76</Words>
  <Application>Microsoft Office PowerPoint</Application>
  <PresentationFormat>화면 슬라이드 쇼(4:3)</PresentationFormat>
  <Paragraphs>37</Paragraphs>
  <Slides>8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kitcoop</cp:lastModifiedBy>
  <cp:revision>255</cp:revision>
  <dcterms:created xsi:type="dcterms:W3CDTF">2006-10-05T04:04:58Z</dcterms:created>
  <dcterms:modified xsi:type="dcterms:W3CDTF">2017-08-04T08:02:39Z</dcterms:modified>
</cp:coreProperties>
</file>