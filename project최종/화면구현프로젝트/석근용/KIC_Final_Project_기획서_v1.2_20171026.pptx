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76" r:id="rId2"/>
    <p:sldId id="277" r:id="rId3"/>
    <p:sldId id="306" r:id="rId4"/>
    <p:sldId id="278" r:id="rId5"/>
    <p:sldId id="279" r:id="rId6"/>
    <p:sldId id="307" r:id="rId7"/>
    <p:sldId id="282" r:id="rId8"/>
    <p:sldId id="280" r:id="rId9"/>
    <p:sldId id="281" r:id="rId10"/>
    <p:sldId id="283" r:id="rId11"/>
    <p:sldId id="286" r:id="rId12"/>
    <p:sldId id="308" r:id="rId13"/>
    <p:sldId id="287" r:id="rId14"/>
    <p:sldId id="288" r:id="rId15"/>
    <p:sldId id="289" r:id="rId16"/>
    <p:sldId id="291" r:id="rId17"/>
    <p:sldId id="292" r:id="rId18"/>
    <p:sldId id="293" r:id="rId19"/>
    <p:sldId id="295" r:id="rId20"/>
    <p:sldId id="294" r:id="rId21"/>
    <p:sldId id="305" r:id="rId22"/>
    <p:sldId id="311" r:id="rId23"/>
    <p:sldId id="296" r:id="rId24"/>
    <p:sldId id="302" r:id="rId25"/>
    <p:sldId id="310" r:id="rId26"/>
    <p:sldId id="309" r:id="rId27"/>
    <p:sldId id="298" r:id="rId28"/>
    <p:sldId id="299" r:id="rId29"/>
    <p:sldId id="300" r:id="rId30"/>
    <p:sldId id="301" r:id="rId31"/>
    <p:sldId id="304" r:id="rId32"/>
    <p:sldId id="303" r:id="rId3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>
      <p:cViewPr>
        <p:scale>
          <a:sx n="80" d="100"/>
          <a:sy n="80" d="100"/>
        </p:scale>
        <p:origin x="-21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229D5-F243-4235-BBF9-9323C4FDE287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362DAC-F7D8-45EE-A11A-9DA4AF00D8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362DAC-F7D8-45EE-A11A-9DA4AF00D858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0C79-4760-45A6-BFC9-F63F745DDDDE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30C79-4760-45A6-BFC9-F63F745DDDDE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1753E-F4D2-4468-8D85-3693761A47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oo.gl/6naEcS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ma.PNG"/>
          <p:cNvPicPr>
            <a:picLocks noChangeAspect="1"/>
          </p:cNvPicPr>
          <p:nvPr/>
        </p:nvPicPr>
        <p:blipFill>
          <a:blip r:embed="rId2" cstate="print">
            <a:grayscl/>
            <a:lum bright="-12000" contrast="-48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465666" y="3857628"/>
            <a:ext cx="8255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부제목 2"/>
          <p:cNvSpPr txBox="1">
            <a:spLocks/>
          </p:cNvSpPr>
          <p:nvPr/>
        </p:nvSpPr>
        <p:spPr>
          <a:xfrm>
            <a:off x="0" y="3286124"/>
            <a:ext cx="9144000" cy="428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KIC Final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5786" y="2428868"/>
            <a:ext cx="7561263" cy="685314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3800" b="1" kern="0" dirty="0" err="1" smtClean="0">
                <a:solidFill>
                  <a:schemeClr val="bg1"/>
                </a:solidFill>
                <a:latin typeface="+mn-ea"/>
                <a:cs typeface="나눔고딕"/>
              </a:rPr>
              <a:t>Apik</a:t>
            </a:r>
            <a:r>
              <a:rPr lang="en-US" altLang="ko-KR" sz="38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 Tour</a:t>
            </a:r>
            <a:endParaRPr lang="ko-KR" altLang="en-US" sz="3800" b="1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1373" y="4296686"/>
            <a:ext cx="7561263" cy="34676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600" kern="0" dirty="0" smtClean="0">
                <a:solidFill>
                  <a:schemeClr val="bg1"/>
                </a:solidFill>
                <a:latin typeface="+mn-ea"/>
                <a:cs typeface="나눔고딕"/>
              </a:rPr>
              <a:t>2017.10.26</a:t>
            </a:r>
            <a:endParaRPr lang="ko-KR" altLang="en-US" sz="1600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2976" y="2097355"/>
            <a:ext cx="6858048" cy="1331645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80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“        ”  </a:t>
            </a:r>
            <a:endParaRPr lang="ko-KR" altLang="en-US" sz="8000" b="1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0119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/>
          <p:cNvGrpSpPr/>
          <p:nvPr/>
        </p:nvGrpSpPr>
        <p:grpSpPr>
          <a:xfrm>
            <a:off x="0" y="2928934"/>
            <a:ext cx="4572000" cy="928694"/>
            <a:chOff x="0" y="2928934"/>
            <a:chExt cx="4572000" cy="928694"/>
          </a:xfrm>
        </p:grpSpPr>
        <p:cxnSp>
          <p:nvCxnSpPr>
            <p:cNvPr id="8" name="직선 연결선 7"/>
            <p:cNvCxnSpPr/>
            <p:nvPr/>
          </p:nvCxnSpPr>
          <p:spPr>
            <a:xfrm>
              <a:off x="1071538" y="2928934"/>
              <a:ext cx="2357454" cy="158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부제목 2"/>
            <p:cNvSpPr txBox="1">
              <a:spLocks/>
            </p:cNvSpPr>
            <p:nvPr/>
          </p:nvSpPr>
          <p:spPr>
            <a:xfrm>
              <a:off x="0" y="3071810"/>
              <a:ext cx="4572000" cy="78581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3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Content</a:t>
              </a:r>
            </a:p>
          </p:txBody>
        </p:sp>
        <p:cxnSp>
          <p:nvCxnSpPr>
            <p:cNvPr id="10" name="직선 연결선 9"/>
            <p:cNvCxnSpPr/>
            <p:nvPr/>
          </p:nvCxnSpPr>
          <p:spPr>
            <a:xfrm>
              <a:off x="1071538" y="3786190"/>
              <a:ext cx="2357454" cy="158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5429256" y="928670"/>
            <a:ext cx="642942" cy="5101907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defTabSz="914377" latinLnBrk="0">
              <a:defRPr/>
            </a:pPr>
            <a:r>
              <a:rPr lang="en-US" altLang="ko-KR" sz="45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1</a:t>
            </a:r>
          </a:p>
          <a:p>
            <a:pPr defTabSz="914377" latinLnBrk="0">
              <a:defRPr/>
            </a:pPr>
            <a:endParaRPr lang="en-US" altLang="ko-KR" sz="25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defTabSz="914377" latinLnBrk="0">
              <a:defRPr/>
            </a:pPr>
            <a:r>
              <a:rPr lang="en-US" altLang="ko-KR" sz="45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2</a:t>
            </a:r>
          </a:p>
          <a:p>
            <a:pPr defTabSz="914377" latinLnBrk="0">
              <a:defRPr/>
            </a:pPr>
            <a:endParaRPr lang="en-US" altLang="ko-KR" sz="25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defTabSz="914377" latinLnBrk="0">
              <a:defRPr/>
            </a:pPr>
            <a:r>
              <a:rPr lang="en-US" altLang="ko-KR" sz="45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3</a:t>
            </a:r>
          </a:p>
          <a:p>
            <a:pPr defTabSz="914377" latinLnBrk="0">
              <a:defRPr/>
            </a:pPr>
            <a:endParaRPr lang="en-US" altLang="ko-KR" sz="25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defTabSz="914377" latinLnBrk="0">
              <a:defRPr/>
            </a:pPr>
            <a:r>
              <a:rPr lang="en-US" altLang="ko-KR" sz="45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4</a:t>
            </a:r>
          </a:p>
          <a:p>
            <a:pPr defTabSz="914377" latinLnBrk="0">
              <a:defRPr/>
            </a:pPr>
            <a:endParaRPr lang="en-US" altLang="ko-KR" sz="25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defTabSz="914377" latinLnBrk="0">
              <a:defRPr/>
            </a:pPr>
            <a:r>
              <a:rPr lang="en-US" altLang="ko-KR" sz="45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760" y="1027477"/>
            <a:ext cx="2571768" cy="490185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defTabSz="914377" latinLnBrk="0">
              <a:defRPr/>
            </a:pPr>
            <a:r>
              <a:rPr lang="ko-KR" altLang="en-US" sz="16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개 요</a:t>
            </a:r>
            <a:endParaRPr lang="en-US" altLang="ko-KR" sz="16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defTabSz="914377" latinLnBrk="0">
              <a:defRPr/>
            </a:pPr>
            <a:r>
              <a:rPr lang="en-US" altLang="ko-KR" sz="16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| </a:t>
            </a:r>
            <a:r>
              <a:rPr lang="ko-KR" altLang="en-US" sz="16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프로젝트 주제 및 일정 </a:t>
            </a:r>
            <a:endParaRPr lang="en-US" altLang="ko-KR" sz="16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defTabSz="914377" latinLnBrk="0">
              <a:defRPr/>
            </a:pPr>
            <a:endParaRPr lang="en-US" altLang="ko-KR" sz="38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defTabSz="914377" latinLnBrk="0">
              <a:defRPr/>
            </a:pPr>
            <a:r>
              <a:rPr lang="ko-KR" altLang="en-US" sz="16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구조도</a:t>
            </a:r>
            <a:endParaRPr lang="en-US" altLang="ko-KR" sz="16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defTabSz="914377" latinLnBrk="0">
              <a:defRPr/>
            </a:pPr>
            <a:r>
              <a:rPr lang="en-US" altLang="ko-KR" sz="16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| </a:t>
            </a:r>
            <a:r>
              <a:rPr lang="ko-KR" altLang="en-US" sz="16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프로젝트 구조도</a:t>
            </a:r>
            <a:endParaRPr lang="en-US" altLang="ko-KR" sz="16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defTabSz="914377" latinLnBrk="0">
              <a:defRPr/>
            </a:pPr>
            <a:endParaRPr lang="en-US" altLang="ko-KR" sz="38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defTabSz="914377" latinLnBrk="0">
              <a:defRPr/>
            </a:pPr>
            <a:r>
              <a:rPr lang="ko-KR" altLang="en-US" sz="16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화면구성</a:t>
            </a:r>
            <a:endParaRPr lang="en-US" altLang="ko-KR" sz="16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defTabSz="914377" latinLnBrk="0">
              <a:defRPr/>
            </a:pPr>
            <a:r>
              <a:rPr lang="en-US" altLang="ko-KR" sz="16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| </a:t>
            </a:r>
            <a:r>
              <a:rPr lang="ko-KR" altLang="en-US" sz="16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디자인 및 코딩 설계</a:t>
            </a:r>
            <a:endParaRPr lang="en-US" altLang="ko-KR" sz="16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defTabSz="914377" latinLnBrk="0">
              <a:defRPr/>
            </a:pPr>
            <a:endParaRPr lang="en-US" altLang="ko-KR" sz="38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defTabSz="914377" latinLnBrk="0">
              <a:defRPr/>
            </a:pPr>
            <a:r>
              <a:rPr lang="ko-KR" altLang="en-US" sz="16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구현 및 문제점</a:t>
            </a:r>
            <a:endParaRPr lang="en-US" altLang="ko-KR" sz="16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defTabSz="914377" latinLnBrk="0">
              <a:defRPr/>
            </a:pPr>
            <a:r>
              <a:rPr lang="en-US" altLang="ko-KR" sz="16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| </a:t>
            </a:r>
            <a:r>
              <a:rPr lang="ko-KR" altLang="en-US" sz="16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구현 및 코딩 오류해결</a:t>
            </a:r>
            <a:endParaRPr lang="en-US" altLang="ko-KR" sz="16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defTabSz="914377" latinLnBrk="0">
              <a:defRPr/>
            </a:pPr>
            <a:endParaRPr lang="en-US" altLang="ko-KR" sz="38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defTabSz="914377" latinLnBrk="0">
              <a:defRPr/>
            </a:pPr>
            <a:r>
              <a:rPr lang="ko-KR" altLang="en-US" sz="16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시현 및 </a:t>
            </a:r>
            <a:r>
              <a:rPr lang="en-US" altLang="ko-KR" sz="16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Q&amp;A</a:t>
            </a:r>
          </a:p>
          <a:p>
            <a:pPr defTabSz="914377" latinLnBrk="0">
              <a:defRPr/>
            </a:pPr>
            <a:r>
              <a:rPr lang="en-US" altLang="ko-KR" sz="16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| Q&amp;A</a:t>
            </a:r>
          </a:p>
        </p:txBody>
      </p:sp>
    </p:spTree>
    <p:extLst>
      <p:ext uri="{BB962C8B-B14F-4D97-AF65-F5344CB8AC3E}">
        <p14:creationId xmlns="" xmlns:p14="http://schemas.microsoft.com/office/powerpoint/2010/main" val="230119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itcoop\Desktop\IMG_5204_2.jpg"/>
          <p:cNvPicPr>
            <a:picLocks noChangeAspect="1" noChangeArrowheads="1"/>
          </p:cNvPicPr>
          <p:nvPr/>
        </p:nvPicPr>
        <p:blipFill>
          <a:blip r:embed="rId2" cstate="print">
            <a:lum bright="-3000" contrast="-68000"/>
          </a:blip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0" y="2818540"/>
            <a:ext cx="9144000" cy="148553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000" b="1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3000" b="1" dirty="0" smtClean="0">
                <a:solidFill>
                  <a:schemeClr val="bg1"/>
                </a:solidFill>
                <a:latin typeface="+mn-ea"/>
              </a:rPr>
              <a:t>프로젝트 </a:t>
            </a:r>
            <a:endParaRPr lang="en-US" altLang="ko-KR" sz="3000" b="1" dirty="0" smtClean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000" b="1" dirty="0" smtClean="0">
                <a:solidFill>
                  <a:schemeClr val="bg1"/>
                </a:solidFill>
                <a:latin typeface="+mn-ea"/>
              </a:rPr>
              <a:t>주제 및 일정</a:t>
            </a:r>
            <a:endParaRPr lang="ko-KR" altLang="en-US" sz="3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4" name="직사각형 153"/>
          <p:cNvSpPr/>
          <p:nvPr/>
        </p:nvSpPr>
        <p:spPr>
          <a:xfrm rot="2700000">
            <a:off x="3096624" y="2025062"/>
            <a:ext cx="2879315" cy="287931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5" name="직선 연결선 154"/>
          <p:cNvCxnSpPr/>
          <p:nvPr/>
        </p:nvCxnSpPr>
        <p:spPr>
          <a:xfrm>
            <a:off x="3786182" y="2786058"/>
            <a:ext cx="1500198" cy="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01.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0" y="2811735"/>
            <a:ext cx="9144000" cy="1331645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80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“               ”  </a:t>
            </a:r>
            <a:endParaRPr lang="ko-KR" altLang="en-US" sz="8000" b="1" kern="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168925"/>
            <a:ext cx="9144000" cy="1023868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여행자의 라이프 스타일과 </a:t>
            </a:r>
            <a:endParaRPr lang="en-US" altLang="ko-KR" sz="2000" b="1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컨디션에 따른 맞춤형 여행 서비스를 제공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17816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071538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개요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5742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프로젝트 주제 선정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19" name="그룹 100"/>
            <p:cNvGrpSpPr/>
            <p:nvPr/>
          </p:nvGrpSpPr>
          <p:grpSpPr>
            <a:xfrm>
              <a:off x="71386" y="6619656"/>
              <a:ext cx="2784871" cy="238347"/>
              <a:chOff x="141256" y="3429000"/>
              <a:chExt cx="8359833" cy="715174"/>
            </a:xfrm>
          </p:grpSpPr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그룹 101"/>
            <p:cNvGrpSpPr/>
            <p:nvPr/>
          </p:nvGrpSpPr>
          <p:grpSpPr>
            <a:xfrm>
              <a:off x="2928906" y="6619681"/>
              <a:ext cx="2784871" cy="238347"/>
              <a:chOff x="141256" y="3429000"/>
              <a:chExt cx="8359833" cy="715174"/>
            </a:xfrm>
          </p:grpSpPr>
          <p:cxnSp>
            <p:nvCxnSpPr>
              <p:cNvPr id="72" name="직선 연결선 71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직선 연결선 72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연결선 73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직선 연결선 74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직선 연결선 76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직선 연결선 77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직선 연결선 78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직선 연결선 100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직선 연결선 101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그룹 143"/>
            <p:cNvGrpSpPr/>
            <p:nvPr/>
          </p:nvGrpSpPr>
          <p:grpSpPr>
            <a:xfrm>
              <a:off x="5786426" y="6619681"/>
              <a:ext cx="2784871" cy="238347"/>
              <a:chOff x="141256" y="3429000"/>
              <a:chExt cx="8359833" cy="715174"/>
            </a:xfrm>
          </p:grpSpPr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연결선 62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직선 연결선 68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직선 연결선 69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직선 연결선 70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26" name="직선 연결선 25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4" name="직선 연결선 23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01.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17816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071538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개요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5742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프로젝트 전체 일정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431200112"/>
              </p:ext>
            </p:extLst>
          </p:nvPr>
        </p:nvGraphicFramePr>
        <p:xfrm>
          <a:off x="428596" y="1233472"/>
          <a:ext cx="8321744" cy="51068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4830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</a:tblGrid>
              <a:tr h="43035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7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8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9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10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912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제안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주제 확정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자료 수집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분석 </a:t>
                      </a:r>
                      <a:r>
                        <a:rPr lang="en-US" altLang="ko-KR" sz="1200" dirty="0" smtClean="0"/>
                        <a:t>/ </a:t>
                      </a:r>
                      <a:r>
                        <a:rPr lang="ko-KR" altLang="en-US" sz="1200" dirty="0" smtClean="0"/>
                        <a:t>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화면 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디자인</a:t>
                      </a:r>
                      <a:r>
                        <a:rPr lang="en-US" altLang="ko-KR" sz="1200" dirty="0" smtClean="0"/>
                        <a:t>&amp;</a:t>
                      </a:r>
                      <a:r>
                        <a:rPr lang="ko-KR" altLang="en-US" sz="1200" dirty="0" smtClean="0"/>
                        <a:t>개발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검토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시연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14" name="직선 화살표 연결선 13"/>
          <p:cNvCxnSpPr/>
          <p:nvPr/>
        </p:nvCxnSpPr>
        <p:spPr>
          <a:xfrm>
            <a:off x="3683428" y="5018132"/>
            <a:ext cx="2807915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2290056" y="2306722"/>
            <a:ext cx="473148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2290056" y="2847828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2290056" y="3398911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2736370" y="3953910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>
            <a:off x="2736370" y="4447950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6476538" y="5566225"/>
            <a:ext cx="13716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>
            <a:off x="7846832" y="6082038"/>
            <a:ext cx="9144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/>
          <p:cNvSpPr/>
          <p:nvPr/>
        </p:nvSpPr>
        <p:spPr>
          <a:xfrm>
            <a:off x="8399989" y="5955792"/>
            <a:ext cx="266121" cy="2688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7498926" y="1013932"/>
            <a:ext cx="138857" cy="1402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7637391" y="928670"/>
            <a:ext cx="1341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현재 진행 상황</a:t>
            </a:r>
            <a:endParaRPr lang="ko-KR" altLang="en-US" sz="1200" dirty="0"/>
          </a:p>
        </p:txBody>
      </p:sp>
      <p:grpSp>
        <p:nvGrpSpPr>
          <p:cNvPr id="27" name="그룹 26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28" name="그룹 100"/>
            <p:cNvGrpSpPr/>
            <p:nvPr/>
          </p:nvGrpSpPr>
          <p:grpSpPr>
            <a:xfrm>
              <a:off x="71386" y="6619656"/>
              <a:ext cx="2784871" cy="238347"/>
              <a:chOff x="141256" y="3429000"/>
              <a:chExt cx="8359833" cy="715174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그룹 101"/>
            <p:cNvGrpSpPr/>
            <p:nvPr/>
          </p:nvGrpSpPr>
          <p:grpSpPr>
            <a:xfrm>
              <a:off x="2928906" y="6619681"/>
              <a:ext cx="2784871" cy="238347"/>
              <a:chOff x="141256" y="3429000"/>
              <a:chExt cx="8359833" cy="715174"/>
            </a:xfrm>
          </p:grpSpPr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직선 연결선 100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직선 연결선 101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그룹 143"/>
            <p:cNvGrpSpPr/>
            <p:nvPr/>
          </p:nvGrpSpPr>
          <p:grpSpPr>
            <a:xfrm>
              <a:off x="5786426" y="6619681"/>
              <a:ext cx="2784871" cy="238347"/>
              <a:chOff x="141256" y="3429000"/>
              <a:chExt cx="8359833" cy="715174"/>
            </a:xfrm>
          </p:grpSpPr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연결선 6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직선 연결선 6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직선 연결선 6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직선 연결선 7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직선 연결선 7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직선 연결선 7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연결선 7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직선 연결선 7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직선 연결선 7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직선 연결선 7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직선 연결선 7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35" name="직선 연결선 34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kitcoop\Desktop\jeju-island-1684033_960_720.jpg"/>
          <p:cNvPicPr>
            <a:picLocks noChangeAspect="1" noChangeArrowheads="1"/>
          </p:cNvPicPr>
          <p:nvPr/>
        </p:nvPicPr>
        <p:blipFill>
          <a:blip r:embed="rId2" cstate="print">
            <a:lum bright="26000" contrast="-34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5500726" y="2714620"/>
            <a:ext cx="2928926" cy="148553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000" b="1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3000" b="1" dirty="0" smtClean="0">
                <a:solidFill>
                  <a:schemeClr val="bg1"/>
                </a:solidFill>
                <a:latin typeface="+mn-ea"/>
              </a:rPr>
              <a:t>프로젝트 </a:t>
            </a:r>
            <a:endParaRPr lang="en-US" altLang="ko-KR" sz="3000" b="1" dirty="0" smtClean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000" b="1" dirty="0" smtClean="0">
                <a:solidFill>
                  <a:schemeClr val="bg1"/>
                </a:solidFill>
                <a:latin typeface="+mn-ea"/>
              </a:rPr>
              <a:t>구조도</a:t>
            </a:r>
            <a:endParaRPr lang="en-US" altLang="ko-KR" sz="3000" b="1" dirty="0" smtClean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64" name="그룹 63"/>
          <p:cNvGrpSpPr/>
          <p:nvPr/>
        </p:nvGrpSpPr>
        <p:grpSpPr>
          <a:xfrm>
            <a:off x="1214414" y="1571612"/>
            <a:ext cx="3500462" cy="4071966"/>
            <a:chOff x="1428728" y="1643050"/>
            <a:chExt cx="3500462" cy="4071966"/>
          </a:xfrm>
        </p:grpSpPr>
        <p:sp>
          <p:nvSpPr>
            <p:cNvPr id="7" name="타원 6"/>
            <p:cNvSpPr/>
            <p:nvPr/>
          </p:nvSpPr>
          <p:spPr>
            <a:xfrm>
              <a:off x="1428728" y="4357694"/>
              <a:ext cx="163287" cy="16328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직선 연결선 13"/>
            <p:cNvCxnSpPr>
              <a:stCxn id="7" idx="7"/>
              <a:endCxn id="16" idx="3"/>
            </p:cNvCxnSpPr>
            <p:nvPr/>
          </p:nvCxnSpPr>
          <p:spPr>
            <a:xfrm rot="5400000" flipH="1" flipV="1">
              <a:off x="710846" y="2639681"/>
              <a:ext cx="2599183" cy="884671"/>
            </a:xfrm>
            <a:prstGeom prst="line">
              <a:avLst/>
            </a:prstGeom>
            <a:ln w="317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타원 15"/>
            <p:cNvSpPr/>
            <p:nvPr/>
          </p:nvSpPr>
          <p:spPr>
            <a:xfrm>
              <a:off x="2428860" y="1643050"/>
              <a:ext cx="163287" cy="16328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" name="직선 연결선 17"/>
            <p:cNvCxnSpPr>
              <a:stCxn id="21" idx="1"/>
              <a:endCxn id="16" idx="5"/>
            </p:cNvCxnSpPr>
            <p:nvPr/>
          </p:nvCxnSpPr>
          <p:spPr>
            <a:xfrm rot="16200000" flipV="1">
              <a:off x="1068036" y="3282622"/>
              <a:ext cx="3810640" cy="810244"/>
            </a:xfrm>
            <a:prstGeom prst="line">
              <a:avLst/>
            </a:prstGeom>
            <a:ln w="317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타원 20"/>
            <p:cNvSpPr/>
            <p:nvPr/>
          </p:nvSpPr>
          <p:spPr>
            <a:xfrm>
              <a:off x="3357554" y="5572140"/>
              <a:ext cx="142876" cy="14287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" name="직선 연결선 23"/>
            <p:cNvCxnSpPr>
              <a:stCxn id="21" idx="7"/>
              <a:endCxn id="30" idx="3"/>
            </p:cNvCxnSpPr>
            <p:nvPr/>
          </p:nvCxnSpPr>
          <p:spPr>
            <a:xfrm rot="5400000" flipH="1" flipV="1">
              <a:off x="2489579" y="3701045"/>
              <a:ext cx="2881946" cy="902093"/>
            </a:xfrm>
            <a:prstGeom prst="line">
              <a:avLst/>
            </a:prstGeom>
            <a:ln w="317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타원 29"/>
            <p:cNvSpPr/>
            <p:nvPr/>
          </p:nvSpPr>
          <p:spPr>
            <a:xfrm>
              <a:off x="4357686" y="2571744"/>
              <a:ext cx="163287" cy="16328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6" name="직선 연결선 35"/>
            <p:cNvCxnSpPr>
              <a:stCxn id="39" idx="1"/>
              <a:endCxn id="30" idx="5"/>
            </p:cNvCxnSpPr>
            <p:nvPr/>
          </p:nvCxnSpPr>
          <p:spPr>
            <a:xfrm rot="16200000" flipV="1">
              <a:off x="4211308" y="2996870"/>
              <a:ext cx="881682" cy="310178"/>
            </a:xfrm>
            <a:prstGeom prst="line">
              <a:avLst/>
            </a:prstGeom>
            <a:ln w="317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/>
            <p:cNvSpPr/>
            <p:nvPr/>
          </p:nvSpPr>
          <p:spPr>
            <a:xfrm>
              <a:off x="4786314" y="3571876"/>
              <a:ext cx="142876" cy="14287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1500166" y="2143116"/>
            <a:ext cx="3571900" cy="3000396"/>
            <a:chOff x="1428728" y="2285992"/>
            <a:chExt cx="3571900" cy="3000396"/>
          </a:xfrm>
        </p:grpSpPr>
        <p:sp>
          <p:nvSpPr>
            <p:cNvPr id="66" name="타원 65"/>
            <p:cNvSpPr/>
            <p:nvPr/>
          </p:nvSpPr>
          <p:spPr>
            <a:xfrm>
              <a:off x="1428728" y="4357694"/>
              <a:ext cx="163287" cy="16328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7" name="직선 연결선 66"/>
            <p:cNvCxnSpPr>
              <a:stCxn id="66" idx="7"/>
              <a:endCxn id="68" idx="3"/>
            </p:cNvCxnSpPr>
            <p:nvPr/>
          </p:nvCxnSpPr>
          <p:spPr>
            <a:xfrm rot="5400000" flipH="1" flipV="1">
              <a:off x="782284" y="3211185"/>
              <a:ext cx="1956241" cy="384605"/>
            </a:xfrm>
            <a:prstGeom prst="line">
              <a:avLst/>
            </a:prstGeom>
            <a:ln w="317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/>
            <p:cNvSpPr/>
            <p:nvPr/>
          </p:nvSpPr>
          <p:spPr>
            <a:xfrm>
              <a:off x="1928794" y="2285992"/>
              <a:ext cx="163287" cy="16328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9" name="직선 연결선 68"/>
            <p:cNvCxnSpPr>
              <a:stCxn id="70" idx="1"/>
              <a:endCxn id="68" idx="5"/>
            </p:cNvCxnSpPr>
            <p:nvPr/>
          </p:nvCxnSpPr>
          <p:spPr>
            <a:xfrm rot="16200000" flipV="1">
              <a:off x="1318069" y="3175465"/>
              <a:ext cx="2739070" cy="1238872"/>
            </a:xfrm>
            <a:prstGeom prst="line">
              <a:avLst/>
            </a:prstGeom>
            <a:ln w="317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타원 69"/>
            <p:cNvSpPr/>
            <p:nvPr/>
          </p:nvSpPr>
          <p:spPr>
            <a:xfrm>
              <a:off x="3286116" y="5143512"/>
              <a:ext cx="142876" cy="14287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1" name="직선 연결선 70"/>
            <p:cNvCxnSpPr>
              <a:stCxn id="70" idx="7"/>
              <a:endCxn id="72" idx="3"/>
            </p:cNvCxnSpPr>
            <p:nvPr/>
          </p:nvCxnSpPr>
          <p:spPr>
            <a:xfrm rot="5400000" flipH="1" flipV="1">
              <a:off x="2453860" y="3879640"/>
              <a:ext cx="2239004" cy="330589"/>
            </a:xfrm>
            <a:prstGeom prst="line">
              <a:avLst/>
            </a:prstGeom>
            <a:ln w="317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타원 71"/>
            <p:cNvSpPr/>
            <p:nvPr/>
          </p:nvSpPr>
          <p:spPr>
            <a:xfrm>
              <a:off x="3714744" y="2786058"/>
              <a:ext cx="163287" cy="16328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연결선 72"/>
            <p:cNvCxnSpPr>
              <a:stCxn id="74" idx="1"/>
              <a:endCxn id="72" idx="5"/>
            </p:cNvCxnSpPr>
            <p:nvPr/>
          </p:nvCxnSpPr>
          <p:spPr>
            <a:xfrm rot="16200000" flipV="1">
              <a:off x="3639804" y="3139746"/>
              <a:ext cx="1453186" cy="1024558"/>
            </a:xfrm>
            <a:prstGeom prst="line">
              <a:avLst/>
            </a:prstGeom>
            <a:ln w="317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타원 73"/>
            <p:cNvSpPr/>
            <p:nvPr/>
          </p:nvSpPr>
          <p:spPr>
            <a:xfrm>
              <a:off x="4857752" y="4357694"/>
              <a:ext cx="142876" cy="14287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02.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17816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0715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구조도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5742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프로젝트 레이아웃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429123" y="6060686"/>
            <a:ext cx="22857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hlinkClick r:id="rId2"/>
              </a:rPr>
              <a:t>https://goo.gl/6naEcS</a:t>
            </a:r>
            <a:endParaRPr lang="ko-KR" altLang="en-US" dirty="0"/>
          </a:p>
        </p:txBody>
      </p:sp>
      <p:pic>
        <p:nvPicPr>
          <p:cNvPr id="12" name="Picture 2" descr="L:\2017NCS\Final Project\0.서비스설계\와이어프레임\v1\01_IA 축약.png"/>
          <p:cNvPicPr>
            <a:picLocks noChangeAspect="1" noChangeArrowheads="1"/>
          </p:cNvPicPr>
          <p:nvPr/>
        </p:nvPicPr>
        <p:blipFill>
          <a:blip r:embed="rId3" cstate="print"/>
          <a:srcRect l="4769" t="7631" r="7973" b="7875"/>
          <a:stretch>
            <a:fillRect/>
          </a:stretch>
        </p:blipFill>
        <p:spPr bwMode="auto">
          <a:xfrm>
            <a:off x="571472" y="1142984"/>
            <a:ext cx="8076066" cy="4797663"/>
          </a:xfrm>
          <a:prstGeom prst="rect">
            <a:avLst/>
          </a:prstGeom>
          <a:noFill/>
        </p:spPr>
      </p:pic>
      <p:grpSp>
        <p:nvGrpSpPr>
          <p:cNvPr id="14" name="그룹 13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15" name="그룹 100"/>
            <p:cNvGrpSpPr/>
            <p:nvPr/>
          </p:nvGrpSpPr>
          <p:grpSpPr>
            <a:xfrm>
              <a:off x="71386" y="6619656"/>
              <a:ext cx="2784871" cy="238347"/>
              <a:chOff x="141256" y="3429000"/>
              <a:chExt cx="8359833" cy="715174"/>
            </a:xfrm>
          </p:grpSpPr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그룹 101"/>
            <p:cNvGrpSpPr/>
            <p:nvPr/>
          </p:nvGrpSpPr>
          <p:grpSpPr>
            <a:xfrm>
              <a:off x="2928906" y="6619681"/>
              <a:ext cx="2784871" cy="238347"/>
              <a:chOff x="141256" y="3429000"/>
              <a:chExt cx="8359833" cy="715174"/>
            </a:xfrm>
          </p:grpSpPr>
          <p:cxnSp>
            <p:nvCxnSpPr>
              <p:cNvPr id="71" name="직선 연결선 70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직선 연결선 71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직선 연결선 72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연결선 73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직선 연결선 74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직선 연결선 7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직선 연결선 7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직선 연결선 7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직선 연결선 100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직선 연결선 101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그룹 143"/>
            <p:cNvGrpSpPr/>
            <p:nvPr/>
          </p:nvGrpSpPr>
          <p:grpSpPr>
            <a:xfrm>
              <a:off x="5786426" y="6619681"/>
              <a:ext cx="2784871" cy="238347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연결선 6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직선 연결선 6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직선 연결선 6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24" name="직선 연결선 23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2" name="직선 연결선 21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02.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17816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0715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구조도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57422" y="285728"/>
            <a:ext cx="3643338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2-1 </a:t>
            </a: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프로젝트 구조도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27" name="Picture 3" descr="C:\Users\윤선아\Desktop\1.jpg"/>
          <p:cNvPicPr>
            <a:picLocks noChangeAspect="1" noChangeArrowheads="1"/>
          </p:cNvPicPr>
          <p:nvPr/>
        </p:nvPicPr>
        <p:blipFill>
          <a:blip r:embed="rId2" cstate="print"/>
          <a:srcRect l="19118" r="38235" b="67808"/>
          <a:stretch>
            <a:fillRect/>
          </a:stretch>
        </p:blipFill>
        <p:spPr bwMode="auto">
          <a:xfrm>
            <a:off x="2500298" y="1000108"/>
            <a:ext cx="4714908" cy="5690407"/>
          </a:xfrm>
          <a:prstGeom prst="rect">
            <a:avLst/>
          </a:prstGeom>
          <a:noFill/>
        </p:spPr>
      </p:pic>
      <p:grpSp>
        <p:nvGrpSpPr>
          <p:cNvPr id="29" name="그룹 2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30" name="그룹 100"/>
            <p:cNvGrpSpPr/>
            <p:nvPr/>
          </p:nvGrpSpPr>
          <p:grpSpPr>
            <a:xfrm>
              <a:off x="71386" y="6619656"/>
              <a:ext cx="2784871" cy="238347"/>
              <a:chOff x="141256" y="3429000"/>
              <a:chExt cx="8359833" cy="715174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그룹 101"/>
            <p:cNvGrpSpPr/>
            <p:nvPr/>
          </p:nvGrpSpPr>
          <p:grpSpPr>
            <a:xfrm>
              <a:off x="2928906" y="6619681"/>
              <a:ext cx="2784871" cy="238347"/>
              <a:chOff x="141256" y="3429000"/>
              <a:chExt cx="8359833" cy="715174"/>
            </a:xfrm>
          </p:grpSpPr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직선 연결선 10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직선 연결선 10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그룹 143"/>
            <p:cNvGrpSpPr/>
            <p:nvPr/>
          </p:nvGrpSpPr>
          <p:grpSpPr>
            <a:xfrm>
              <a:off x="5786426" y="6619681"/>
              <a:ext cx="2784871" cy="238347"/>
              <a:chOff x="141256" y="3429000"/>
              <a:chExt cx="8359833" cy="715174"/>
            </a:xfrm>
          </p:grpSpPr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연결선 62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직선 연결선 68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직선 연결선 69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직선 연결선 70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직선 연결선 71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직선 연결선 72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연결선 73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직선 연결선 74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직선 연결선 76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직선 연결선 77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직선 연결선 78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35" name="직선 연결선 34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02.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17816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0715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구조도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57422" y="285728"/>
            <a:ext cx="3643338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2-2 </a:t>
            </a: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프로젝트 구조도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27" name="Picture 3" descr="C:\Users\윤선아\Desktop\1.jpg"/>
          <p:cNvPicPr>
            <a:picLocks noChangeAspect="1" noChangeArrowheads="1"/>
          </p:cNvPicPr>
          <p:nvPr/>
        </p:nvPicPr>
        <p:blipFill>
          <a:blip r:embed="rId2" cstate="print"/>
          <a:srcRect t="32367" b="29003"/>
          <a:stretch>
            <a:fillRect/>
          </a:stretch>
        </p:blipFill>
        <p:spPr bwMode="auto">
          <a:xfrm>
            <a:off x="142844" y="1214422"/>
            <a:ext cx="8790346" cy="5429288"/>
          </a:xfrm>
          <a:prstGeom prst="rect">
            <a:avLst/>
          </a:prstGeom>
          <a:noFill/>
        </p:spPr>
      </p:pic>
      <p:grpSp>
        <p:nvGrpSpPr>
          <p:cNvPr id="12" name="그룹 11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14" name="그룹 100"/>
            <p:cNvGrpSpPr/>
            <p:nvPr/>
          </p:nvGrpSpPr>
          <p:grpSpPr>
            <a:xfrm>
              <a:off x="71386" y="6619656"/>
              <a:ext cx="2784871" cy="238347"/>
              <a:chOff x="141256" y="3429000"/>
              <a:chExt cx="8359833" cy="715174"/>
            </a:xfrm>
          </p:grpSpPr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그룹 101"/>
            <p:cNvGrpSpPr/>
            <p:nvPr/>
          </p:nvGrpSpPr>
          <p:grpSpPr>
            <a:xfrm>
              <a:off x="2928906" y="6619681"/>
              <a:ext cx="2784871" cy="238347"/>
              <a:chOff x="141256" y="3429000"/>
              <a:chExt cx="8359833" cy="715174"/>
            </a:xfrm>
          </p:grpSpPr>
          <p:cxnSp>
            <p:nvCxnSpPr>
              <p:cNvPr id="71" name="직선 연결선 70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직선 연결선 71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직선 연결선 72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연결선 73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직선 연결선 74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직선 연결선 7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직선 연결선 7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직선 연결선 7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직선 연결선 100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직선 연결선 101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그룹 143"/>
            <p:cNvGrpSpPr/>
            <p:nvPr/>
          </p:nvGrpSpPr>
          <p:grpSpPr>
            <a:xfrm>
              <a:off x="5786426" y="6619681"/>
              <a:ext cx="2784871" cy="238347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연결선 6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직선 연결선 6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직선 연결선 6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23" name="직선 연결선 22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1" name="직선 연결선 20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3" name="그룹 152"/>
          <p:cNvGrpSpPr/>
          <p:nvPr/>
        </p:nvGrpSpPr>
        <p:grpSpPr>
          <a:xfrm>
            <a:off x="223807" y="6772053"/>
            <a:ext cx="9001703" cy="238371"/>
            <a:chOff x="71407" y="6619653"/>
            <a:chExt cx="9001703" cy="238371"/>
          </a:xfrm>
        </p:grpSpPr>
        <p:grpSp>
          <p:nvGrpSpPr>
            <p:cNvPr id="154" name="그룹 100"/>
            <p:cNvGrpSpPr/>
            <p:nvPr/>
          </p:nvGrpSpPr>
          <p:grpSpPr>
            <a:xfrm>
              <a:off x="71386" y="6619656"/>
              <a:ext cx="2784871" cy="238347"/>
              <a:chOff x="141256" y="3429000"/>
              <a:chExt cx="8359833" cy="715174"/>
            </a:xfrm>
          </p:grpSpPr>
          <p:cxnSp>
            <p:nvCxnSpPr>
              <p:cNvPr id="248" name="직선 연결선 247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직선 연결선 248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직선 연결선 249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직선 연결선 250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직선 연결선 251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직선 연결선 252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직선 연결선 253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직선 연결선 254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직선 연결선 255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직선 연결선 256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직선 연결선 257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직선 연결선 258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직선 연결선 259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직선 연결선 260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직선 연결선 261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직선 연결선 262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직선 연결선 263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직선 연결선 264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직선 연결선 265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직선 연결선 266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직선 연결선 267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직선 연결선 268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직선 연결선 269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직선 연결선 270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직선 연결선 271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직선 연결선 272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직선 연결선 273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직선 연결선 274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직선 연결선 275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직선 연결선 276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직선 연결선 277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직선 연결선 278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직선 연결선 279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직선 연결선 280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직선 연결선 281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직선 연결선 282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직선 연결선 283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직선 연결선 284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직선 연결선 285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직선 연결선 286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직선 연결선 287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그룹 101"/>
            <p:cNvGrpSpPr/>
            <p:nvPr/>
          </p:nvGrpSpPr>
          <p:grpSpPr>
            <a:xfrm>
              <a:off x="2928906" y="6619681"/>
              <a:ext cx="2784871" cy="238347"/>
              <a:chOff x="141256" y="3429000"/>
              <a:chExt cx="8359833" cy="715174"/>
            </a:xfrm>
          </p:grpSpPr>
          <p:cxnSp>
            <p:nvCxnSpPr>
              <p:cNvPr id="207" name="직선 연결선 206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직선 연결선 207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직선 연결선 208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직선 연결선 209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직선 연결선 210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직선 연결선 211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직선 연결선 212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직선 연결선 213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직선 연결선 217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직선 연결선 221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직선 연결선 223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직선 연결선 224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직선 연결선 225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직선 연결선 226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직선 연결선 227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직선 연결선 228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직선 연결선 229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직선 연결선 230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직선 연결선 231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직선 연결선 234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직선 연결선 235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직선 연결선 236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직선 연결선 237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직선 연결선 238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직선 연결선 239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직선 연결선 240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직선 연결선 241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직선 연결선 242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직선 연결선 243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직선 연결선 244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직선 연결선 245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직선 연결선 246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그룹 143"/>
            <p:cNvGrpSpPr/>
            <p:nvPr/>
          </p:nvGrpSpPr>
          <p:grpSpPr>
            <a:xfrm>
              <a:off x="5786426" y="6619681"/>
              <a:ext cx="2784871" cy="238347"/>
              <a:chOff x="141256" y="3429000"/>
              <a:chExt cx="8359833" cy="715174"/>
            </a:xfrm>
          </p:grpSpPr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직선 연결선 185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직선 연결선 191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직선 연결선 192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직선 연결선 193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직선 연결선 194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직선 연결선 195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직선 연결선 196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직선 연결선 197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직선 연결선 198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직선 연결선 199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직선 연결선 200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직선 연결선 201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직선 연결선 203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직선 연결선 204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02.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17816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0715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구조도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5742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프로젝트 </a:t>
            </a:r>
            <a:r>
              <a:rPr lang="en-US" altLang="ko-K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DB </a:t>
            </a: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테이블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14" name="그룹 100"/>
            <p:cNvGrpSpPr/>
            <p:nvPr/>
          </p:nvGrpSpPr>
          <p:grpSpPr>
            <a:xfrm>
              <a:off x="71386" y="6619656"/>
              <a:ext cx="2784871" cy="238347"/>
              <a:chOff x="141256" y="3429000"/>
              <a:chExt cx="8359833" cy="715174"/>
            </a:xfrm>
          </p:grpSpPr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그룹 101"/>
            <p:cNvGrpSpPr/>
            <p:nvPr/>
          </p:nvGrpSpPr>
          <p:grpSpPr>
            <a:xfrm>
              <a:off x="2928906" y="6619681"/>
              <a:ext cx="2784871" cy="238347"/>
              <a:chOff x="141256" y="3429000"/>
              <a:chExt cx="8359833" cy="715174"/>
            </a:xfrm>
          </p:grpSpPr>
          <p:cxnSp>
            <p:nvCxnSpPr>
              <p:cNvPr id="70" name="직선 연결선 6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직선 연결선 7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직선 연결선 7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직선 연결선 7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연결선 7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직선 연결선 74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직선 연결선 76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직선 연결선 77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직선 연결선 78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직선 연결선 10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직선 연결선 10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그룹 143"/>
            <p:cNvGrpSpPr/>
            <p:nvPr/>
          </p:nvGrpSpPr>
          <p:grpSpPr>
            <a:xfrm>
              <a:off x="5786426" y="6619681"/>
              <a:ext cx="2784871" cy="238347"/>
              <a:chOff x="141256" y="3429000"/>
              <a:chExt cx="8359833" cy="715174"/>
            </a:xfrm>
          </p:grpSpPr>
          <p:cxnSp>
            <p:nvCxnSpPr>
              <p:cNvPr id="29" name="직선 연결선 28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연결선 62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직선 연결선 68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23" name="직선 연결선 22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1" name="직선 연결선 20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5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285860"/>
            <a:ext cx="6987580" cy="5213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" name="TextBox 152"/>
          <p:cNvSpPr txBox="1"/>
          <p:nvPr/>
        </p:nvSpPr>
        <p:spPr>
          <a:xfrm>
            <a:off x="7143800" y="2374071"/>
            <a:ext cx="2000232" cy="305519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제 </a:t>
            </a:r>
            <a:r>
              <a:rPr lang="en-US" altLang="ko-K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1, 2 </a:t>
            </a:r>
            <a:r>
              <a:rPr lang="ko-KR" altLang="en-US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정규화를 </a:t>
            </a:r>
            <a:endParaRPr lang="en-US" altLang="ko-KR" sz="1600" b="1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거처 코스</a:t>
            </a:r>
            <a:r>
              <a:rPr lang="en-US" altLang="ko-K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코스에 따른 장소</a:t>
            </a:r>
            <a:r>
              <a:rPr lang="en-US" altLang="ko-K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</a:t>
            </a:r>
            <a:r>
              <a:rPr lang="ko-KR" altLang="en-US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정보 테이블을 분리</a:t>
            </a:r>
          </a:p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제 </a:t>
            </a:r>
            <a:r>
              <a:rPr lang="en-US" altLang="ko-K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3 </a:t>
            </a:r>
            <a:r>
              <a:rPr lang="ko-KR" altLang="en-US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정규화를 거쳐 지도 위치 및 </a:t>
            </a:r>
            <a:endParaRPr lang="en-US" altLang="ko-KR" sz="1600" b="1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정보와 장소 타입 테이블 분리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215206" y="1902381"/>
            <a:ext cx="1785950" cy="4455577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55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“</a:t>
            </a:r>
          </a:p>
          <a:p>
            <a:pPr algn="ctr" defTabSz="914377" latinLnBrk="0">
              <a:defRPr/>
            </a:pPr>
            <a:endParaRPr lang="en-US" altLang="ko-KR" sz="55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algn="ctr" defTabSz="914377" latinLnBrk="0">
              <a:defRPr/>
            </a:pPr>
            <a:endParaRPr lang="en-US" altLang="ko-KR" sz="5500" b="1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  <a:p>
            <a:pPr algn="ctr" defTabSz="914377" latinLnBrk="0">
              <a:defRPr/>
            </a:pPr>
            <a:r>
              <a:rPr lang="en-US" altLang="ko-KR" sz="55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            </a:t>
            </a:r>
          </a:p>
          <a:p>
            <a:pPr algn="ctr" defTabSz="914377" latinLnBrk="0">
              <a:defRPr/>
            </a:pPr>
            <a:r>
              <a:rPr lang="en-US" altLang="ko-KR" sz="55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”</a:t>
            </a:r>
            <a:r>
              <a:rPr lang="en-US" altLang="ko-KR" sz="63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  </a:t>
            </a:r>
            <a:endParaRPr lang="ko-KR" altLang="en-US" sz="6300" b="1" kern="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03.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53535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428760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화면구성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14612" y="285728"/>
            <a:ext cx="3643338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팀원 업무 분담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239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101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8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240" name="표 239"/>
          <p:cNvGraphicFramePr>
            <a:graphicFrameLocks noGrp="1"/>
          </p:cNvGraphicFramePr>
          <p:nvPr/>
        </p:nvGraphicFramePr>
        <p:xfrm>
          <a:off x="812727" y="1536082"/>
          <a:ext cx="7688363" cy="4679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54233"/>
                <a:gridCol w="3067065"/>
                <a:gridCol w="3067065"/>
              </a:tblGrid>
              <a:tr h="935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106282" marR="106282" marT="53141" marB="5314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주요 역할</a:t>
                      </a:r>
                      <a:endParaRPr lang="ko-KR" altLang="en-US" sz="1600" dirty="0"/>
                    </a:p>
                  </a:txBody>
                  <a:tcPr marL="106282" marR="106282" marT="53141" marB="5314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디자인 업무분담</a:t>
                      </a:r>
                      <a:endParaRPr lang="ko-KR" altLang="en-US" sz="1600" dirty="0"/>
                    </a:p>
                  </a:txBody>
                  <a:tcPr marL="106282" marR="106282" marT="53141" marB="53141" anchor="ctr"/>
                </a:tc>
              </a:tr>
              <a:tr h="935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/>
                        <a:t>석근용</a:t>
                      </a:r>
                      <a:endParaRPr lang="ko-KR" altLang="en-US" sz="1600" dirty="0"/>
                    </a:p>
                  </a:txBody>
                  <a:tcPr marL="106282" marR="106282" marT="53141" marB="5314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/>
                        <a:t>백엔드</a:t>
                      </a:r>
                      <a:r>
                        <a:rPr lang="ko-KR" altLang="en-US" sz="1600" dirty="0" smtClean="0"/>
                        <a:t> 총괄</a:t>
                      </a:r>
                      <a:endParaRPr lang="en-US" altLang="ko-KR" sz="1600" dirty="0" smtClean="0"/>
                    </a:p>
                  </a:txBody>
                  <a:tcPr marL="106282" marR="106282" marT="53141" marB="5314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회원가입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수정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탈퇴 폼</a:t>
                      </a:r>
                      <a:endParaRPr lang="ko-KR" altLang="en-US" sz="1600" dirty="0"/>
                    </a:p>
                  </a:txBody>
                  <a:tcPr marL="106282" marR="106282" marT="53141" marB="53141" anchor="ctr"/>
                </a:tc>
              </a:tr>
              <a:tr h="935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윤선아</a:t>
                      </a:r>
                      <a:endParaRPr lang="ko-KR" altLang="en-US" sz="1600" dirty="0"/>
                    </a:p>
                  </a:txBody>
                  <a:tcPr marL="106282" marR="106282" marT="53141" marB="5314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/>
                        <a:t>프론트엔드</a:t>
                      </a:r>
                      <a:r>
                        <a:rPr lang="ko-KR" altLang="en-US" sz="1600" dirty="0" smtClean="0"/>
                        <a:t> 총괄</a:t>
                      </a:r>
                      <a:endParaRPr lang="ko-KR" altLang="en-US" sz="1600" dirty="0"/>
                    </a:p>
                  </a:txBody>
                  <a:tcPr marL="106282" marR="106282" marT="53141" marB="5314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로그인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찜 목록 게시판</a:t>
                      </a:r>
                      <a:endParaRPr lang="ko-KR" altLang="en-US" sz="1600" dirty="0"/>
                    </a:p>
                  </a:txBody>
                  <a:tcPr marL="106282" marR="106282" marT="53141" marB="53141" anchor="ctr"/>
                </a:tc>
              </a:tr>
              <a:tr h="935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박지희</a:t>
                      </a:r>
                      <a:endParaRPr lang="ko-KR" altLang="en-US" sz="1600" dirty="0"/>
                    </a:p>
                  </a:txBody>
                  <a:tcPr marL="106282" marR="106282" marT="53141" marB="5314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DB/</a:t>
                      </a:r>
                      <a:r>
                        <a:rPr lang="ko-KR" altLang="en-US" sz="1600" dirty="0" smtClean="0"/>
                        <a:t>자료</a:t>
                      </a: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수집 및 디자인</a:t>
                      </a:r>
                      <a:endParaRPr lang="ko-KR" altLang="en-US" sz="1600" dirty="0"/>
                    </a:p>
                  </a:txBody>
                  <a:tcPr marL="106282" marR="106282" marT="53141" marB="5314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/>
                        <a:t>인트로</a:t>
                      </a:r>
                      <a:endParaRPr lang="ko-KR" altLang="en-US" sz="1600" dirty="0"/>
                    </a:p>
                  </a:txBody>
                  <a:tcPr marL="106282" marR="106282" marT="53141" marB="53141" anchor="ctr"/>
                </a:tc>
              </a:tr>
              <a:tr h="935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이고운</a:t>
                      </a:r>
                      <a:endParaRPr lang="ko-KR" altLang="en-US" sz="1600" dirty="0"/>
                    </a:p>
                  </a:txBody>
                  <a:tcPr marL="106282" marR="106282" marT="53141" marB="53141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DB/</a:t>
                      </a:r>
                      <a:r>
                        <a:rPr lang="ko-KR" altLang="en-US" sz="1600" dirty="0" smtClean="0"/>
                        <a:t>자료</a:t>
                      </a: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수집 및 디자인</a:t>
                      </a:r>
                    </a:p>
                  </a:txBody>
                  <a:tcPr marL="106282" marR="106282" marT="53141" marB="5314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지도 </a:t>
                      </a:r>
                      <a:r>
                        <a:rPr lang="en-US" altLang="ko-KR" sz="1600" dirty="0" smtClean="0"/>
                        <a:t>API</a:t>
                      </a:r>
                      <a:endParaRPr lang="ko-KR" altLang="en-US" sz="1600" dirty="0"/>
                    </a:p>
                  </a:txBody>
                  <a:tcPr marL="106282" marR="106282" marT="53141" marB="53141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kitcoop\Desktop\69799_75534_2637.jpg"/>
          <p:cNvPicPr>
            <a:picLocks noChangeAspect="1" noChangeArrowheads="1"/>
          </p:cNvPicPr>
          <p:nvPr/>
        </p:nvPicPr>
        <p:blipFill>
          <a:blip r:embed="rId2" cstate="print">
            <a:lum bright="16000" contrast="-54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3071802" y="2571744"/>
            <a:ext cx="2928926" cy="148553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000" b="1" dirty="0" smtClean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3000" b="1" dirty="0" smtClean="0">
                <a:solidFill>
                  <a:schemeClr val="bg1"/>
                </a:solidFill>
                <a:latin typeface="+mn-ea"/>
              </a:rPr>
              <a:t>화면 구성</a:t>
            </a:r>
            <a:endParaRPr lang="en-US" altLang="ko-KR" sz="3000" b="1" dirty="0" smtClean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000" b="1" dirty="0" smtClean="0">
                <a:solidFill>
                  <a:schemeClr val="bg1"/>
                </a:solidFill>
                <a:latin typeface="+mn-ea"/>
              </a:rPr>
              <a:t>디자인 및 코딩</a:t>
            </a:r>
            <a:endParaRPr lang="en-US" altLang="ko-KR" sz="30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0" y="1785926"/>
            <a:ext cx="9144000" cy="2413031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500" b="1" dirty="0" smtClean="0">
                <a:solidFill>
                  <a:schemeClr val="bg1"/>
                </a:solidFill>
                <a:latin typeface="+mn-ea"/>
              </a:rPr>
              <a:t>[       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03.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53535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428760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화면구성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1461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 디자인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86" name="Picture 6" descr="C:\Users\kitcoop\Downloads\brackets-editor-log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3660" y="2086688"/>
            <a:ext cx="2000264" cy="1143009"/>
          </a:xfrm>
          <a:prstGeom prst="rect">
            <a:avLst/>
          </a:prstGeom>
          <a:noFill/>
        </p:spPr>
      </p:pic>
      <p:pic>
        <p:nvPicPr>
          <p:cNvPr id="3076" name="Picture 4" descr="C:\Users\kitcoop\Desktop\캡처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6668" y="4658456"/>
            <a:ext cx="3995728" cy="988267"/>
          </a:xfrm>
          <a:prstGeom prst="rect">
            <a:avLst/>
          </a:prstGeom>
          <a:noFill/>
        </p:spPr>
      </p:pic>
      <p:pic>
        <p:nvPicPr>
          <p:cNvPr id="3078" name="Picture 6" descr="C:\Users\kitcoop\Desktop\캡처.PNG"/>
          <p:cNvPicPr>
            <a:picLocks noChangeAspect="1" noChangeArrowheads="1"/>
          </p:cNvPicPr>
          <p:nvPr/>
        </p:nvPicPr>
        <p:blipFill>
          <a:blip r:embed="rId4" cstate="print">
            <a:lum bright="10000"/>
          </a:blip>
          <a:srcRect/>
          <a:stretch>
            <a:fillRect/>
          </a:stretch>
        </p:blipFill>
        <p:spPr bwMode="auto">
          <a:xfrm>
            <a:off x="2076470" y="4086952"/>
            <a:ext cx="1357322" cy="1626030"/>
          </a:xfrm>
          <a:prstGeom prst="rect">
            <a:avLst/>
          </a:prstGeom>
          <a:noFill/>
        </p:spPr>
      </p:pic>
      <p:pic>
        <p:nvPicPr>
          <p:cNvPr id="3079" name="Picture 7" descr="C:\Users\kitcoop\Desktop\캡처3.PNG"/>
          <p:cNvPicPr>
            <a:picLocks noChangeAspect="1" noChangeArrowheads="1"/>
          </p:cNvPicPr>
          <p:nvPr/>
        </p:nvPicPr>
        <p:blipFill>
          <a:blip r:embed="rId5" cstate="print">
            <a:lum bright="10000"/>
          </a:blip>
          <a:srcRect/>
          <a:stretch>
            <a:fillRect/>
          </a:stretch>
        </p:blipFill>
        <p:spPr bwMode="auto">
          <a:xfrm>
            <a:off x="4505362" y="2943944"/>
            <a:ext cx="1285884" cy="1596757"/>
          </a:xfrm>
          <a:prstGeom prst="rect">
            <a:avLst/>
          </a:prstGeom>
          <a:noFill/>
        </p:spPr>
      </p:pic>
      <p:pic>
        <p:nvPicPr>
          <p:cNvPr id="3080" name="Picture 8" descr="C:\Users\kitcoop\Desktop\캡처1.PNG"/>
          <p:cNvPicPr>
            <a:picLocks noChangeAspect="1" noChangeArrowheads="1"/>
          </p:cNvPicPr>
          <p:nvPr/>
        </p:nvPicPr>
        <p:blipFill>
          <a:blip r:embed="rId6" cstate="print">
            <a:lum bright="10000"/>
          </a:blip>
          <a:srcRect/>
          <a:stretch>
            <a:fillRect/>
          </a:stretch>
        </p:blipFill>
        <p:spPr bwMode="auto">
          <a:xfrm>
            <a:off x="6148436" y="3301134"/>
            <a:ext cx="1089065" cy="1442275"/>
          </a:xfrm>
          <a:prstGeom prst="rect">
            <a:avLst/>
          </a:prstGeom>
          <a:noFill/>
        </p:spPr>
      </p:pic>
      <p:pic>
        <p:nvPicPr>
          <p:cNvPr id="3082" name="Picture 10" descr="C:\Users\kitcoop\Desktop\캡처1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647842" y="3229696"/>
            <a:ext cx="2714644" cy="740775"/>
          </a:xfrm>
          <a:prstGeom prst="rect">
            <a:avLst/>
          </a:prstGeom>
          <a:noFill/>
        </p:spPr>
      </p:pic>
      <p:pic>
        <p:nvPicPr>
          <p:cNvPr id="3081" name="Picture 9" descr="C:\Users\kitcoop\Desktop\캡처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076867" y="2000240"/>
            <a:ext cx="2000264" cy="94220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03.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53535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428760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화면구성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1461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 디자인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86" name="그림 185" descr="제목 없음-2.jpg"/>
          <p:cNvPicPr>
            <a:picLocks noChangeAspect="1"/>
          </p:cNvPicPr>
          <p:nvPr/>
        </p:nvPicPr>
        <p:blipFill>
          <a:blip r:embed="rId2" cstate="print"/>
          <a:srcRect t="5350"/>
          <a:stretch>
            <a:fillRect/>
          </a:stretch>
        </p:blipFill>
        <p:spPr>
          <a:xfrm>
            <a:off x="2143108" y="1071546"/>
            <a:ext cx="5072098" cy="53326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03.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53535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428760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화면구성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1461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 디자인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92" name="Picture 4" descr="C:\webtest\00.gg\psd\01_intro_2-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4876" y="4071942"/>
            <a:ext cx="4143404" cy="2330664"/>
          </a:xfrm>
          <a:prstGeom prst="rect">
            <a:avLst/>
          </a:prstGeom>
          <a:noFill/>
        </p:spPr>
      </p:pic>
      <p:pic>
        <p:nvPicPr>
          <p:cNvPr id="193" name="Picture 5" descr="C:\webtest\00.gg\psd\01_intro_2-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0" y="4071942"/>
            <a:ext cx="4113017" cy="2313571"/>
          </a:xfrm>
          <a:prstGeom prst="rect">
            <a:avLst/>
          </a:prstGeom>
          <a:noFill/>
        </p:spPr>
      </p:pic>
      <p:grpSp>
        <p:nvGrpSpPr>
          <p:cNvPr id="194" name="그룹 193"/>
          <p:cNvGrpSpPr/>
          <p:nvPr/>
        </p:nvGrpSpPr>
        <p:grpSpPr>
          <a:xfrm>
            <a:off x="2428860" y="1071546"/>
            <a:ext cx="4214842" cy="2571768"/>
            <a:chOff x="475539" y="1699449"/>
            <a:chExt cx="4214842" cy="2571768"/>
          </a:xfrm>
        </p:grpSpPr>
        <p:pic>
          <p:nvPicPr>
            <p:cNvPr id="195" name="그림 194" descr="제목 없음-2.jpg"/>
            <p:cNvPicPr>
              <a:picLocks noChangeAspect="1"/>
            </p:cNvPicPr>
            <p:nvPr/>
          </p:nvPicPr>
          <p:blipFill>
            <a:blip r:embed="rId4" cstate="print"/>
            <a:srcRect t="50685"/>
            <a:stretch>
              <a:fillRect/>
            </a:stretch>
          </p:blipFill>
          <p:spPr>
            <a:xfrm>
              <a:off x="475539" y="1699449"/>
              <a:ext cx="4214842" cy="2571768"/>
            </a:xfrm>
            <a:prstGeom prst="rect">
              <a:avLst/>
            </a:prstGeom>
          </p:spPr>
        </p:pic>
        <p:sp>
          <p:nvSpPr>
            <p:cNvPr id="196" name="모서리가 둥근 직사각형 195"/>
            <p:cNvSpPr/>
            <p:nvPr/>
          </p:nvSpPr>
          <p:spPr>
            <a:xfrm>
              <a:off x="1189919" y="2628143"/>
              <a:ext cx="617517" cy="688769"/>
            </a:xfrm>
            <a:prstGeom prst="roundRect">
              <a:avLst>
                <a:gd name="adj" fmla="val 25363"/>
              </a:avLst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모서리가 둥근 직사각형 196"/>
            <p:cNvSpPr/>
            <p:nvPr/>
          </p:nvSpPr>
          <p:spPr>
            <a:xfrm>
              <a:off x="3333059" y="2658094"/>
              <a:ext cx="617517" cy="688769"/>
            </a:xfrm>
            <a:prstGeom prst="roundRect">
              <a:avLst>
                <a:gd name="adj" fmla="val 25363"/>
              </a:avLst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98" name="직선 화살표 연결선 197"/>
          <p:cNvCxnSpPr>
            <a:stCxn id="196" idx="2"/>
            <a:endCxn id="193" idx="0"/>
          </p:cNvCxnSpPr>
          <p:nvPr/>
        </p:nvCxnSpPr>
        <p:spPr>
          <a:xfrm rot="5400000">
            <a:off x="2205648" y="2825590"/>
            <a:ext cx="1382933" cy="110977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화살표 연결선 198"/>
          <p:cNvCxnSpPr>
            <a:stCxn id="197" idx="2"/>
            <a:endCxn id="192" idx="0"/>
          </p:cNvCxnSpPr>
          <p:nvPr/>
        </p:nvCxnSpPr>
        <p:spPr>
          <a:xfrm rot="16200000" flipH="1">
            <a:off x="5514367" y="2799731"/>
            <a:ext cx="1352982" cy="1191439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/>
          <p:cNvSpPr txBox="1"/>
          <p:nvPr/>
        </p:nvSpPr>
        <p:spPr>
          <a:xfrm>
            <a:off x="6786578" y="3214686"/>
            <a:ext cx="928694" cy="44242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700" b="1" dirty="0" smtClean="0">
                <a:solidFill>
                  <a:schemeClr val="bg1"/>
                </a:solidFill>
                <a:latin typeface="+mn-ea"/>
              </a:rPr>
              <a:t>Click</a:t>
            </a:r>
            <a:endParaRPr lang="ko-KR" altLang="en-US" sz="1700" b="1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03.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53535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428760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화면구성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1461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 디자인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26" name="Picture 2" descr="C:\Users\kitcoop\Desktop\캡처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785926"/>
            <a:ext cx="8060214" cy="41575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03.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53535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428760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화면구성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1461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 디자인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86" name="Picture 5" descr="L:\0.Final Project\4.화면디자인\캡쳐\result_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357298"/>
            <a:ext cx="7715304" cy="47383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03.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53535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428760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화면구성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1461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 디자인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86" name="Picture 5" descr="L:\0.Final Project\4.화면디자인\캡쳐\result_1.png"/>
          <p:cNvPicPr>
            <a:picLocks noChangeAspect="1" noChangeArrowheads="1"/>
          </p:cNvPicPr>
          <p:nvPr/>
        </p:nvPicPr>
        <p:blipFill>
          <a:blip r:embed="rId2" cstate="print"/>
          <a:srcRect t="56249"/>
          <a:stretch>
            <a:fillRect/>
          </a:stretch>
        </p:blipFill>
        <p:spPr bwMode="auto">
          <a:xfrm>
            <a:off x="5214942" y="1071546"/>
            <a:ext cx="3643338" cy="978964"/>
          </a:xfrm>
          <a:prstGeom prst="rect">
            <a:avLst/>
          </a:prstGeom>
          <a:noFill/>
        </p:spPr>
      </p:pic>
      <p:pic>
        <p:nvPicPr>
          <p:cNvPr id="192" name="Picture 2" descr="G:\0.Final Project\4.화면디자인\시안\03_map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0" y="2500306"/>
            <a:ext cx="6981222" cy="3926938"/>
          </a:xfrm>
          <a:prstGeom prst="rect">
            <a:avLst/>
          </a:prstGeom>
          <a:noFill/>
        </p:spPr>
      </p:pic>
      <p:sp>
        <p:nvSpPr>
          <p:cNvPr id="193" name="모서리가 둥근 직사각형 192"/>
          <p:cNvSpPr/>
          <p:nvPr/>
        </p:nvSpPr>
        <p:spPr>
          <a:xfrm>
            <a:off x="5214942" y="1785925"/>
            <a:ext cx="785818" cy="285753"/>
          </a:xfrm>
          <a:prstGeom prst="roundRect">
            <a:avLst>
              <a:gd name="adj" fmla="val 15811"/>
            </a:avLst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4" name="직선 화살표 연결선 193"/>
          <p:cNvCxnSpPr>
            <a:stCxn id="193" idx="1"/>
          </p:cNvCxnSpPr>
          <p:nvPr/>
        </p:nvCxnSpPr>
        <p:spPr>
          <a:xfrm rot="10800000" flipV="1">
            <a:off x="1928794" y="1928802"/>
            <a:ext cx="3286148" cy="71438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TextBox 196"/>
          <p:cNvSpPr txBox="1"/>
          <p:nvPr/>
        </p:nvSpPr>
        <p:spPr>
          <a:xfrm>
            <a:off x="4429124" y="1357298"/>
            <a:ext cx="714380" cy="4467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 smtClean="0">
                <a:solidFill>
                  <a:schemeClr val="bg1"/>
                </a:solidFill>
                <a:latin typeface="+mn-ea"/>
              </a:rPr>
              <a:t>Click</a:t>
            </a:r>
            <a:endParaRPr lang="ko-KR" altLang="en-US" sz="15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7358082" y="2571744"/>
            <a:ext cx="1285884" cy="113928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 smtClean="0">
                <a:solidFill>
                  <a:schemeClr val="bg1"/>
                </a:solidFill>
                <a:latin typeface="+mn-ea"/>
              </a:rPr>
              <a:t>좌측 </a:t>
            </a:r>
            <a:endParaRPr lang="en-US" altLang="ko-KR" sz="1500" b="1" dirty="0" smtClean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b="1" dirty="0" smtClean="0">
                <a:solidFill>
                  <a:schemeClr val="bg1"/>
                </a:solidFill>
                <a:latin typeface="+mn-ea"/>
              </a:rPr>
              <a:t>사이드 메뉴  </a:t>
            </a:r>
            <a:r>
              <a:rPr lang="en-US" altLang="ko-KR" sz="1500" b="1" dirty="0" smtClean="0">
                <a:solidFill>
                  <a:schemeClr val="bg1"/>
                </a:solidFill>
                <a:latin typeface="+mn-ea"/>
              </a:rPr>
              <a:t>show</a:t>
            </a:r>
            <a:endParaRPr lang="ko-KR" altLang="en-US" sz="1500" b="1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03.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53535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428760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화면구성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1461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 디자인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86" name="Picture 5" descr="L:\0.Final Project\4.화면디자인\캡쳐\result_1.png"/>
          <p:cNvPicPr>
            <a:picLocks noChangeAspect="1" noChangeArrowheads="1"/>
          </p:cNvPicPr>
          <p:nvPr/>
        </p:nvPicPr>
        <p:blipFill>
          <a:blip r:embed="rId2" cstate="print"/>
          <a:srcRect l="74074" b="57355"/>
          <a:stretch>
            <a:fillRect/>
          </a:stretch>
        </p:blipFill>
        <p:spPr bwMode="auto">
          <a:xfrm>
            <a:off x="7215206" y="928670"/>
            <a:ext cx="1643074" cy="1408349"/>
          </a:xfrm>
          <a:prstGeom prst="rect">
            <a:avLst/>
          </a:prstGeom>
          <a:noFill/>
        </p:spPr>
      </p:pic>
      <p:sp>
        <p:nvSpPr>
          <p:cNvPr id="192" name="모서리가 둥근 직사각형 191"/>
          <p:cNvSpPr/>
          <p:nvPr/>
        </p:nvSpPr>
        <p:spPr>
          <a:xfrm>
            <a:off x="8501090" y="928670"/>
            <a:ext cx="357190" cy="357190"/>
          </a:xfrm>
          <a:prstGeom prst="roundRect">
            <a:avLst>
              <a:gd name="adj" fmla="val 15811"/>
            </a:avLst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화살표 연결선 192"/>
          <p:cNvCxnSpPr>
            <a:stCxn id="192" idx="1"/>
            <a:endCxn id="6147" idx="0"/>
          </p:cNvCxnSpPr>
          <p:nvPr/>
        </p:nvCxnSpPr>
        <p:spPr>
          <a:xfrm rot="10800000" flipV="1">
            <a:off x="7563772" y="1107264"/>
            <a:ext cx="937318" cy="1393041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TextBox 193"/>
          <p:cNvSpPr txBox="1"/>
          <p:nvPr/>
        </p:nvSpPr>
        <p:spPr>
          <a:xfrm>
            <a:off x="6357950" y="928670"/>
            <a:ext cx="714380" cy="4467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 smtClean="0">
                <a:solidFill>
                  <a:schemeClr val="bg1"/>
                </a:solidFill>
                <a:latin typeface="+mn-ea"/>
              </a:rPr>
              <a:t>Click</a:t>
            </a:r>
            <a:endParaRPr lang="ko-KR" altLang="en-US" sz="15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03" name="그룹 202"/>
          <p:cNvGrpSpPr/>
          <p:nvPr/>
        </p:nvGrpSpPr>
        <p:grpSpPr>
          <a:xfrm>
            <a:off x="357158" y="2500306"/>
            <a:ext cx="8001056" cy="3912076"/>
            <a:chOff x="357158" y="2643182"/>
            <a:chExt cx="7820577" cy="3769200"/>
          </a:xfrm>
        </p:grpSpPr>
        <p:pic>
          <p:nvPicPr>
            <p:cNvPr id="6146" name="Picture 2" descr="C:\Users\kitcoop\Desktop\result_1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57158" y="2643182"/>
              <a:ext cx="7820577" cy="3768540"/>
            </a:xfrm>
            <a:prstGeom prst="rect">
              <a:avLst/>
            </a:prstGeom>
            <a:noFill/>
          </p:spPr>
        </p:pic>
        <p:pic>
          <p:nvPicPr>
            <p:cNvPr id="6147" name="Picture 3" descr="C:\Users\kitcoop\Desktop\sidebar.png"/>
            <p:cNvPicPr>
              <a:picLocks noChangeAspect="1" noChangeArrowheads="1"/>
            </p:cNvPicPr>
            <p:nvPr/>
          </p:nvPicPr>
          <p:blipFill>
            <a:blip r:embed="rId4" cstate="print"/>
            <a:srcRect l="80042"/>
            <a:stretch>
              <a:fillRect/>
            </a:stretch>
          </p:blipFill>
          <p:spPr bwMode="auto">
            <a:xfrm>
              <a:off x="6624690" y="2643182"/>
              <a:ext cx="1553045" cy="37692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03.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53535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428760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화면구성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1461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 설계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27" name="Picture 3" descr="C:\Users\kitcoop\Desktop\아이콘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0232" y="2214554"/>
            <a:ext cx="1156745" cy="1308449"/>
          </a:xfrm>
          <a:prstGeom prst="rect">
            <a:avLst/>
          </a:prstGeom>
          <a:noFill/>
        </p:spPr>
      </p:pic>
      <p:pic>
        <p:nvPicPr>
          <p:cNvPr id="1028" name="Picture 4" descr="C:\Users\kitcoop\Desktop\아이콘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7752" y="4500570"/>
            <a:ext cx="2105025" cy="1219200"/>
          </a:xfrm>
          <a:prstGeom prst="rect">
            <a:avLst/>
          </a:prstGeom>
          <a:noFill/>
        </p:spPr>
      </p:pic>
      <p:pic>
        <p:nvPicPr>
          <p:cNvPr id="1029" name="Picture 5" descr="C:\Users\kitcoop\Desktop\아이콘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14480" y="3857628"/>
            <a:ext cx="2696794" cy="1615305"/>
          </a:xfrm>
          <a:prstGeom prst="rect">
            <a:avLst/>
          </a:prstGeom>
          <a:noFill/>
        </p:spPr>
      </p:pic>
      <p:pic>
        <p:nvPicPr>
          <p:cNvPr id="1030" name="Picture 6" descr="C:\Users\kitcoop\Desktop\아이콘4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43306" y="1928802"/>
            <a:ext cx="2885306" cy="1049331"/>
          </a:xfrm>
          <a:prstGeom prst="rect">
            <a:avLst/>
          </a:prstGeom>
          <a:noFill/>
        </p:spPr>
      </p:pic>
      <p:pic>
        <p:nvPicPr>
          <p:cNvPr id="1026" name="Picture 2" descr="C:\Users\kitcoop\Desktop\아이콘1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643306" y="3357562"/>
            <a:ext cx="1233488" cy="1112161"/>
          </a:xfrm>
          <a:prstGeom prst="rect">
            <a:avLst/>
          </a:prstGeom>
          <a:noFill/>
        </p:spPr>
      </p:pic>
      <p:pic>
        <p:nvPicPr>
          <p:cNvPr id="14" name="Picture 2" descr="C:\Users\kitcoop\Desktop\아이콘5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072066" y="3214686"/>
            <a:ext cx="2897628" cy="107157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03.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53535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428760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화면구성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1461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 설계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26" name="Picture 2" descr="C:\Users\kitcoop\Desktop\캡처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285860"/>
            <a:ext cx="2266950" cy="2276475"/>
          </a:xfrm>
          <a:prstGeom prst="rect">
            <a:avLst/>
          </a:prstGeom>
          <a:noFill/>
        </p:spPr>
      </p:pic>
      <p:sp>
        <p:nvSpPr>
          <p:cNvPr id="193" name="모서리가 둥근 직사각형 192"/>
          <p:cNvSpPr/>
          <p:nvPr/>
        </p:nvSpPr>
        <p:spPr>
          <a:xfrm>
            <a:off x="1142976" y="3357562"/>
            <a:ext cx="785818" cy="214314"/>
          </a:xfrm>
          <a:prstGeom prst="roundRect">
            <a:avLst>
              <a:gd name="adj" fmla="val 15811"/>
            </a:avLst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5" name="직선 화살표 연결선 194"/>
          <p:cNvCxnSpPr>
            <a:stCxn id="193" idx="3"/>
            <a:endCxn id="197" idx="1"/>
          </p:cNvCxnSpPr>
          <p:nvPr/>
        </p:nvCxnSpPr>
        <p:spPr>
          <a:xfrm flipV="1">
            <a:off x="1928794" y="1509254"/>
            <a:ext cx="1000132" cy="1955465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TextBox 196"/>
          <p:cNvSpPr txBox="1"/>
          <p:nvPr/>
        </p:nvSpPr>
        <p:spPr>
          <a:xfrm>
            <a:off x="2928926" y="1285860"/>
            <a:ext cx="714380" cy="4467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 smtClean="0">
                <a:solidFill>
                  <a:schemeClr val="bg1"/>
                </a:solidFill>
                <a:latin typeface="+mn-ea"/>
              </a:rPr>
              <a:t>Click</a:t>
            </a:r>
            <a:endParaRPr lang="ko-KR" altLang="en-US" sz="15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027" name="Picture 3" descr="C:\Users\kitcoop\Desktop\캡처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28926" y="1857364"/>
            <a:ext cx="6000792" cy="763520"/>
          </a:xfrm>
          <a:prstGeom prst="rect">
            <a:avLst/>
          </a:prstGeom>
          <a:noFill/>
        </p:spPr>
      </p:pic>
      <p:pic>
        <p:nvPicPr>
          <p:cNvPr id="1028" name="Picture 4" descr="C:\Users\kitcoop\Desktop\캡처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43702" y="3571876"/>
            <a:ext cx="2209800" cy="1743075"/>
          </a:xfrm>
          <a:prstGeom prst="rect">
            <a:avLst/>
          </a:prstGeom>
          <a:noFill/>
        </p:spPr>
      </p:pic>
      <p:pic>
        <p:nvPicPr>
          <p:cNvPr id="1029" name="Picture 5" descr="C:\Users\kitcoop\Desktop\캡처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5720" y="3857628"/>
            <a:ext cx="5643602" cy="2686050"/>
          </a:xfrm>
          <a:prstGeom prst="rect">
            <a:avLst/>
          </a:prstGeom>
          <a:noFill/>
        </p:spPr>
      </p:pic>
      <p:sp>
        <p:nvSpPr>
          <p:cNvPr id="203" name="아래로 구부러진 화살표 202"/>
          <p:cNvSpPr/>
          <p:nvPr/>
        </p:nvSpPr>
        <p:spPr>
          <a:xfrm>
            <a:off x="3726226" y="1251974"/>
            <a:ext cx="1060088" cy="462514"/>
          </a:xfrm>
          <a:prstGeom prst="curvedDownArrow">
            <a:avLst>
              <a:gd name="adj1" fmla="val 25000"/>
              <a:gd name="adj2" fmla="val 64221"/>
              <a:gd name="adj3" fmla="val 44329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4" name="줄무늬가 있는 오른쪽 화살표 203"/>
          <p:cNvSpPr/>
          <p:nvPr/>
        </p:nvSpPr>
        <p:spPr>
          <a:xfrm rot="5400000">
            <a:off x="6393669" y="2607463"/>
            <a:ext cx="714380" cy="928694"/>
          </a:xfrm>
          <a:prstGeom prst="stripedRightArrow">
            <a:avLst>
              <a:gd name="adj1" fmla="val 47375"/>
              <a:gd name="adj2" fmla="val 36742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" name="TextBox 204"/>
          <p:cNvSpPr txBox="1"/>
          <p:nvPr/>
        </p:nvSpPr>
        <p:spPr>
          <a:xfrm>
            <a:off x="6000760" y="5786454"/>
            <a:ext cx="2928958" cy="4467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 err="1" smtClean="0">
                <a:solidFill>
                  <a:schemeClr val="bg1"/>
                </a:solidFill>
                <a:latin typeface="+mn-ea"/>
              </a:rPr>
              <a:t>IntroController</a:t>
            </a:r>
            <a:r>
              <a:rPr lang="en-US" altLang="ko-KR" sz="1500" b="1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500" b="1" dirty="0" err="1" smtClean="0">
                <a:solidFill>
                  <a:schemeClr val="bg1"/>
                </a:solidFill>
                <a:latin typeface="+mn-ea"/>
              </a:rPr>
              <a:t>메서드</a:t>
            </a:r>
            <a:r>
              <a:rPr lang="ko-KR" altLang="en-US" sz="1500" b="1" dirty="0" smtClean="0">
                <a:solidFill>
                  <a:schemeClr val="bg1"/>
                </a:solidFill>
                <a:latin typeface="+mn-ea"/>
              </a:rPr>
              <a:t> 실행</a:t>
            </a:r>
            <a:endParaRPr lang="ko-KR" altLang="en-US" sz="15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6" name="아래로 구부러진 화살표 205"/>
          <p:cNvSpPr/>
          <p:nvPr/>
        </p:nvSpPr>
        <p:spPr>
          <a:xfrm rot="10800000">
            <a:off x="5929322" y="5357826"/>
            <a:ext cx="928694" cy="357190"/>
          </a:xfrm>
          <a:prstGeom prst="curvedDownArrow">
            <a:avLst>
              <a:gd name="adj1" fmla="val 25000"/>
              <a:gd name="adj2" fmla="val 64221"/>
              <a:gd name="adj3" fmla="val 44329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03.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53535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428760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화면구성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1461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 설계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717032"/>
            <a:ext cx="66198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8" name="Picture 5" descr="C:\Users\kitcoop\Desktop\캡처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196752"/>
            <a:ext cx="5328592" cy="2536122"/>
          </a:xfrm>
          <a:prstGeom prst="rect">
            <a:avLst/>
          </a:prstGeom>
          <a:noFill/>
        </p:spPr>
      </p:pic>
      <p:cxnSp>
        <p:nvCxnSpPr>
          <p:cNvPr id="200" name="직선 연결선 199"/>
          <p:cNvCxnSpPr/>
          <p:nvPr/>
        </p:nvCxnSpPr>
        <p:spPr>
          <a:xfrm>
            <a:off x="1187624" y="2132856"/>
            <a:ext cx="7200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03.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53535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428760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화면구성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1461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 설계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86" name="Picture 2" descr="C:\Users\kitcoop\Desktop\캡처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7950" y="4929198"/>
            <a:ext cx="2448000" cy="1262715"/>
          </a:xfrm>
          <a:prstGeom prst="rect">
            <a:avLst/>
          </a:prstGeom>
          <a:noFill/>
        </p:spPr>
      </p:pic>
      <p:pic>
        <p:nvPicPr>
          <p:cNvPr id="2051" name="Picture 3" descr="C:\Users\kitcoop\Desktop\캡처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14678" y="3286124"/>
            <a:ext cx="5508000" cy="22739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52" name="Picture 4" descr="C:\Users\kitcoop\Desktop\캡처1.PNG"/>
          <p:cNvPicPr>
            <a:picLocks noChangeAspect="1" noChangeArrowheads="1"/>
          </p:cNvPicPr>
          <p:nvPr/>
        </p:nvPicPr>
        <p:blipFill>
          <a:blip r:embed="rId4" cstate="print">
            <a:lum/>
          </a:blip>
          <a:srcRect/>
          <a:stretch>
            <a:fillRect/>
          </a:stretch>
        </p:blipFill>
        <p:spPr bwMode="auto">
          <a:xfrm>
            <a:off x="3214678" y="1142984"/>
            <a:ext cx="5508000" cy="203581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92" name="아래로 구부러진 화살표 191"/>
          <p:cNvSpPr/>
          <p:nvPr/>
        </p:nvSpPr>
        <p:spPr>
          <a:xfrm rot="12644959" flipH="1">
            <a:off x="2060188" y="2785705"/>
            <a:ext cx="1185313" cy="462514"/>
          </a:xfrm>
          <a:prstGeom prst="curvedDownArrow">
            <a:avLst>
              <a:gd name="adj1" fmla="val 25000"/>
              <a:gd name="adj2" fmla="val 64221"/>
              <a:gd name="adj3" fmla="val 44329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050" name="Picture 2" descr="C:\Users\kitcoop\Desktop\캡처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7158" y="1142984"/>
            <a:ext cx="2448000" cy="1344497"/>
          </a:xfrm>
          <a:prstGeom prst="rect">
            <a:avLst/>
          </a:prstGeom>
          <a:noFill/>
        </p:spPr>
      </p:pic>
      <p:pic>
        <p:nvPicPr>
          <p:cNvPr id="2053" name="Picture 5" descr="C:\Users\kitcoop\Desktop\캡처5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28596" y="4929198"/>
            <a:ext cx="5508000" cy="101502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54" name="Picture 6" descr="C:\Users\kitcoop\Desktop\캡처6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28596" y="6072206"/>
            <a:ext cx="5508000" cy="334833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94" name="아래로 구부러진 화살표 193"/>
          <p:cNvSpPr/>
          <p:nvPr/>
        </p:nvSpPr>
        <p:spPr>
          <a:xfrm rot="10800000" flipH="1" flipV="1">
            <a:off x="5572132" y="4429132"/>
            <a:ext cx="1214447" cy="428630"/>
          </a:xfrm>
          <a:prstGeom prst="curvedDownArrow">
            <a:avLst>
              <a:gd name="adj1" fmla="val 25000"/>
              <a:gd name="adj2" fmla="val 64221"/>
              <a:gd name="adj3" fmla="val 44329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6" name="줄무늬가 있는 오른쪽 화살표 195"/>
          <p:cNvSpPr/>
          <p:nvPr/>
        </p:nvSpPr>
        <p:spPr>
          <a:xfrm rot="8051609">
            <a:off x="3639684" y="3818205"/>
            <a:ext cx="1278749" cy="928694"/>
          </a:xfrm>
          <a:prstGeom prst="stripedRightArrow">
            <a:avLst>
              <a:gd name="adj1" fmla="val 65010"/>
              <a:gd name="adj2" fmla="val 36742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3" name="TextBox 192"/>
          <p:cNvSpPr txBox="1"/>
          <p:nvPr/>
        </p:nvSpPr>
        <p:spPr>
          <a:xfrm>
            <a:off x="357158" y="2928934"/>
            <a:ext cx="1785950" cy="4467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500" b="1" dirty="0" smtClean="0">
                <a:solidFill>
                  <a:schemeClr val="bg1"/>
                </a:solidFill>
                <a:latin typeface="+mn-ea"/>
              </a:rPr>
              <a:t>전달 값 코딩 실행</a:t>
            </a:r>
            <a:endParaRPr lang="ko-KR" altLang="en-US" sz="15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6858016" y="4071942"/>
            <a:ext cx="1928826" cy="7930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 smtClean="0">
                <a:solidFill>
                  <a:schemeClr val="bg1"/>
                </a:solidFill>
                <a:latin typeface="+mn-ea"/>
              </a:rPr>
              <a:t>전달 받은 값 </a:t>
            </a:r>
            <a:endParaRPr lang="en-US" altLang="ko-KR" sz="1500" b="1" dirty="0" smtClean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b="1" dirty="0" smtClean="0">
                <a:solidFill>
                  <a:schemeClr val="bg1"/>
                </a:solidFill>
                <a:latin typeface="+mn-ea"/>
              </a:rPr>
              <a:t>화면 구현 코딩 실행</a:t>
            </a:r>
            <a:endParaRPr lang="ko-KR" altLang="en-US" sz="1500" b="1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03.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53535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428760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화면구성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1461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 설계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93" name="Picture 5" descr="L:\0.Final Project\4.화면디자인\캡쳐\result_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59168" y="1571612"/>
            <a:ext cx="2675343" cy="1643074"/>
          </a:xfrm>
          <a:prstGeom prst="rect">
            <a:avLst/>
          </a:prstGeom>
          <a:noFill/>
        </p:spPr>
      </p:pic>
      <p:pic>
        <p:nvPicPr>
          <p:cNvPr id="1026" name="Picture 2" descr="C:\Users\kitcoop\Desktop\캡처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1571611"/>
            <a:ext cx="5286412" cy="1306557"/>
          </a:xfrm>
          <a:prstGeom prst="rect">
            <a:avLst/>
          </a:prstGeom>
          <a:noFill/>
        </p:spPr>
      </p:pic>
      <p:pic>
        <p:nvPicPr>
          <p:cNvPr id="1027" name="Picture 3" descr="C:\Users\kitcoop\Desktop\캡처1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596" y="3214686"/>
            <a:ext cx="4029076" cy="3238500"/>
          </a:xfrm>
          <a:prstGeom prst="rect">
            <a:avLst/>
          </a:prstGeom>
          <a:noFill/>
        </p:spPr>
      </p:pic>
      <p:sp>
        <p:nvSpPr>
          <p:cNvPr id="186" name="아래로 구부러진 화살표 185"/>
          <p:cNvSpPr/>
          <p:nvPr/>
        </p:nvSpPr>
        <p:spPr>
          <a:xfrm rot="18747416" flipH="1" flipV="1">
            <a:off x="4419775" y="3333737"/>
            <a:ext cx="1214447" cy="428630"/>
          </a:xfrm>
          <a:prstGeom prst="curvedDownArrow">
            <a:avLst>
              <a:gd name="adj1" fmla="val 25000"/>
              <a:gd name="adj2" fmla="val 64221"/>
              <a:gd name="adj3" fmla="val 44329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4714876" y="4071942"/>
            <a:ext cx="1928826" cy="7484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 smtClean="0">
                <a:solidFill>
                  <a:schemeClr val="bg1"/>
                </a:solidFill>
                <a:latin typeface="+mn-ea"/>
              </a:rPr>
              <a:t>‘</a:t>
            </a:r>
            <a:r>
              <a:rPr lang="ko-KR" altLang="en-US" sz="1500" b="1" dirty="0" err="1" smtClean="0">
                <a:solidFill>
                  <a:schemeClr val="bg1"/>
                </a:solidFill>
                <a:latin typeface="+mn-ea"/>
              </a:rPr>
              <a:t>구글</a:t>
            </a:r>
            <a:r>
              <a:rPr lang="en-US" altLang="ko-KR" sz="1500" b="1" dirty="0" smtClean="0">
                <a:solidFill>
                  <a:schemeClr val="bg1"/>
                </a:solidFill>
                <a:latin typeface="+mn-ea"/>
              </a:rPr>
              <a:t>’</a:t>
            </a:r>
            <a:r>
              <a:rPr lang="ko-KR" altLang="en-US" sz="1500" b="1" dirty="0" smtClean="0">
                <a:solidFill>
                  <a:schemeClr val="bg1"/>
                </a:solidFill>
                <a:latin typeface="+mn-ea"/>
              </a:rPr>
              <a:t> 지도 </a:t>
            </a:r>
            <a:endParaRPr lang="en-US" altLang="ko-KR" sz="1500" b="1" dirty="0" smtClean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b="1" dirty="0" smtClean="0">
                <a:solidFill>
                  <a:schemeClr val="bg1"/>
                </a:solidFill>
                <a:latin typeface="+mn-ea"/>
              </a:rPr>
              <a:t>좌표 값을 가져온다</a:t>
            </a:r>
            <a:endParaRPr lang="ko-KR" altLang="en-US" sz="1500" b="1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03.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535355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1428760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화면구성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1461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화면 설계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93" name="Picture 5" descr="L:\0.Final Project\4.화면디자인\캡쳐\result_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214422"/>
            <a:ext cx="2675343" cy="1643074"/>
          </a:xfrm>
          <a:prstGeom prst="rect">
            <a:avLst/>
          </a:prstGeom>
          <a:noFill/>
        </p:spPr>
      </p:pic>
      <p:sp>
        <p:nvSpPr>
          <p:cNvPr id="186" name="아래로 구부러진 화살표 185"/>
          <p:cNvSpPr/>
          <p:nvPr/>
        </p:nvSpPr>
        <p:spPr>
          <a:xfrm rot="16200000" flipH="1">
            <a:off x="107124" y="3036092"/>
            <a:ext cx="785820" cy="428628"/>
          </a:xfrm>
          <a:prstGeom prst="curvedDownArrow">
            <a:avLst>
              <a:gd name="adj1" fmla="val 25000"/>
              <a:gd name="adj2" fmla="val 64221"/>
              <a:gd name="adj3" fmla="val 44329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3000364" y="5715016"/>
            <a:ext cx="1928826" cy="7484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 smtClean="0">
                <a:solidFill>
                  <a:schemeClr val="bg1"/>
                </a:solidFill>
                <a:latin typeface="+mn-ea"/>
              </a:rPr>
              <a:t>화면 구현을 위한</a:t>
            </a:r>
            <a:endParaRPr lang="en-US" altLang="ko-KR" sz="1500" b="1" dirty="0" smtClean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ko-KR" altLang="en-US" sz="15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94" name="Picture 2" descr="G:\0.Final Project\4.화면디자인\시안\03_map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86446" y="4737208"/>
            <a:ext cx="3131508" cy="1761474"/>
          </a:xfrm>
          <a:prstGeom prst="rect">
            <a:avLst/>
          </a:prstGeom>
          <a:noFill/>
        </p:spPr>
      </p:pic>
      <p:pic>
        <p:nvPicPr>
          <p:cNvPr id="2050" name="Picture 2" descr="C:\Users\kitcoop\Desktop\캡처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5786" y="3071810"/>
            <a:ext cx="2128839" cy="3429024"/>
          </a:xfrm>
          <a:prstGeom prst="rect">
            <a:avLst/>
          </a:prstGeom>
          <a:noFill/>
        </p:spPr>
      </p:pic>
      <p:sp>
        <p:nvSpPr>
          <p:cNvPr id="195" name="줄무늬가 있는 오른쪽 화살표 194"/>
          <p:cNvSpPr/>
          <p:nvPr/>
        </p:nvSpPr>
        <p:spPr>
          <a:xfrm rot="8928904" flipH="1">
            <a:off x="3178879" y="2982540"/>
            <a:ext cx="1845851" cy="928694"/>
          </a:xfrm>
          <a:prstGeom prst="stripedRightArrow">
            <a:avLst>
              <a:gd name="adj1" fmla="val 59884"/>
              <a:gd name="adj2" fmla="val 6650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08104" y="1052736"/>
            <a:ext cx="1933929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kitcoop\Desktop\20687135_329461410836596_5584611804505440256_n.jpg"/>
          <p:cNvPicPr>
            <a:picLocks noChangeAspect="1" noChangeArrowheads="1"/>
          </p:cNvPicPr>
          <p:nvPr/>
        </p:nvPicPr>
        <p:blipFill>
          <a:blip r:embed="rId2" cstate="print">
            <a:lum contrast="-49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grpSp>
        <p:nvGrpSpPr>
          <p:cNvPr id="10" name="그룹 9"/>
          <p:cNvGrpSpPr/>
          <p:nvPr/>
        </p:nvGrpSpPr>
        <p:grpSpPr>
          <a:xfrm>
            <a:off x="2357422" y="1357298"/>
            <a:ext cx="4357718" cy="4357718"/>
            <a:chOff x="2357422" y="1357298"/>
            <a:chExt cx="4357718" cy="4357718"/>
          </a:xfrm>
        </p:grpSpPr>
        <p:sp>
          <p:nvSpPr>
            <p:cNvPr id="6" name="타원 5"/>
            <p:cNvSpPr/>
            <p:nvPr/>
          </p:nvSpPr>
          <p:spPr>
            <a:xfrm>
              <a:off x="2500297" y="1500173"/>
              <a:ext cx="4062279" cy="4062279"/>
            </a:xfrm>
            <a:prstGeom prst="ellipse">
              <a:avLst/>
            </a:prstGeom>
            <a:solidFill>
              <a:schemeClr val="tx1">
                <a:lumMod val="50000"/>
                <a:lumOff val="50000"/>
                <a:alpha val="7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/>
            <p:cNvSpPr/>
            <p:nvPr/>
          </p:nvSpPr>
          <p:spPr>
            <a:xfrm>
              <a:off x="2357422" y="1357298"/>
              <a:ext cx="4357718" cy="4357718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/>
            <p:cNvSpPr/>
            <p:nvPr/>
          </p:nvSpPr>
          <p:spPr>
            <a:xfrm>
              <a:off x="2750331" y="1750207"/>
              <a:ext cx="3545262" cy="354526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0" y="2714620"/>
            <a:ext cx="9144000" cy="148553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000" b="1" dirty="0" smtClean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3000" b="1" dirty="0" smtClean="0">
                <a:solidFill>
                  <a:schemeClr val="bg1"/>
                </a:solidFill>
                <a:latin typeface="+mn-ea"/>
              </a:rPr>
              <a:t>구현 문제점</a:t>
            </a:r>
          </a:p>
          <a:p>
            <a:pPr algn="ctr">
              <a:lnSpc>
                <a:spcPct val="150000"/>
              </a:lnSpc>
            </a:pPr>
            <a:r>
              <a:rPr lang="ko-KR" altLang="en-US" sz="3000" b="1" dirty="0" smtClean="0">
                <a:solidFill>
                  <a:schemeClr val="bg1"/>
                </a:solidFill>
                <a:latin typeface="+mn-ea"/>
              </a:rPr>
              <a:t>코딩 오류 및 해결</a:t>
            </a:r>
            <a:endParaRPr lang="en-US" altLang="ko-KR" sz="3000" b="1" dirty="0" smtClean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04.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4321173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2214578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구현 및 문제점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71868" y="285728"/>
            <a:ext cx="3643338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Spring</a:t>
            </a: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설계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500174"/>
            <a:ext cx="2837417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74" y="1357298"/>
            <a:ext cx="2044284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3" name="TextBox 192"/>
          <p:cNvSpPr txBox="1"/>
          <p:nvPr/>
        </p:nvSpPr>
        <p:spPr>
          <a:xfrm>
            <a:off x="3143240" y="1571612"/>
            <a:ext cx="1529586" cy="209288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300" b="1" dirty="0" smtClean="0">
                <a:solidFill>
                  <a:schemeClr val="bg1"/>
                </a:solidFill>
                <a:latin typeface="+mn-ea"/>
              </a:rPr>
              <a:t>Controller</a:t>
            </a:r>
          </a:p>
          <a:p>
            <a:r>
              <a:rPr lang="en-US" altLang="ko-KR" sz="1300" b="1" dirty="0" smtClean="0">
                <a:solidFill>
                  <a:schemeClr val="bg1"/>
                </a:solidFill>
                <a:latin typeface="+mn-ea"/>
              </a:rPr>
              <a:t>DAO</a:t>
            </a:r>
          </a:p>
          <a:p>
            <a:r>
              <a:rPr lang="en-US" altLang="ko-KR" sz="1300" b="1" dirty="0" err="1" smtClean="0">
                <a:solidFill>
                  <a:schemeClr val="bg1"/>
                </a:solidFill>
                <a:latin typeface="+mn-ea"/>
              </a:rPr>
              <a:t>DTO</a:t>
            </a:r>
            <a:endParaRPr lang="en-US" altLang="ko-KR" sz="1300" b="1" dirty="0" smtClean="0">
              <a:solidFill>
                <a:schemeClr val="bg1"/>
              </a:solidFill>
              <a:latin typeface="+mn-ea"/>
            </a:endParaRPr>
          </a:p>
          <a:p>
            <a:endParaRPr lang="en-US" altLang="ko-KR" sz="1300" b="1" dirty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300" b="1" dirty="0" smtClean="0">
                <a:solidFill>
                  <a:schemeClr val="bg1"/>
                </a:solidFill>
                <a:latin typeface="+mn-ea"/>
              </a:rPr>
              <a:t>관리 및 처리 부분</a:t>
            </a:r>
            <a:endParaRPr lang="en-US" altLang="ko-KR" sz="1300" b="1" dirty="0" smtClean="0">
              <a:solidFill>
                <a:schemeClr val="bg1"/>
              </a:solidFill>
              <a:latin typeface="+mn-ea"/>
            </a:endParaRPr>
          </a:p>
          <a:p>
            <a:endParaRPr lang="en-US" altLang="ko-KR" sz="1300" b="1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1300" b="1" dirty="0" smtClean="0">
                <a:solidFill>
                  <a:schemeClr val="bg1"/>
                </a:solidFill>
                <a:latin typeface="+mn-ea"/>
              </a:rPr>
              <a:t>DB </a:t>
            </a:r>
            <a:r>
              <a:rPr lang="ko-KR" altLang="en-US" sz="1300" b="1" dirty="0" smtClean="0">
                <a:solidFill>
                  <a:schemeClr val="bg1"/>
                </a:solidFill>
                <a:latin typeface="+mn-ea"/>
              </a:rPr>
              <a:t>설정</a:t>
            </a:r>
            <a:endParaRPr lang="en-US" altLang="ko-KR" sz="1300" b="1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1300" b="1" dirty="0" smtClean="0">
                <a:solidFill>
                  <a:schemeClr val="bg1"/>
                </a:solidFill>
                <a:latin typeface="+mn-ea"/>
              </a:rPr>
              <a:t>SQL </a:t>
            </a:r>
            <a:r>
              <a:rPr lang="ko-KR" altLang="en-US" sz="1300" b="1" dirty="0" smtClean="0">
                <a:solidFill>
                  <a:schemeClr val="bg1"/>
                </a:solidFill>
                <a:latin typeface="+mn-ea"/>
              </a:rPr>
              <a:t>구문</a:t>
            </a:r>
            <a:endParaRPr lang="en-US" altLang="ko-KR" sz="1300" b="1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1300" b="1" dirty="0" smtClean="0">
                <a:solidFill>
                  <a:schemeClr val="bg1"/>
                </a:solidFill>
                <a:latin typeface="+mn-ea"/>
              </a:rPr>
              <a:t>DB </a:t>
            </a:r>
            <a:r>
              <a:rPr lang="ko-KR" altLang="en-US" sz="1300" b="1" dirty="0" smtClean="0">
                <a:solidFill>
                  <a:schemeClr val="bg1"/>
                </a:solidFill>
                <a:latin typeface="+mn-ea"/>
              </a:rPr>
              <a:t>연결 정보</a:t>
            </a:r>
            <a:endParaRPr lang="en-US" altLang="ko-KR" sz="1300" b="1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1300" b="1" dirty="0" smtClean="0">
                <a:solidFill>
                  <a:schemeClr val="bg1"/>
                </a:solidFill>
                <a:latin typeface="+mn-ea"/>
              </a:rPr>
              <a:t>My </a:t>
            </a:r>
            <a:r>
              <a:rPr lang="en-US" altLang="ko-KR" sz="1300" b="1" dirty="0" err="1" smtClean="0">
                <a:solidFill>
                  <a:schemeClr val="bg1"/>
                </a:solidFill>
                <a:latin typeface="+mn-ea"/>
              </a:rPr>
              <a:t>batis</a:t>
            </a:r>
            <a:r>
              <a:rPr lang="en-US" altLang="ko-KR" sz="1300" b="1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300" b="1" dirty="0" smtClean="0">
                <a:solidFill>
                  <a:schemeClr val="bg1"/>
                </a:solidFill>
                <a:latin typeface="+mn-ea"/>
              </a:rPr>
              <a:t>동작</a:t>
            </a:r>
            <a:endParaRPr lang="en-US" altLang="ko-KR" sz="13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7000892" y="4429132"/>
            <a:ext cx="1470274" cy="14927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300" b="1" dirty="0" smtClean="0">
                <a:solidFill>
                  <a:schemeClr val="bg1"/>
                </a:solidFill>
                <a:latin typeface="+mn-ea"/>
              </a:rPr>
              <a:t>View</a:t>
            </a:r>
          </a:p>
          <a:p>
            <a:endParaRPr lang="en-US" altLang="ko-KR" sz="1300" b="1" dirty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300" b="1" dirty="0" smtClean="0">
                <a:solidFill>
                  <a:schemeClr val="bg1"/>
                </a:solidFill>
                <a:latin typeface="+mn-ea"/>
              </a:rPr>
              <a:t>화면 관리</a:t>
            </a:r>
            <a:endParaRPr lang="en-US" altLang="ko-KR" sz="1300" b="1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300" b="1" dirty="0" smtClean="0">
                <a:solidFill>
                  <a:schemeClr val="bg1"/>
                </a:solidFill>
                <a:latin typeface="+mn-ea"/>
              </a:rPr>
              <a:t>데이터 화면 출력</a:t>
            </a:r>
            <a:endParaRPr lang="en-US" altLang="ko-KR" sz="1300" b="1" dirty="0" smtClean="0">
              <a:solidFill>
                <a:schemeClr val="bg1"/>
              </a:solidFill>
              <a:latin typeface="+mn-ea"/>
            </a:endParaRPr>
          </a:p>
          <a:p>
            <a:endParaRPr lang="en-US" altLang="ko-KR" sz="1300" b="1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1300" b="1" dirty="0" err="1" smtClean="0">
                <a:solidFill>
                  <a:schemeClr val="bg1"/>
                </a:solidFill>
                <a:latin typeface="+mn-ea"/>
              </a:rPr>
              <a:t>Pom.xml</a:t>
            </a:r>
            <a:r>
              <a:rPr lang="ko-KR" altLang="en-US" sz="1300" b="1" dirty="0" smtClean="0">
                <a:solidFill>
                  <a:schemeClr val="bg1"/>
                </a:solidFill>
                <a:latin typeface="+mn-ea"/>
              </a:rPr>
              <a:t>로 인한</a:t>
            </a:r>
            <a:endParaRPr lang="en-US" altLang="ko-KR" sz="1300" b="1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300" b="1" dirty="0" smtClean="0">
                <a:solidFill>
                  <a:schemeClr val="bg1"/>
                </a:solidFill>
                <a:latin typeface="+mn-ea"/>
              </a:rPr>
              <a:t>버전 관리</a:t>
            </a:r>
            <a:endParaRPr lang="ko-KR" altLang="en-US" sz="13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2571736" y="5286388"/>
            <a:ext cx="4214842" cy="83920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48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“                ”  </a:t>
            </a:r>
            <a:endParaRPr lang="ko-KR" altLang="en-US" sz="4800" b="1" kern="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2357422" y="5429264"/>
            <a:ext cx="4572032" cy="748408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5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바뀌는 화면이 특정 부분일 때가 많음</a:t>
            </a:r>
          </a:p>
          <a:p>
            <a:pPr algn="ctr">
              <a:lnSpc>
                <a:spcPct val="150000"/>
              </a:lnSpc>
            </a:pPr>
            <a:r>
              <a:rPr lang="en-US" altLang="ko-KR" sz="15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Tiles</a:t>
            </a:r>
            <a:r>
              <a:rPr lang="ko-KR" altLang="en-US" sz="15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를 통해 효율적으로 </a:t>
            </a:r>
            <a:r>
              <a:rPr lang="en-US" altLang="ko-KR" sz="15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xml</a:t>
            </a:r>
            <a:r>
              <a:rPr lang="ko-KR" altLang="en-US" sz="15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에서 관리</a:t>
            </a:r>
          </a:p>
        </p:txBody>
      </p:sp>
      <p:sp>
        <p:nvSpPr>
          <p:cNvPr id="199" name="아래로 구부러진 화살표 198"/>
          <p:cNvSpPr/>
          <p:nvPr/>
        </p:nvSpPr>
        <p:spPr>
          <a:xfrm>
            <a:off x="2214546" y="1142984"/>
            <a:ext cx="1143008" cy="357190"/>
          </a:xfrm>
          <a:prstGeom prst="curvedDownArrow">
            <a:avLst>
              <a:gd name="adj1" fmla="val 25000"/>
              <a:gd name="adj2" fmla="val 64221"/>
              <a:gd name="adj3" fmla="val 44329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0" name="아래로 구부러진 화살표 199"/>
          <p:cNvSpPr/>
          <p:nvPr/>
        </p:nvSpPr>
        <p:spPr>
          <a:xfrm rot="16200000">
            <a:off x="5893603" y="3679033"/>
            <a:ext cx="1285884" cy="642942"/>
          </a:xfrm>
          <a:prstGeom prst="curvedDownArrow">
            <a:avLst>
              <a:gd name="adj1" fmla="val 25000"/>
              <a:gd name="adj2" fmla="val 64221"/>
              <a:gd name="adj3" fmla="val 44329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04.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4321173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2214578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구현 및 문제점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71868" y="285728"/>
            <a:ext cx="3643338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Tiles</a:t>
            </a: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설계 오류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9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400522"/>
            <a:ext cx="2238375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6" name="직사각형 195"/>
          <p:cNvSpPr/>
          <p:nvPr/>
        </p:nvSpPr>
        <p:spPr>
          <a:xfrm>
            <a:off x="1187624" y="5157192"/>
            <a:ext cx="1368152" cy="21602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7" name="직사각형 196"/>
          <p:cNvSpPr/>
          <p:nvPr/>
        </p:nvSpPr>
        <p:spPr>
          <a:xfrm>
            <a:off x="1187624" y="5685632"/>
            <a:ext cx="1368152" cy="21602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직사각형 197"/>
          <p:cNvSpPr/>
          <p:nvPr/>
        </p:nvSpPr>
        <p:spPr>
          <a:xfrm>
            <a:off x="1187624" y="2949328"/>
            <a:ext cx="1368152" cy="3600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/>
          <p:cNvSpPr/>
          <p:nvPr/>
        </p:nvSpPr>
        <p:spPr>
          <a:xfrm>
            <a:off x="1187624" y="4293096"/>
            <a:ext cx="1368152" cy="21602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88475" y="1362075"/>
            <a:ext cx="214312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1" name="직사각형 200"/>
          <p:cNvSpPr/>
          <p:nvPr/>
        </p:nvSpPr>
        <p:spPr>
          <a:xfrm>
            <a:off x="5492531" y="1722115"/>
            <a:ext cx="1656184" cy="50405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TextBox 201"/>
          <p:cNvSpPr txBox="1"/>
          <p:nvPr/>
        </p:nvSpPr>
        <p:spPr>
          <a:xfrm>
            <a:off x="2699792" y="2996952"/>
            <a:ext cx="1721946" cy="2923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300" b="1" dirty="0" smtClean="0">
                <a:solidFill>
                  <a:schemeClr val="bg1"/>
                </a:solidFill>
              </a:rPr>
              <a:t>Tiles </a:t>
            </a:r>
            <a:r>
              <a:rPr lang="ko-KR" altLang="en-US" sz="1300" b="1" dirty="0" smtClean="0">
                <a:solidFill>
                  <a:schemeClr val="bg1"/>
                </a:solidFill>
              </a:rPr>
              <a:t>화면 출력 설정</a:t>
            </a:r>
            <a:endParaRPr lang="ko-KR" altLang="en-US" sz="1300" b="1" dirty="0">
              <a:solidFill>
                <a:schemeClr val="bg1"/>
              </a:solidFill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2771800" y="4273351"/>
            <a:ext cx="1692002" cy="2923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300" b="1" dirty="0" smtClean="0">
                <a:solidFill>
                  <a:schemeClr val="bg1"/>
                </a:solidFill>
              </a:rPr>
              <a:t>화면 </a:t>
            </a:r>
            <a:r>
              <a:rPr lang="en-US" altLang="ko-KR" sz="1300" b="1" dirty="0" smtClean="0">
                <a:solidFill>
                  <a:schemeClr val="bg1"/>
                </a:solidFill>
              </a:rPr>
              <a:t>Template </a:t>
            </a:r>
            <a:r>
              <a:rPr lang="ko-KR" altLang="en-US" sz="1300" b="1" dirty="0" smtClean="0">
                <a:solidFill>
                  <a:schemeClr val="bg1"/>
                </a:solidFill>
              </a:rPr>
              <a:t>생성</a:t>
            </a:r>
            <a:endParaRPr lang="ko-KR" altLang="en-US" sz="1300" b="1" dirty="0">
              <a:solidFill>
                <a:schemeClr val="bg1"/>
              </a:solidFill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2771800" y="5157192"/>
            <a:ext cx="936475" cy="2923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300" b="1" dirty="0" smtClean="0">
                <a:solidFill>
                  <a:schemeClr val="bg1"/>
                </a:solidFill>
              </a:rPr>
              <a:t>Tiles </a:t>
            </a:r>
            <a:r>
              <a:rPr lang="ko-KR" altLang="en-US" sz="1300" b="1" dirty="0" smtClean="0">
                <a:solidFill>
                  <a:schemeClr val="bg1"/>
                </a:solidFill>
              </a:rPr>
              <a:t>연</a:t>
            </a:r>
            <a:r>
              <a:rPr lang="ko-KR" altLang="en-US" sz="1300" b="1" dirty="0">
                <a:solidFill>
                  <a:schemeClr val="bg1"/>
                </a:solidFill>
              </a:rPr>
              <a:t>결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2771800" y="5661248"/>
            <a:ext cx="1692002" cy="2923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300" b="1" dirty="0" smtClean="0">
                <a:solidFill>
                  <a:schemeClr val="bg1"/>
                </a:solidFill>
              </a:rPr>
              <a:t>기본 </a:t>
            </a:r>
            <a:r>
              <a:rPr lang="en-US" altLang="ko-KR" sz="1300" b="1" dirty="0" smtClean="0">
                <a:solidFill>
                  <a:schemeClr val="bg1"/>
                </a:solidFill>
              </a:rPr>
              <a:t>Template </a:t>
            </a:r>
            <a:r>
              <a:rPr lang="ko-KR" altLang="en-US" sz="1300" b="1" dirty="0" smtClean="0">
                <a:solidFill>
                  <a:schemeClr val="bg1"/>
                </a:solidFill>
              </a:rPr>
              <a:t>연결</a:t>
            </a:r>
            <a:endParaRPr lang="ko-KR" altLang="en-US" sz="1300" b="1" dirty="0">
              <a:solidFill>
                <a:schemeClr val="bg1"/>
              </a:solidFill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7286644" y="1643050"/>
            <a:ext cx="1636987" cy="69249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300" b="1" dirty="0" smtClean="0">
                <a:solidFill>
                  <a:schemeClr val="bg1"/>
                </a:solidFill>
              </a:rPr>
              <a:t>처리하고</a:t>
            </a:r>
            <a:endParaRPr lang="en-US" altLang="ko-KR" sz="1300" b="1" dirty="0" smtClean="0">
              <a:solidFill>
                <a:schemeClr val="bg1"/>
              </a:solidFill>
            </a:endParaRPr>
          </a:p>
          <a:p>
            <a:r>
              <a:rPr lang="ko-KR" altLang="en-US" sz="1300" b="1" dirty="0" smtClean="0">
                <a:solidFill>
                  <a:schemeClr val="bg1"/>
                </a:solidFill>
              </a:rPr>
              <a:t>페이지를 이동 시킬</a:t>
            </a:r>
            <a:endParaRPr lang="en-US" altLang="ko-KR" sz="1300" b="1" dirty="0" smtClean="0">
              <a:solidFill>
                <a:schemeClr val="bg1"/>
              </a:solidFill>
            </a:endParaRPr>
          </a:p>
          <a:p>
            <a:r>
              <a:rPr lang="en-US" altLang="ko-KR" sz="1300" b="1" dirty="0" smtClean="0">
                <a:solidFill>
                  <a:schemeClr val="bg1"/>
                </a:solidFill>
              </a:rPr>
              <a:t>Controller </a:t>
            </a:r>
            <a:r>
              <a:rPr lang="ko-KR" altLang="en-US" sz="1300" b="1" dirty="0" smtClean="0">
                <a:solidFill>
                  <a:schemeClr val="bg1"/>
                </a:solidFill>
              </a:rPr>
              <a:t>구현</a:t>
            </a:r>
            <a:endParaRPr lang="en-US" altLang="ko-KR" sz="1300" b="1" dirty="0" smtClean="0">
              <a:solidFill>
                <a:schemeClr val="bg1"/>
              </a:solidFill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4786282" y="4572008"/>
            <a:ext cx="4214842" cy="83920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48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“                ”  </a:t>
            </a:r>
            <a:endParaRPr lang="ko-KR" altLang="en-US" sz="4800" b="1" kern="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나눔고딕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4571968" y="4714884"/>
            <a:ext cx="4572032" cy="748408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5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여러 설정을 한꺼번에 가져왔을 때</a:t>
            </a:r>
          </a:p>
          <a:p>
            <a:pPr algn="ctr">
              <a:lnSpc>
                <a:spcPct val="150000"/>
              </a:lnSpc>
            </a:pPr>
            <a:r>
              <a:rPr lang="ko-KR" altLang="en-US" sz="15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버전 불일치</a:t>
            </a:r>
            <a:r>
              <a:rPr lang="en-US" altLang="ko-KR" sz="15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15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에러 발생</a:t>
            </a:r>
            <a:r>
              <a:rPr lang="en-US" altLang="ko-KR" sz="15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15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진행 속도 저하</a:t>
            </a:r>
          </a:p>
        </p:txBody>
      </p:sp>
      <p:sp>
        <p:nvSpPr>
          <p:cNvPr id="209" name="아래로 구부러진 화살표 208"/>
          <p:cNvSpPr/>
          <p:nvPr/>
        </p:nvSpPr>
        <p:spPr>
          <a:xfrm>
            <a:off x="6858016" y="1142984"/>
            <a:ext cx="1250165" cy="464346"/>
          </a:xfrm>
          <a:prstGeom prst="curvedDownArrow">
            <a:avLst>
              <a:gd name="adj1" fmla="val 25000"/>
              <a:gd name="adj2" fmla="val 64221"/>
              <a:gd name="adj3" fmla="val 44329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04.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4714908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4321173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2214578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구현 및 문제점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71868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Tiles</a:t>
            </a: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오류 해결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97" name="Picture 4" descr="http://postfiles6.naver.net/MjAxNzA5MjRfODUg/MDAxNTA2MjM5MzA0MTU5._UXEhElv_ULZ3hpKnaRHa_IH0W4DiXP7rEapjpC4uxwg.topL1jdEgX043LcFNmR1ONMzJnwDdBT5ImjK__vTQpQg.JPEG.wizardry0629/12.jpg?type=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214422"/>
            <a:ext cx="5715039" cy="5214974"/>
          </a:xfrm>
          <a:prstGeom prst="rect">
            <a:avLst/>
          </a:prstGeom>
          <a:noFill/>
        </p:spPr>
      </p:pic>
      <p:pic>
        <p:nvPicPr>
          <p:cNvPr id="198" name="Picture 6" descr="http://postfiles4.naver.net/MjAxNzA5MjRfMTAz/MDAxNTA2MjM5MzE0NzYz.E_e6eRRsXCjouil9LYaPvmoh9JBnUIne6yGaFdfTnFog.VHqlbHOTDogPwEyoFVBAdOJ5GyAUvmtp9IESb565VM8g.JPEG.wizardry0629/13.jpg?type=w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6512" y="1214422"/>
            <a:ext cx="2600325" cy="18859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04.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5643602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958337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2214578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구현 및 문제점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71868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Spring-framework </a:t>
            </a: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버전 업</a:t>
            </a: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86" name="Picture 2" descr="http://postfiles2.naver.net/MjAxNzA5MjRfMjkz/MDAxNTA2MjM5NDYzMDk3.zyDM-cODvkmTBUHyLn2DT6r3M-IotlJ9Hic1dpM6zYwg.DMrlvEOlIsO7KgeO14HnfoC-fh8RvT4t6GnpiToMzeIg.JPEG.wizardry0629/14.jpg?type=w2"/>
          <p:cNvPicPr>
            <a:picLocks noChangeAspect="1" noChangeArrowheads="1"/>
          </p:cNvPicPr>
          <p:nvPr/>
        </p:nvPicPr>
        <p:blipFill>
          <a:blip r:embed="rId2" cstate="print"/>
          <a:srcRect r="69403"/>
          <a:stretch>
            <a:fillRect/>
          </a:stretch>
        </p:blipFill>
        <p:spPr bwMode="auto">
          <a:xfrm>
            <a:off x="285720" y="1214422"/>
            <a:ext cx="3399853" cy="2357454"/>
          </a:xfrm>
          <a:prstGeom prst="rect">
            <a:avLst/>
          </a:prstGeom>
          <a:noFill/>
        </p:spPr>
      </p:pic>
      <p:pic>
        <p:nvPicPr>
          <p:cNvPr id="192" name="Picture 2" descr="http://postfiles2.naver.net/MjAxNzA5MjRfMjkz/MDAxNTA2MjM5NDYzMDk3.zyDM-cODvkmTBUHyLn2DT6r3M-IotlJ9Hic1dpM6zYwg.DMrlvEOlIsO7KgeO14HnfoC-fh8RvT4t6GnpiToMzeIg.JPEG.wizardry0629/14.jpg?type=w2"/>
          <p:cNvPicPr>
            <a:picLocks noChangeAspect="1" noChangeArrowheads="1"/>
          </p:cNvPicPr>
          <p:nvPr/>
        </p:nvPicPr>
        <p:blipFill>
          <a:blip r:embed="rId2" cstate="print"/>
          <a:srcRect l="32963"/>
          <a:stretch>
            <a:fillRect/>
          </a:stretch>
        </p:blipFill>
        <p:spPr bwMode="auto">
          <a:xfrm>
            <a:off x="285720" y="3786190"/>
            <a:ext cx="8555136" cy="2707591"/>
          </a:xfrm>
          <a:prstGeom prst="rect">
            <a:avLst/>
          </a:prstGeom>
          <a:noFill/>
        </p:spPr>
      </p:pic>
      <p:sp>
        <p:nvSpPr>
          <p:cNvPr id="193" name="아래로 구부러진 화살표 192"/>
          <p:cNvSpPr/>
          <p:nvPr/>
        </p:nvSpPr>
        <p:spPr>
          <a:xfrm rot="5400000">
            <a:off x="3607586" y="2893216"/>
            <a:ext cx="1250165" cy="464346"/>
          </a:xfrm>
          <a:prstGeom prst="curvedDownArrow">
            <a:avLst>
              <a:gd name="adj1" fmla="val 25000"/>
              <a:gd name="adj2" fmla="val 64221"/>
              <a:gd name="adj3" fmla="val 44329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04.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5643602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958337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4414" y="285728"/>
            <a:ext cx="2214578" cy="562203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구현 및 문제점</a:t>
            </a:r>
            <a:endParaRPr lang="ko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71868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설계 오류 해결</a:t>
            </a: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098" name="Picture 2" descr="C:\Users\kitcoop\Desktop\gi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643050"/>
            <a:ext cx="8705877" cy="3429024"/>
          </a:xfrm>
          <a:prstGeom prst="rect">
            <a:avLst/>
          </a:prstGeom>
          <a:noFill/>
        </p:spPr>
      </p:pic>
      <p:sp>
        <p:nvSpPr>
          <p:cNvPr id="194" name="TextBox 193"/>
          <p:cNvSpPr txBox="1"/>
          <p:nvPr/>
        </p:nvSpPr>
        <p:spPr>
          <a:xfrm>
            <a:off x="3714744" y="5143512"/>
            <a:ext cx="5143536" cy="32316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 smtClean="0">
                <a:solidFill>
                  <a:schemeClr val="bg1"/>
                </a:solidFill>
              </a:rPr>
              <a:t>조원들이 </a:t>
            </a:r>
            <a:r>
              <a:rPr lang="en-US" altLang="ko-KR" sz="1500" b="1" dirty="0" err="1" smtClean="0">
                <a:solidFill>
                  <a:schemeClr val="bg1"/>
                </a:solidFill>
              </a:rPr>
              <a:t>GitHub</a:t>
            </a:r>
            <a:r>
              <a:rPr lang="ko-KR" altLang="en-US" sz="1500" b="1" dirty="0" smtClean="0">
                <a:solidFill>
                  <a:schemeClr val="bg1"/>
                </a:solidFill>
              </a:rPr>
              <a:t>를 사용하여 코딩오류 확인 및 </a:t>
            </a:r>
            <a:r>
              <a:rPr lang="en-US" altLang="ko-KR" sz="1500" b="1" dirty="0" smtClean="0">
                <a:solidFill>
                  <a:schemeClr val="bg1"/>
                </a:solidFill>
              </a:rPr>
              <a:t>data </a:t>
            </a:r>
            <a:r>
              <a:rPr lang="ko-KR" altLang="en-US" sz="1500" b="1" dirty="0" smtClean="0">
                <a:solidFill>
                  <a:schemeClr val="bg1"/>
                </a:solidFill>
              </a:rPr>
              <a:t>관리 </a:t>
            </a:r>
            <a:endParaRPr lang="en-US" altLang="ko-KR" sz="15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214282" y="214290"/>
            <a:ext cx="928694" cy="785818"/>
            <a:chOff x="214282" y="214290"/>
            <a:chExt cx="928694" cy="785818"/>
          </a:xfrm>
        </p:grpSpPr>
        <p:sp>
          <p:nvSpPr>
            <p:cNvPr id="4" name="직사각형 3"/>
            <p:cNvSpPr/>
            <p:nvPr/>
          </p:nvSpPr>
          <p:spPr>
            <a:xfrm>
              <a:off x="214282" y="214290"/>
              <a:ext cx="785818" cy="7858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부제목 2"/>
            <p:cNvSpPr txBox="1">
              <a:spLocks/>
            </p:cNvSpPr>
            <p:nvPr/>
          </p:nvSpPr>
          <p:spPr>
            <a:xfrm>
              <a:off x="357190" y="571480"/>
              <a:ext cx="785786" cy="4286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altLang="ko-KR" sz="25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05.</a:t>
              </a: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1214414" y="357166"/>
            <a:ext cx="5643602" cy="500066"/>
            <a:chOff x="2285984" y="5572140"/>
            <a:chExt cx="4714908" cy="500066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2285984" y="5572140"/>
              <a:ext cx="4714908" cy="500066"/>
            </a:xfrm>
            <a:prstGeom prst="roundRect">
              <a:avLst>
                <a:gd name="adj" fmla="val 2485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/>
            <p:cNvCxnSpPr/>
            <p:nvPr/>
          </p:nvCxnSpPr>
          <p:spPr>
            <a:xfrm rot="5400000">
              <a:off x="3779290" y="5822173"/>
              <a:ext cx="35719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071538" y="285728"/>
            <a:ext cx="221457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시현 및 </a:t>
            </a:r>
            <a:r>
              <a:rPr lang="en-US" altLang="ko-KR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Q&amp;A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8992" y="285728"/>
            <a:ext cx="3643338" cy="502700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시현</a:t>
            </a:r>
          </a:p>
        </p:txBody>
      </p:sp>
      <p:grpSp>
        <p:nvGrpSpPr>
          <p:cNvPr id="6" name="그룹 238"/>
          <p:cNvGrpSpPr/>
          <p:nvPr/>
        </p:nvGrpSpPr>
        <p:grpSpPr>
          <a:xfrm>
            <a:off x="71407" y="6619653"/>
            <a:ext cx="9001703" cy="238371"/>
            <a:chOff x="71407" y="6619653"/>
            <a:chExt cx="9001703" cy="238371"/>
          </a:xfrm>
        </p:grpSpPr>
        <p:grpSp>
          <p:nvGrpSpPr>
            <p:cNvPr id="7" name="그룹 100"/>
            <p:cNvGrpSpPr/>
            <p:nvPr/>
          </p:nvGrpSpPr>
          <p:grpSpPr>
            <a:xfrm>
              <a:off x="71407" y="6619653"/>
              <a:ext cx="2786081" cy="238346"/>
              <a:chOff x="141256" y="3429000"/>
              <a:chExt cx="8359833" cy="715174"/>
            </a:xfrm>
          </p:grpSpPr>
          <p:cxnSp>
            <p:nvCxnSpPr>
              <p:cNvPr id="30" name="직선 연결선 29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101"/>
            <p:cNvGrpSpPr/>
            <p:nvPr/>
          </p:nvGrpSpPr>
          <p:grpSpPr>
            <a:xfrm>
              <a:off x="292892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직선 연결선 130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그룹 143"/>
            <p:cNvGrpSpPr/>
            <p:nvPr/>
          </p:nvGrpSpPr>
          <p:grpSpPr>
            <a:xfrm>
              <a:off x="5786447" y="6619678"/>
              <a:ext cx="2786081" cy="238346"/>
              <a:chOff x="141256" y="3429000"/>
              <a:chExt cx="8359833" cy="715174"/>
            </a:xfrm>
          </p:grpSpPr>
          <p:cxnSp>
            <p:nvCxnSpPr>
              <p:cNvPr id="145" name="직선 연결선 144"/>
              <p:cNvCxnSpPr/>
              <p:nvPr/>
            </p:nvCxnSpPr>
            <p:spPr>
              <a:xfrm rot="5400000" flipH="1" flipV="1">
                <a:off x="-7226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직선 연결선 145"/>
              <p:cNvCxnSpPr/>
              <p:nvPr/>
            </p:nvCxnSpPr>
            <p:spPr>
              <a:xfrm rot="5400000" flipH="1" flipV="1">
                <a:off x="142050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 flipH="1" flipV="1">
                <a:off x="357158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 flipH="1" flipV="1">
                <a:off x="57067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rot="5400000" flipH="1" flipV="1">
                <a:off x="642645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/>
              <p:cNvCxnSpPr/>
              <p:nvPr/>
            </p:nvCxnSpPr>
            <p:spPr>
              <a:xfrm rot="5400000" flipH="1" flipV="1">
                <a:off x="787375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/>
              <p:cNvCxnSpPr/>
              <p:nvPr/>
            </p:nvCxnSpPr>
            <p:spPr>
              <a:xfrm rot="5400000" flipH="1" flipV="1">
                <a:off x="1000895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 rot="5400000" flipH="1" flipV="1">
                <a:off x="1215209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rot="5400000" flipH="1" flipV="1">
                <a:off x="1430317" y="3929065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rot="5400000" flipH="1" flipV="1">
                <a:off x="1643837" y="3928271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rot="5400000" flipH="1" flipV="1">
                <a:off x="1715804" y="3784866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 rot="5400000" flipH="1" flipV="1">
                <a:off x="2072464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 flipH="1" flipV="1">
                <a:off x="2285984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rot="5400000" flipH="1" flipV="1">
                <a:off x="2500298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rot="5400000" flipH="1" flipV="1">
                <a:off x="2715406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rot="5400000" flipH="1" flipV="1">
                <a:off x="2788169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rot="5400000" flipH="1" flipV="1">
                <a:off x="314138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/>
              <p:cNvCxnSpPr/>
              <p:nvPr/>
            </p:nvCxnSpPr>
            <p:spPr>
              <a:xfrm rot="5400000" flipH="1" flipV="1">
                <a:off x="335570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rot="5400000" flipH="1" flipV="1">
                <a:off x="357080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/>
              <p:cNvCxnSpPr/>
              <p:nvPr/>
            </p:nvCxnSpPr>
            <p:spPr>
              <a:xfrm rot="5400000" flipH="1" flipV="1">
                <a:off x="378432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rot="5400000" flipH="1" flipV="1">
                <a:off x="385629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rot="5400000" flipH="1" flipV="1">
                <a:off x="421295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rot="5400000" flipH="1" flipV="1">
                <a:off x="442727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 flipH="1" flipV="1">
                <a:off x="464237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rot="5400000" flipH="1" flipV="1">
                <a:off x="485589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/>
              <p:cNvCxnSpPr/>
              <p:nvPr/>
            </p:nvCxnSpPr>
            <p:spPr>
              <a:xfrm rot="5400000" flipH="1" flipV="1">
                <a:off x="492786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rot="5400000" flipH="1" flipV="1">
                <a:off x="528452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 rot="5400000" flipH="1" flipV="1">
                <a:off x="549884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rot="5400000" flipH="1" flipV="1">
                <a:off x="571394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 flipH="1" flipV="1">
                <a:off x="592746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rot="5400000" flipH="1" flipV="1">
                <a:off x="599943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/>
              <p:cNvCxnSpPr/>
              <p:nvPr/>
            </p:nvCxnSpPr>
            <p:spPr>
              <a:xfrm rot="5400000" flipH="1" flipV="1">
                <a:off x="635609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 rot="5400000" flipH="1" flipV="1">
                <a:off x="657041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rot="5400000" flipH="1" flipV="1">
                <a:off x="678551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 flipH="1" flipV="1">
                <a:off x="699903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/>
              <p:cNvCxnSpPr/>
              <p:nvPr/>
            </p:nvCxnSpPr>
            <p:spPr>
              <a:xfrm rot="5400000" flipH="1" flipV="1">
                <a:off x="707100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rot="5400000" flipH="1" flipV="1">
                <a:off x="7427667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>
              <a:xfrm rot="5400000" flipH="1" flipV="1">
                <a:off x="7641981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 rot="5400000" flipH="1" flipV="1">
                <a:off x="7857089" y="3929066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rot="5400000" flipH="1" flipV="1">
                <a:off x="8070609" y="3928272"/>
                <a:ext cx="428628" cy="1588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rot="5400000" flipH="1" flipV="1">
                <a:off x="8142576" y="3784867"/>
                <a:ext cx="714380" cy="2647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230"/>
            <p:cNvGrpSpPr/>
            <p:nvPr/>
          </p:nvGrpSpPr>
          <p:grpSpPr>
            <a:xfrm>
              <a:off x="8643966" y="6619678"/>
              <a:ext cx="286580" cy="238346"/>
              <a:chOff x="5572132" y="5214950"/>
              <a:chExt cx="286580" cy="238346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 rot="5400000" flipH="1" flipV="1">
                <a:off x="5500972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5572397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 flipH="1" flipV="1">
                <a:off x="5644086" y="5381607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rot="5400000" flipH="1" flipV="1">
                <a:off x="5715245" y="5381342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직선 연결선 190"/>
              <p:cNvCxnSpPr/>
              <p:nvPr/>
            </p:nvCxnSpPr>
            <p:spPr>
              <a:xfrm rot="5400000" flipH="1" flipV="1">
                <a:off x="5739230" y="5333550"/>
                <a:ext cx="238081" cy="882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237"/>
            <p:cNvGrpSpPr/>
            <p:nvPr/>
          </p:nvGrpSpPr>
          <p:grpSpPr>
            <a:xfrm>
              <a:off x="9001156" y="6715175"/>
              <a:ext cx="71954" cy="142849"/>
              <a:chOff x="8143900" y="6096000"/>
              <a:chExt cx="71954" cy="142849"/>
            </a:xfrm>
          </p:grpSpPr>
          <p:cxnSp>
            <p:nvCxnSpPr>
              <p:cNvPr id="233" name="직선 연결선 232"/>
              <p:cNvCxnSpPr/>
              <p:nvPr/>
            </p:nvCxnSpPr>
            <p:spPr>
              <a:xfrm rot="5400000" flipH="1" flipV="1">
                <a:off x="8072740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/>
              <p:cNvCxnSpPr/>
              <p:nvPr/>
            </p:nvCxnSpPr>
            <p:spPr>
              <a:xfrm rot="5400000" flipH="1" flipV="1">
                <a:off x="8144165" y="6167160"/>
                <a:ext cx="142849" cy="529"/>
              </a:xfrm>
              <a:prstGeom prst="line">
                <a:avLst/>
              </a:prstGeom>
              <a:ln w="317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4" name="직사각형 193"/>
          <p:cNvSpPr/>
          <p:nvPr/>
        </p:nvSpPr>
        <p:spPr>
          <a:xfrm>
            <a:off x="3786182" y="3244334"/>
            <a:ext cx="1871025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 latinLnBrk="0">
              <a:defRPr/>
            </a:pPr>
            <a:r>
              <a:rPr lang="ko-KR" altLang="en-US" sz="25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감사합니다</a:t>
            </a:r>
            <a:r>
              <a:rPr lang="en-US" altLang="ko-KR" sz="25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나눔고딕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980</TotalTime>
  <Words>481</Words>
  <Application>Microsoft Office PowerPoint</Application>
  <PresentationFormat>화면 슬라이드 쇼(4:3)</PresentationFormat>
  <Paragraphs>216</Paragraphs>
  <Slides>32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3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윤선아</dc:creator>
  <cp:lastModifiedBy>kitcoop</cp:lastModifiedBy>
  <cp:revision>80</cp:revision>
  <dcterms:created xsi:type="dcterms:W3CDTF">2017-10-18T06:48:16Z</dcterms:created>
  <dcterms:modified xsi:type="dcterms:W3CDTF">2017-10-26T07:38:52Z</dcterms:modified>
</cp:coreProperties>
</file>