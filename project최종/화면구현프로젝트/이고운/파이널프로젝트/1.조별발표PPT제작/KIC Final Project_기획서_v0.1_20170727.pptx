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6" r:id="rId4"/>
    <p:sldId id="275" r:id="rId5"/>
    <p:sldId id="277" r:id="rId6"/>
    <p:sldId id="278" r:id="rId7"/>
    <p:sldId id="280" r:id="rId8"/>
    <p:sldId id="271" r:id="rId9"/>
    <p:sldId id="270" r:id="rId10"/>
    <p:sldId id="263" r:id="rId11"/>
    <p:sldId id="279" r:id="rId1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ney" initials="a" lastIdx="1" clrIdx="0">
    <p:extLst>
      <p:ext uri="{19B8F6BF-5375-455C-9EA6-DF929625EA0E}">
        <p15:presenceInfo xmlns="" xmlns:p15="http://schemas.microsoft.com/office/powerpoint/2012/main" userId="aune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85CDBE"/>
    <a:srgbClr val="043264"/>
    <a:srgbClr val="053075"/>
    <a:srgbClr val="5864D8"/>
    <a:srgbClr val="CC0000"/>
    <a:srgbClr val="D6EEE9"/>
    <a:srgbClr val="A2DDF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3" autoAdjust="0"/>
    <p:restoredTop sz="86257" autoAdjust="0"/>
  </p:normalViewPr>
  <p:slideViewPr>
    <p:cSldViewPr snapToGrid="0">
      <p:cViewPr varScale="1">
        <p:scale>
          <a:sx n="78" d="100"/>
          <a:sy n="78" d="100"/>
        </p:scale>
        <p:origin x="-1866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-3288" y="-12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39E21-6053-4106-AF6E-92B66E735516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4DCB5-C091-4F2F-89DC-5946777846F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33443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중심에 선 ‘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(For Me)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족’은 자신을 위한 가치소비를 즐기는 이들을 뜻하는 신조어입니다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최근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 가구의 증가와도 관계가 있는 이 신조어는 물건이나 경험을 ‘경제적 요소’가 아닌 ‘개인이 생각하는 가치’에 따라 소비하는 현상을 반영한 것이며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자기 만족적인 성격을 띠고 있습니다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그들은 고급 자동차와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DSLR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카메라 등 가격이 높더라도 나에게 가치가 있고 좋아하는 것이라면 구매할 의사를 가지고 있습니다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(For me)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건강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(For health),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싱글족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(One),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여가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(Recreation),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편의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(More convenient),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고가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(Expensive)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알파벳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앞글자를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따서 만든 것이며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여기서 알 수 있듯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포미족은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자신의 휴가와 휴일을 어떻게 쓸 것인가에 대해 많은 관심을 가지고 있습니다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fontAlgn="base"/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altLang="ko-KR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base"/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어느 세대보다 ‘잘 쉬는 것’에 관심이 많은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포미족은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휴일에 ‘나를 위한 여행’을 가려고 하는 경향이 많습니다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이는 새로운 환경을 만나고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맛있는 음식을 먹고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재충전하는 시간을 가지고 싶어 하는 것입니다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년에는 많은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포미족이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국내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외 여행을 떠날 것으로 업계는 예측합니다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실제로 온라인 여행사이트인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익스피디아의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조사에 따르면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20~50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 남녀 직장인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1,000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 중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91.2%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올해 여행을 떠날 계획이 있다고 밝혔습니다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93.6%, 30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92%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1, 2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위로 나타났습니다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 외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90.8%, 50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88.4%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전반적으로 모든 세대에서 높았지만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여행 횟수에서는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주요 연령대인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세대의 여행에 대한 열정을 알 수 있었습니다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여행을 갈 것이라 답한 이들 중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46%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년에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1~2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여행을 갈 계획이라 답했고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이어서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3~4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(27.3%), 5~6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(10%)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순으로 집계되었습니다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그중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3~4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회 떠날 계획이라 답한 응답자의 비율은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30.8%, 30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대가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30.4%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가장 높았습니다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따라서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 여행에는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2030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세대의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포미족을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위한 여행 상품이 많이 나올 것으로 예상됩니다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666488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포미족이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가치소비를 중시하지만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올해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포미족은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무작정 돈을 투자하기보다 경제적 상황과 나의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니즈를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적절히 조화된 여행 스타일을 선호합니다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익스피디아의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조사에서는 여행지를 선택할 때 중요한 기준에 대해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1,000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명의 응답자 중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38.6%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비용이 적절하고 합리적인 곳을 선택한다고 밝혔고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27.4%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색다른 경험이 가능한 곳이라고 밝혔습니다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또한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‘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가치’와 ‘경험’을 중시하는 </a:t>
            </a:r>
            <a:r>
              <a:rPr lang="ko-KR" altLang="en-US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트렌드가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떠오름에 따라 </a:t>
            </a:r>
            <a:r>
              <a:rPr lang="en-US" altLang="ko-K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2017</a:t>
            </a:r>
            <a:r>
              <a:rPr lang="ko-KR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년엔 선택의 자유가 제한되는 패키지여행보다 자유 여행이 대세가 될 예정입니다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52462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4DCB5-C091-4F2F-89DC-5946777846FF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71484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403682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038152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/>
          <a:lstStyle/>
          <a:p>
            <a:endParaRPr sz="1800">
              <a:latin typeface="+mj-ea"/>
              <a:ea typeface="+mj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823" y="355601"/>
            <a:ext cx="2986998" cy="333173"/>
          </a:xfrm>
        </p:spPr>
        <p:txBody>
          <a:bodyPr anchor="b">
            <a:normAutofit/>
          </a:bodyPr>
          <a:lstStyle>
            <a:lvl1pPr>
              <a:defRPr sz="1500" b="1">
                <a:latin typeface="+mj-ea"/>
                <a:ea typeface="+mj-ea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08286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6741384"/>
            <a:ext cx="9144000" cy="144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917372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4" name="TextBox 23"/>
          <p:cNvSpPr txBox="1"/>
          <p:nvPr userDrawn="1"/>
        </p:nvSpPr>
        <p:spPr>
          <a:xfrm>
            <a:off x="391885" y="315685"/>
            <a:ext cx="1611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Noto Sans CJK KR Medium" pitchFamily="34" charset="-127"/>
                <a:ea typeface="Noto Sans CJK KR Medium" pitchFamily="34" charset="-127"/>
              </a:rPr>
              <a:t>스토리보드</a:t>
            </a:r>
            <a:endParaRPr lang="ko-KR" altLang="en-US" dirty="0"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382420" y="905694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</a:t>
            </a:r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ID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464622" y="400378"/>
            <a:ext cx="3228445" cy="245798"/>
          </a:xfrm>
        </p:spPr>
        <p:txBody>
          <a:bodyPr>
            <a:noAutofit/>
          </a:bodyPr>
          <a:lstStyle>
            <a:lvl1pPr marL="0" indent="0">
              <a:buNone/>
              <a:defRPr sz="1200" b="1" i="1">
                <a:solidFill>
                  <a:schemeClr val="bg1">
                    <a:lumMod val="7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 smtClean="0"/>
              <a:t>_</a:t>
            </a: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>
            <a:off x="382420" y="1164111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 userDrawn="1"/>
        </p:nvSpPr>
        <p:spPr>
          <a:xfrm>
            <a:off x="382420" y="1443505"/>
            <a:ext cx="6365513" cy="5033495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연결선 26"/>
          <p:cNvCxnSpPr/>
          <p:nvPr userDrawn="1"/>
        </p:nvCxnSpPr>
        <p:spPr>
          <a:xfrm>
            <a:off x="6828183" y="1164111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 userDrawn="1"/>
        </p:nvCxnSpPr>
        <p:spPr>
          <a:xfrm>
            <a:off x="382420" y="905693"/>
            <a:ext cx="6365513" cy="0"/>
          </a:xfrm>
          <a:prstGeom prst="line">
            <a:avLst/>
          </a:prstGeom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6828183" y="905693"/>
            <a:ext cx="1958008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 userDrawn="1"/>
        </p:nvSpPr>
        <p:spPr>
          <a:xfrm>
            <a:off x="3525788" y="905692"/>
            <a:ext cx="889789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명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8" name="직사각형 37"/>
          <p:cNvSpPr/>
          <p:nvPr userDrawn="1"/>
        </p:nvSpPr>
        <p:spPr>
          <a:xfrm>
            <a:off x="382420" y="1174051"/>
            <a:ext cx="889789" cy="27744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화면 경로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39" name="직사각형 38"/>
          <p:cNvSpPr/>
          <p:nvPr userDrawn="1"/>
        </p:nvSpPr>
        <p:spPr>
          <a:xfrm>
            <a:off x="6828182" y="905691"/>
            <a:ext cx="1957250" cy="2584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 smtClean="0"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Description</a:t>
            </a:r>
            <a:endParaRPr lang="ko-KR" altLang="en-US" sz="1050" dirty="0"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cxnSp>
        <p:nvCxnSpPr>
          <p:cNvPr id="44" name="직선 연결선 43"/>
          <p:cNvCxnSpPr/>
          <p:nvPr userDrawn="1"/>
        </p:nvCxnSpPr>
        <p:spPr>
          <a:xfrm>
            <a:off x="6745357" y="905692"/>
            <a:ext cx="0" cy="545807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 userDrawn="1"/>
        </p:nvSpPr>
        <p:spPr>
          <a:xfrm>
            <a:off x="6827425" y="905691"/>
            <a:ext cx="1958008" cy="5585012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텍스트 개체 틀 50"/>
          <p:cNvSpPr>
            <a:spLocks noGrp="1"/>
          </p:cNvSpPr>
          <p:nvPr>
            <p:ph type="body" sz="quarter" idx="13"/>
          </p:nvPr>
        </p:nvSpPr>
        <p:spPr>
          <a:xfrm>
            <a:off x="1278463" y="1208090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2" name="텍스트 개체 틀 50"/>
          <p:cNvSpPr>
            <a:spLocks noGrp="1"/>
          </p:cNvSpPr>
          <p:nvPr>
            <p:ph type="body" sz="quarter" idx="14"/>
          </p:nvPr>
        </p:nvSpPr>
        <p:spPr>
          <a:xfrm>
            <a:off x="1278463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3" name="텍스트 개체 틀 50"/>
          <p:cNvSpPr>
            <a:spLocks noGrp="1"/>
          </p:cNvSpPr>
          <p:nvPr>
            <p:ph type="body" sz="quarter" idx="15"/>
          </p:nvPr>
        </p:nvSpPr>
        <p:spPr>
          <a:xfrm>
            <a:off x="4394196" y="937156"/>
            <a:ext cx="2032000" cy="214439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54" name="텍스트 개체 틀 50"/>
          <p:cNvSpPr>
            <a:spLocks noGrp="1"/>
          </p:cNvSpPr>
          <p:nvPr>
            <p:ph type="body" sz="quarter" idx="16"/>
          </p:nvPr>
        </p:nvSpPr>
        <p:spPr>
          <a:xfrm>
            <a:off x="6908797" y="1208090"/>
            <a:ext cx="1794937" cy="5031844"/>
          </a:xfrm>
        </p:spPr>
        <p:txBody>
          <a:bodyPr>
            <a:noAutofit/>
          </a:bodyPr>
          <a:lstStyle>
            <a:lvl1pPr marL="0" indent="0">
              <a:buNone/>
              <a:defRPr sz="1000">
                <a:solidFill>
                  <a:schemeClr val="tx1">
                    <a:lumMod val="85000"/>
                    <a:lumOff val="15000"/>
                  </a:schemeClr>
                </a:solidFill>
                <a:latin typeface="Noto Sans CJK KR DemiLight" panose="020B0400000000000000" pitchFamily="34" charset="-127"/>
                <a:ea typeface="Noto Sans CJK KR DemiLight" panose="020B0400000000000000" pitchFamily="34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="" xmlns:p14="http://schemas.microsoft.com/office/powerpoint/2010/main" val="1325586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78600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721969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826" y="321374"/>
            <a:ext cx="2712508" cy="422274"/>
          </a:xfrm>
        </p:spPr>
        <p:txBody>
          <a:bodyPr>
            <a:normAutofit/>
          </a:bodyPr>
          <a:lstStyle>
            <a:lvl1pPr>
              <a:def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6334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object 276"/>
          <p:cNvSpPr/>
          <p:nvPr userDrawn="1"/>
        </p:nvSpPr>
        <p:spPr>
          <a:xfrm>
            <a:off x="265176" y="26517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546" y="0"/>
                </a:moveTo>
                <a:lnTo>
                  <a:pt x="130346" y="6342"/>
                </a:lnTo>
                <a:lnTo>
                  <a:pt x="87934" y="24242"/>
                </a:lnTo>
                <a:lnTo>
                  <a:pt x="52001" y="52006"/>
                </a:lnTo>
                <a:lnTo>
                  <a:pt x="24240" y="87940"/>
                </a:lnTo>
                <a:lnTo>
                  <a:pt x="6342" y="130351"/>
                </a:lnTo>
                <a:lnTo>
                  <a:pt x="0" y="177546"/>
                </a:lnTo>
                <a:lnTo>
                  <a:pt x="6342" y="224740"/>
                </a:lnTo>
                <a:lnTo>
                  <a:pt x="24240" y="267151"/>
                </a:lnTo>
                <a:lnTo>
                  <a:pt x="52001" y="303085"/>
                </a:lnTo>
                <a:lnTo>
                  <a:pt x="87934" y="330849"/>
                </a:lnTo>
                <a:lnTo>
                  <a:pt x="130346" y="348749"/>
                </a:lnTo>
                <a:lnTo>
                  <a:pt x="177546" y="355091"/>
                </a:lnTo>
                <a:lnTo>
                  <a:pt x="224745" y="348749"/>
                </a:lnTo>
                <a:lnTo>
                  <a:pt x="267157" y="330849"/>
                </a:lnTo>
                <a:lnTo>
                  <a:pt x="303090" y="303085"/>
                </a:lnTo>
                <a:lnTo>
                  <a:pt x="330851" y="267151"/>
                </a:lnTo>
                <a:lnTo>
                  <a:pt x="348749" y="224740"/>
                </a:lnTo>
                <a:lnTo>
                  <a:pt x="355092" y="177546"/>
                </a:lnTo>
                <a:lnTo>
                  <a:pt x="348749" y="130351"/>
                </a:lnTo>
                <a:lnTo>
                  <a:pt x="330851" y="87940"/>
                </a:lnTo>
                <a:lnTo>
                  <a:pt x="303090" y="52006"/>
                </a:lnTo>
                <a:lnTo>
                  <a:pt x="267157" y="24242"/>
                </a:lnTo>
                <a:lnTo>
                  <a:pt x="224745" y="6342"/>
                </a:lnTo>
                <a:lnTo>
                  <a:pt x="177546" y="0"/>
                </a:lnTo>
                <a:close/>
              </a:path>
            </a:pathLst>
          </a:custGeom>
          <a:solidFill>
            <a:srgbClr val="D6EEE9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</p:spTree>
    <p:extLst>
      <p:ext uri="{BB962C8B-B14F-4D97-AF65-F5344CB8AC3E}">
        <p14:creationId xmlns="" xmlns:p14="http://schemas.microsoft.com/office/powerpoint/2010/main" val="304135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280175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658138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813273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146639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1297-0EFD-4176-9865-89945A83B4EA}" type="datetimeFigureOut">
              <a:rPr lang="ko-KR" altLang="en-US" smtClean="0"/>
              <a:pPr/>
              <a:t>2017-07-26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CB31C-B6F1-494B-8FE8-2362E8ACC6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="" xmlns:p14="http://schemas.microsoft.com/office/powerpoint/2010/main" val="381493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7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0" y="2036551"/>
            <a:ext cx="9144000" cy="526617"/>
          </a:xfrm>
        </p:spPr>
        <p:txBody>
          <a:bodyPr/>
          <a:lstStyle/>
          <a:p>
            <a:r>
              <a:rPr lang="en-US" altLang="ko-KR" b="1" dirty="0" smtClean="0">
                <a:latin typeface="+mj-ea"/>
                <a:ea typeface="+mj-ea"/>
              </a:rPr>
              <a:t>KIC Final Project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1373" y="2678006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b="1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+mn-ea"/>
                <a:cs typeface="나눔고딕"/>
              </a:rPr>
              <a:t>#1.</a:t>
            </a:r>
            <a:r>
              <a:rPr lang="ko-KR" altLang="en-US" sz="1400" b="1" kern="0" dirty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+mn-ea"/>
                <a:cs typeface="나눔고딕"/>
              </a:rPr>
              <a:t> </a:t>
            </a:r>
            <a:r>
              <a:rPr lang="ko-KR" altLang="en-US" sz="1400" b="1" kern="0" dirty="0" smtClea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+mn-ea"/>
                <a:cs typeface="나눔고딕"/>
              </a:rPr>
              <a:t> 주제 </a:t>
            </a:r>
            <a:r>
              <a:rPr lang="ko-KR" altLang="en-US" sz="1400" b="1" kern="0" dirty="0" smtClea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+mn-ea"/>
                <a:cs typeface="나눔고딕"/>
              </a:rPr>
              <a:t>발표</a:t>
            </a:r>
            <a:endParaRPr lang="ko-KR" altLang="en-US" sz="1400" b="1" kern="0" dirty="0">
              <a:solidFill>
                <a:sysClr val="windowText" lastClr="000000">
                  <a:lumMod val="95000"/>
                  <a:lumOff val="5000"/>
                </a:sysClr>
              </a:solidFill>
              <a:latin typeface="+mn-ea"/>
              <a:cs typeface="나눔고딕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465666" y="3454400"/>
            <a:ext cx="825500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91373" y="3789040"/>
            <a:ext cx="7561263" cy="315982"/>
          </a:xfrm>
          <a:prstGeom prst="rect">
            <a:avLst/>
          </a:prstGeom>
          <a:noFill/>
        </p:spPr>
        <p:txBody>
          <a:bodyPr wrap="square" lIns="99563" tIns="49783" rIns="99563" bIns="49783" rtlCol="0">
            <a:spAutoFit/>
          </a:bodyPr>
          <a:lstStyle/>
          <a:p>
            <a:pPr algn="ctr" defTabSz="914377" latinLnBrk="0">
              <a:defRPr/>
            </a:pPr>
            <a:r>
              <a:rPr lang="en-US" altLang="ko-KR" sz="1400" kern="0" dirty="0" smtClean="0">
                <a:solidFill>
                  <a:sysClr val="windowText" lastClr="000000">
                    <a:lumMod val="95000"/>
                    <a:lumOff val="5000"/>
                  </a:sysClr>
                </a:solidFill>
                <a:latin typeface="+mn-ea"/>
                <a:cs typeface="나눔고딕"/>
              </a:rPr>
              <a:t>2017.07.27</a:t>
            </a:r>
            <a:endParaRPr lang="ko-KR" altLang="en-US" sz="1400" kern="0" dirty="0">
              <a:solidFill>
                <a:sysClr val="windowText" lastClr="000000">
                  <a:lumMod val="95000"/>
                  <a:lumOff val="5000"/>
                </a:sysClr>
              </a:solidFill>
              <a:latin typeface="+mn-ea"/>
              <a:cs typeface="나눔고딕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55109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5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서비스 주제 선정</a:t>
            </a: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35122" y="2816956"/>
            <a:ext cx="60970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smtClean="0">
                <a:latin typeface="+mn-ea"/>
              </a:rPr>
              <a:t>당신의 가치를 높이는 </a:t>
            </a:r>
            <a:r>
              <a:rPr lang="ko-KR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맞춤형 여행가이드 서비스</a:t>
            </a:r>
            <a:endParaRPr lang="ko-KR" alt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01192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배경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21069" y="417312"/>
            <a:ext cx="1218204" cy="245798"/>
          </a:xfrm>
        </p:spPr>
        <p:txBody>
          <a:bodyPr>
            <a:noAutofit/>
          </a:bodyPr>
          <a:lstStyle/>
          <a:p>
            <a:r>
              <a:rPr lang="en-US" altLang="ko-KR" dirty="0"/>
              <a:t>_ </a:t>
            </a:r>
            <a:r>
              <a:rPr lang="ko-KR" altLang="en-US" dirty="0" smtClean="0"/>
              <a:t>시장 분석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843" y="1409334"/>
            <a:ext cx="4089986" cy="417167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6392309" y="6265806"/>
            <a:ext cx="2393429" cy="2692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ko-KR" altLang="en-US" sz="1000" dirty="0" smtClean="0">
                <a:solidFill>
                  <a:srgbClr val="333333"/>
                </a:solidFill>
                <a:latin typeface="+mn-ea"/>
              </a:rPr>
              <a:t>자료 </a:t>
            </a:r>
            <a:r>
              <a:rPr lang="en-US" altLang="ko-KR" sz="1000" dirty="0" smtClean="0">
                <a:solidFill>
                  <a:srgbClr val="333333"/>
                </a:solidFill>
                <a:latin typeface="+mn-ea"/>
              </a:rPr>
              <a:t>: </a:t>
            </a:r>
            <a:r>
              <a:rPr lang="ko-KR" altLang="en-US" sz="1000" dirty="0" err="1" smtClean="0">
                <a:solidFill>
                  <a:srgbClr val="333333"/>
                </a:solidFill>
                <a:latin typeface="+mn-ea"/>
              </a:rPr>
              <a:t>익스피디아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189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배경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721069" y="417312"/>
            <a:ext cx="1218204" cy="245798"/>
          </a:xfrm>
        </p:spPr>
        <p:txBody>
          <a:bodyPr>
            <a:noAutofit/>
          </a:bodyPr>
          <a:lstStyle/>
          <a:p>
            <a:r>
              <a:rPr lang="en-US" altLang="ko-KR" dirty="0"/>
              <a:t>_ </a:t>
            </a:r>
            <a:r>
              <a:rPr lang="ko-KR" altLang="en-US" dirty="0" smtClean="0"/>
              <a:t>시장 분석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741" y="1797018"/>
            <a:ext cx="6840526" cy="3520859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1072054" y="5525740"/>
            <a:ext cx="68474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rgbClr val="00B0F0"/>
                </a:solidFill>
                <a:latin typeface="+mj-ea"/>
                <a:ea typeface="+mj-ea"/>
              </a:rPr>
              <a:t>‘</a:t>
            </a:r>
            <a:r>
              <a:rPr lang="ko-KR" altLang="en-US" sz="1600" b="1" dirty="0" smtClean="0">
                <a:solidFill>
                  <a:srgbClr val="00B0F0"/>
                </a:solidFill>
                <a:latin typeface="+mj-ea"/>
                <a:ea typeface="+mj-ea"/>
              </a:rPr>
              <a:t>나의 가치</a:t>
            </a:r>
            <a:r>
              <a:rPr lang="en-US" altLang="ko-KR" sz="1600" b="1" dirty="0" smtClean="0">
                <a:solidFill>
                  <a:srgbClr val="00B0F0"/>
                </a:solidFill>
                <a:latin typeface="+mj-ea"/>
                <a:ea typeface="+mj-ea"/>
              </a:rPr>
              <a:t>’</a:t>
            </a:r>
            <a:r>
              <a:rPr lang="ko-KR" altLang="en-US" sz="1600" b="1" dirty="0" smtClean="0">
                <a:solidFill>
                  <a:srgbClr val="333333"/>
                </a:solidFill>
                <a:latin typeface="+mj-ea"/>
                <a:ea typeface="+mj-ea"/>
              </a:rPr>
              <a:t>를 중시하는 라이프스타일의 변화가 </a:t>
            </a:r>
            <a:r>
              <a:rPr lang="ko-KR" altLang="en-US" sz="1600" b="1" dirty="0" smtClean="0">
                <a:solidFill>
                  <a:schemeClr val="accent2"/>
                </a:solidFill>
                <a:latin typeface="+mj-ea"/>
                <a:ea typeface="+mj-ea"/>
              </a:rPr>
              <a:t>‘여행’</a:t>
            </a:r>
            <a:r>
              <a:rPr lang="ko-KR" altLang="en-US" sz="1600" b="1" dirty="0" smtClean="0">
                <a:solidFill>
                  <a:srgbClr val="333333"/>
                </a:solidFill>
                <a:latin typeface="+mj-ea"/>
                <a:ea typeface="+mj-ea"/>
              </a:rPr>
              <a:t>의 중요도를 높임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072054" y="1085626"/>
            <a:ext cx="6847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2017 </a:t>
            </a:r>
            <a:r>
              <a:rPr lang="ko-KR" altLang="en-US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트렌드</a:t>
            </a:r>
            <a:endParaRPr lang="ko-KR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4149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배경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78371" y="4234791"/>
            <a:ext cx="239342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rgbClr val="333333"/>
                </a:solidFill>
                <a:latin typeface="+mj-ea"/>
                <a:ea typeface="+mj-ea"/>
              </a:rPr>
              <a:t>맛있는 음식을 찾아 다니는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156" y="4560148"/>
            <a:ext cx="1635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 smtClean="0">
                <a:latin typeface="+mj-ea"/>
                <a:ea typeface="+mj-ea"/>
              </a:rPr>
              <a:t>먹방</a:t>
            </a:r>
            <a:endParaRPr lang="ko-KR" altLang="en-US" sz="1400" b="1" dirty="0">
              <a:latin typeface="+mj-ea"/>
              <a:ea typeface="+mj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3339282" y="4234791"/>
            <a:ext cx="2393429" cy="298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rgbClr val="333333"/>
                </a:solidFill>
                <a:latin typeface="+mj-ea"/>
                <a:ea typeface="+mj-ea"/>
              </a:rPr>
              <a:t>나만의 특별한 제품을 구매하는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42067" y="4560148"/>
            <a:ext cx="1635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smtClean="0">
                <a:latin typeface="+mj-ea"/>
                <a:ea typeface="+mj-ea"/>
              </a:rPr>
              <a:t>프리미엄 쇼핑</a:t>
            </a:r>
            <a:endParaRPr lang="ko-KR" altLang="en-US" sz="1400" b="1" dirty="0">
              <a:latin typeface="+mj-ea"/>
              <a:ea typeface="+mj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6300192" y="4234791"/>
            <a:ext cx="2393429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rgbClr val="333333"/>
                </a:solidFill>
                <a:latin typeface="+mj-ea"/>
                <a:ea typeface="+mj-ea"/>
              </a:rPr>
              <a:t>심리적 안정을 위한 충분한 여가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2977" y="4560148"/>
            <a:ext cx="16352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 err="1" smtClean="0">
                <a:latin typeface="+mj-ea"/>
                <a:ea typeface="+mj-ea"/>
              </a:rPr>
              <a:t>힐링</a:t>
            </a:r>
            <a:endParaRPr lang="ko-KR" altLang="en-US" sz="1400" b="1" dirty="0">
              <a:latin typeface="+mj-ea"/>
              <a:ea typeface="+mj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65" y="2059604"/>
            <a:ext cx="2000250" cy="20002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576" y="2059604"/>
            <a:ext cx="2000250" cy="2000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781" y="2059604"/>
            <a:ext cx="2000250" cy="2000250"/>
          </a:xfrm>
          <a:prstGeom prst="rect">
            <a:avLst/>
          </a:prstGeom>
        </p:spPr>
      </p:pic>
      <p:sp>
        <p:nvSpPr>
          <p:cNvPr id="26" name="직사각형 25"/>
          <p:cNvSpPr/>
          <p:nvPr/>
        </p:nvSpPr>
        <p:spPr>
          <a:xfrm>
            <a:off x="1734201" y="5326349"/>
            <a:ext cx="59803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 smtClean="0">
                <a:latin typeface="+mj-ea"/>
                <a:ea typeface="+mj-ea"/>
              </a:rPr>
              <a:t>지역이 아니라 </a:t>
            </a:r>
            <a:r>
              <a:rPr lang="ko-KR" altLang="en-US" sz="1600" b="1" dirty="0" smtClean="0">
                <a:solidFill>
                  <a:srgbClr val="00B0F0"/>
                </a:solidFill>
                <a:latin typeface="+mj-ea"/>
                <a:ea typeface="+mj-ea"/>
              </a:rPr>
              <a:t>테마에 초점을 맞춘 </a:t>
            </a:r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여행</a:t>
            </a:r>
            <a:r>
              <a:rPr lang="ko-KR" altLang="en-US" sz="1600" b="1" dirty="0" smtClean="0">
                <a:solidFill>
                  <a:srgbClr val="00B0F0"/>
                </a:solidFill>
                <a:latin typeface="+mj-ea"/>
                <a:ea typeface="+mj-ea"/>
              </a:rPr>
              <a:t> </a:t>
            </a:r>
            <a:r>
              <a:rPr lang="ko-KR" altLang="en-US" sz="1600" b="1" dirty="0" smtClean="0">
                <a:latin typeface="+mj-ea"/>
                <a:ea typeface="+mj-ea"/>
              </a:rPr>
              <a:t>상품과 여행객이 증가</a:t>
            </a:r>
            <a:endParaRPr lang="ko-KR" altLang="en-US" sz="1600" b="1" dirty="0">
              <a:latin typeface="+mj-ea"/>
              <a:ea typeface="+mj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072054" y="1085626"/>
            <a:ext cx="68474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포미족</a:t>
            </a:r>
            <a:r>
              <a:rPr lang="ko-KR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 성향</a:t>
            </a:r>
            <a:endParaRPr lang="ko-KR" alt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텍스트 개체 틀 2"/>
          <p:cNvSpPr>
            <a:spLocks noGrp="1"/>
          </p:cNvSpPr>
          <p:nvPr>
            <p:ph type="body" idx="1"/>
          </p:nvPr>
        </p:nvSpPr>
        <p:spPr>
          <a:xfrm>
            <a:off x="1721069" y="417312"/>
            <a:ext cx="1218204" cy="245798"/>
          </a:xfrm>
        </p:spPr>
        <p:txBody>
          <a:bodyPr>
            <a:noAutofit/>
          </a:bodyPr>
          <a:lstStyle/>
          <a:p>
            <a:r>
              <a:rPr lang="en-US" altLang="ko-KR" dirty="0"/>
              <a:t>_ </a:t>
            </a:r>
            <a:r>
              <a:rPr lang="ko-KR" altLang="en-US" dirty="0" smtClean="0"/>
              <a:t>시장 분석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849074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선정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505606" y="2663685"/>
            <a:ext cx="598038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400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여행자의 </a:t>
            </a:r>
            <a:r>
              <a:rPr lang="ko-KR" altLang="en-US" sz="2400" b="1" dirty="0" smtClean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라이프 스타일과 컨디션에</a:t>
            </a:r>
            <a:endParaRPr lang="en-US" altLang="ko-KR" sz="2400" b="1" dirty="0">
              <a:solidFill>
                <a:srgbClr val="FF0000"/>
              </a:solidFill>
              <a:latin typeface="HY헤드라인M" pitchFamily="18" charset="-127"/>
              <a:ea typeface="HY헤드라인M" pitchFamily="18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따른 </a:t>
            </a:r>
            <a:r>
              <a:rPr lang="ko-KR" altLang="en-US" sz="2400" b="1" dirty="0">
                <a:solidFill>
                  <a:srgbClr val="FF0000"/>
                </a:solidFill>
                <a:latin typeface="HY헤드라인M" pitchFamily="18" charset="-127"/>
                <a:ea typeface="HY헤드라인M" pitchFamily="18" charset="-127"/>
              </a:rPr>
              <a:t>맞춤형 여행 서비스를 제공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1072054" y="2035195"/>
            <a:ext cx="684749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rPr>
              <a:t>프로젝트 목적</a:t>
            </a:r>
            <a:endParaRPr lang="ko-KR" altLang="en-US" sz="1600" b="1" dirty="0">
              <a:solidFill>
                <a:schemeClr val="tx1">
                  <a:lumMod val="95000"/>
                  <a:lumOff val="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텍스트 개체 틀 2"/>
          <p:cNvSpPr>
            <a:spLocks noGrp="1"/>
          </p:cNvSpPr>
          <p:nvPr>
            <p:ph type="body" idx="1"/>
          </p:nvPr>
        </p:nvSpPr>
        <p:spPr>
          <a:xfrm>
            <a:off x="1647917" y="417312"/>
            <a:ext cx="1218204" cy="245798"/>
          </a:xfrm>
        </p:spPr>
        <p:txBody>
          <a:bodyPr>
            <a:noAutofit/>
          </a:bodyPr>
          <a:lstStyle/>
          <a:p>
            <a:r>
              <a:rPr lang="en-US" altLang="ko-KR" dirty="0"/>
              <a:t>_ </a:t>
            </a:r>
            <a:r>
              <a:rPr lang="ko-KR" altLang="en-US" dirty="0" smtClean="0"/>
              <a:t>시장 분석</a:t>
            </a:r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410008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타원 37"/>
          <p:cNvSpPr/>
          <p:nvPr/>
        </p:nvSpPr>
        <p:spPr>
          <a:xfrm>
            <a:off x="5458818" y="2352636"/>
            <a:ext cx="2544825" cy="2544825"/>
          </a:xfrm>
          <a:prstGeom prst="ellipse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8417" y="3226039"/>
            <a:ext cx="1847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갑작스럽게 생긴 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‘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여유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를 제대로 활용할 수 </a:t>
            </a:r>
            <a:endParaRPr lang="en-US" altLang="ko-KR" sz="120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있도록 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맞춤형 여행 </a:t>
            </a:r>
            <a:endParaRPr lang="en-US" altLang="ko-KR" sz="120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정보를  제공한다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1181867" y="3284983"/>
            <a:ext cx="1624669" cy="1624669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77599" y="3799063"/>
            <a:ext cx="1828801" cy="40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b="1" dirty="0" smtClean="0">
                <a:latin typeface="+mn-ea"/>
              </a:rPr>
              <a:t>사용자</a:t>
            </a:r>
            <a:endParaRPr lang="ko-KR" altLang="en-US" b="1" dirty="0">
              <a:latin typeface="+mn-ea"/>
            </a:endParaRPr>
          </a:p>
        </p:txBody>
      </p:sp>
      <p:sp>
        <p:nvSpPr>
          <p:cNvPr id="26" name="제목 1"/>
          <p:cNvSpPr txBox="1">
            <a:spLocks/>
          </p:cNvSpPr>
          <p:nvPr/>
        </p:nvSpPr>
        <p:spPr>
          <a:xfrm>
            <a:off x="386824" y="355601"/>
            <a:ext cx="2892824" cy="3331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Noto Sans CJK KR Medium" panose="020B0600000000000000" pitchFamily="34" charset="-127"/>
                <a:ea typeface="Noto Sans CJK KR Medium" panose="020B0600000000000000" pitchFamily="34" charset="-127"/>
                <a:cs typeface="+mj-cs"/>
              </a:rPr>
              <a:t>프로젝트 </a:t>
            </a:r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  <a:cs typeface="+mj-cs"/>
              </a:rPr>
              <a:t>프로세스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Noto Sans CJK KR Medium" panose="020B0600000000000000" pitchFamily="34" charset="-127"/>
              <a:ea typeface="Noto Sans CJK KR Medium" panose="020B0600000000000000" pitchFamily="34" charset="-127"/>
              <a:cs typeface="+mj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957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27569" b="30786"/>
          <a:stretch/>
        </p:blipFill>
        <p:spPr>
          <a:xfrm>
            <a:off x="3130588" y="1204640"/>
            <a:ext cx="2843461" cy="18114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stA="27000" endPos="20000" dist="5000" dir="5400000" sy="-100000" algn="bl" rotWithShape="0"/>
          </a:effectLst>
        </p:spPr>
      </p:pic>
      <p:sp>
        <p:nvSpPr>
          <p:cNvPr id="36" name="타원 35"/>
          <p:cNvSpPr/>
          <p:nvPr/>
        </p:nvSpPr>
        <p:spPr>
          <a:xfrm>
            <a:off x="5983074" y="3888828"/>
            <a:ext cx="2544825" cy="2544825"/>
          </a:xfrm>
          <a:prstGeom prst="ellipse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11576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+mn-ea"/>
              </a:rPr>
              <a:t>Goal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>
            <a:off x="6687928" y="4550977"/>
            <a:ext cx="11351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01103" y="4912453"/>
            <a:ext cx="221768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두 사람의 여행 목적을 충족 시킬 수 있는 다양한 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테마의</a:t>
            </a:r>
            <a:endParaRPr lang="en-US" altLang="ko-KR" sz="120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200" dirty="0" err="1" smtClean="0">
                <a:solidFill>
                  <a:schemeClr val="bg1"/>
                </a:solidFill>
                <a:latin typeface="+mn-ea"/>
              </a:rPr>
              <a:t>컨텐츠를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 제공한다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291082" y="3888828"/>
            <a:ext cx="2544825" cy="25448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19584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Need</a:t>
            </a:r>
            <a:endParaRPr lang="ko-KR" altLang="en-US" dirty="0">
              <a:latin typeface="+mn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3995936" y="4550977"/>
            <a:ext cx="113511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637919" y="4912453"/>
            <a:ext cx="18288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자신의 컨디션에 맞는</a:t>
            </a:r>
            <a:endParaRPr lang="en-US" altLang="ko-KR" sz="1200" dirty="0" smtClean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여행을 원한다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599090" y="3888828"/>
            <a:ext cx="2544825" cy="25448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327592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Problem</a:t>
            </a:r>
            <a:endParaRPr lang="ko-KR" altLang="en-US" dirty="0">
              <a:latin typeface="+mn-ea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1303944" y="4550977"/>
            <a:ext cx="113511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46235" y="4912453"/>
            <a:ext cx="22415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여행을 좋아하는데</a:t>
            </a:r>
            <a:endParaRPr lang="en-US" altLang="ko-KR" sz="1200" dirty="0" smtClean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계획을 짜는데 막연한 두려움이 있다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두 사람의 여행 목적이 다르다</a:t>
            </a:r>
            <a:r>
              <a:rPr lang="en-US" altLang="ko-KR" sz="1200" dirty="0" smtClean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766242" y="1352038"/>
            <a:ext cx="0" cy="160868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91637" y="1284308"/>
            <a:ext cx="186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김태희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443292" y="1228285"/>
            <a:ext cx="1631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나이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25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직업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대학생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클럽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뮤지컬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65548" y="2350461"/>
            <a:ext cx="238656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마지막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대학생활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멋진 여행으로 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171450" indent="-171450" algn="just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마무리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하고 싶은데 막상 여행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계획을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171450" indent="-171450" algn="just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하려니 막막하다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6396698" y="1324254"/>
            <a:ext cx="0" cy="160868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22093" y="1256524"/>
            <a:ext cx="186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송혜교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073748" y="1200501"/>
            <a:ext cx="1631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나이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25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직업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직장인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취미 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독서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피아노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493813" y="2350461"/>
            <a:ext cx="230302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바쁜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직장생활로 지쳐버린 나</a:t>
            </a: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</a:p>
          <a:p>
            <a:pPr marL="171450" indent="-171450">
              <a:lnSpc>
                <a:spcPct val="125000"/>
              </a:lnSpc>
            </a:pPr>
            <a:r>
              <a:rPr lang="ko-KR" alt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힐링이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되는 여행을 하고 싶은데 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휴먼편지체" panose="02030504000101010101" pitchFamily="18" charset="-127"/>
              <a:ea typeface="휴먼편지체" panose="02030504000101010101" pitchFamily="18" charset="-127"/>
            </a:endParaRPr>
          </a:p>
          <a:p>
            <a:pPr marL="171450" indent="-171450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어떻게 </a:t>
            </a:r>
            <a:r>
              <a:rPr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해야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할까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</a:t>
            </a:r>
          </a:p>
        </p:txBody>
      </p:sp>
      <p:sp>
        <p:nvSpPr>
          <p:cNvPr id="66" name="제목 1"/>
          <p:cNvSpPr txBox="1">
            <a:spLocks/>
          </p:cNvSpPr>
          <p:nvPr/>
        </p:nvSpPr>
        <p:spPr>
          <a:xfrm>
            <a:off x="386824" y="355601"/>
            <a:ext cx="2188210" cy="3331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Noto Sans CJK KR Medium" panose="020B0600000000000000" pitchFamily="34" charset="-127"/>
                <a:ea typeface="Noto Sans CJK KR Medium" panose="020B0600000000000000" pitchFamily="34" charset="-127"/>
                <a:cs typeface="+mj-cs"/>
              </a:rPr>
              <a:t>프로젝트 서비스 도출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Noto Sans CJK KR Medium" panose="020B0600000000000000" pitchFamily="34" charset="-127"/>
              <a:ea typeface="Noto Sans CJK KR Medium" panose="020B0600000000000000" pitchFamily="34" charset="-127"/>
              <a:cs typeface="+mj-cs"/>
            </a:endParaRPr>
          </a:p>
        </p:txBody>
      </p:sp>
      <p:sp>
        <p:nvSpPr>
          <p:cNvPr id="67" name="텍스트 개체 틀 2"/>
          <p:cNvSpPr txBox="1">
            <a:spLocks/>
          </p:cNvSpPr>
          <p:nvPr/>
        </p:nvSpPr>
        <p:spPr>
          <a:xfrm>
            <a:off x="2215457" y="417312"/>
            <a:ext cx="1218204" cy="245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_ </a:t>
            </a:r>
            <a:r>
              <a:rPr kumimoji="0" lang="ko-KR" altLang="en-US" sz="1200" b="1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페르소나 분석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-69000" y="1981928"/>
            <a:ext cx="1031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600" dirty="0">
                <a:solidFill>
                  <a:schemeClr val="bg1">
                    <a:lumMod val="8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“</a:t>
            </a:r>
            <a:endParaRPr lang="ko-KR" altLang="en-US" sz="6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5838741" y="1981928"/>
            <a:ext cx="1031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600" dirty="0">
                <a:solidFill>
                  <a:schemeClr val="bg1">
                    <a:lumMod val="8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“</a:t>
            </a:r>
            <a:endParaRPr lang="ko-KR" altLang="en-US" sz="66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01957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4175488" y="1352038"/>
            <a:ext cx="0" cy="160868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00883" y="1284308"/>
            <a:ext cx="1862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김범수</a:t>
            </a:r>
            <a:endParaRPr lang="ko-KR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02009" y="1241265"/>
            <a:ext cx="1631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나이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33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세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직업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직장인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개발자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</a:p>
          <a:p>
            <a:pPr marL="171450" indent="-171450">
              <a:lnSpc>
                <a:spcPct val="150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취미 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개발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개발</a:t>
            </a:r>
            <a:endParaRPr lang="en-US" altLang="ko-KR" sz="1200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43598" y="2626459"/>
            <a:ext cx="4351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갑작스럽게 휴가를 받았다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아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…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뭐하지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집에만 있기는 좀 그렇고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… </a:t>
            </a:r>
          </a:p>
          <a:p>
            <a:pPr marL="171450" indent="-171450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여행이나 할까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근데 어디로 가지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 </a:t>
            </a:r>
            <a:r>
              <a:rPr lang="ko-KR" altLang="en-US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가서 뭐하지</a:t>
            </a:r>
            <a:r>
              <a:rPr lang="en-US" altLang="ko-KR" sz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?</a:t>
            </a:r>
          </a:p>
        </p:txBody>
      </p:sp>
      <p:sp>
        <p:nvSpPr>
          <p:cNvPr id="38" name="타원 37"/>
          <p:cNvSpPr/>
          <p:nvPr/>
        </p:nvSpPr>
        <p:spPr>
          <a:xfrm>
            <a:off x="5983074" y="3888828"/>
            <a:ext cx="2544825" cy="2544825"/>
          </a:xfrm>
          <a:prstGeom prst="ellipse">
            <a:avLst/>
          </a:prstGeom>
          <a:solidFill>
            <a:srgbClr val="00206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711576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+mn-ea"/>
              </a:rPr>
              <a:t>Goal</a:t>
            </a:r>
            <a:endParaRPr lang="ko-KR" altLang="en-US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40" name="직선 연결선 39"/>
          <p:cNvCxnSpPr/>
          <p:nvPr/>
        </p:nvCxnSpPr>
        <p:spPr>
          <a:xfrm>
            <a:off x="6687928" y="4550977"/>
            <a:ext cx="11351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61441" y="4945111"/>
            <a:ext cx="1847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갑작스럽게 생긴 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‘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여유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’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를 제대로 활용할 수 </a:t>
            </a:r>
            <a:endParaRPr lang="en-US" altLang="ko-KR" sz="120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있도록 </a:t>
            </a: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맞춤형 여행 </a:t>
            </a:r>
            <a:endParaRPr lang="en-US" altLang="ko-KR" sz="1200" dirty="0" smtClean="0">
              <a:solidFill>
                <a:schemeClr val="bg1"/>
              </a:solidFill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solidFill>
                  <a:schemeClr val="bg1"/>
                </a:solidFill>
                <a:latin typeface="+mn-ea"/>
              </a:rPr>
              <a:t>정보를  제공한다</a:t>
            </a:r>
            <a:r>
              <a:rPr lang="en-US" altLang="ko-KR" sz="1200" dirty="0" smtClean="0">
                <a:solidFill>
                  <a:schemeClr val="bg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3291082" y="3888828"/>
            <a:ext cx="2544825" cy="25448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019584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Need</a:t>
            </a:r>
            <a:endParaRPr lang="ko-KR" altLang="en-US" dirty="0">
              <a:latin typeface="+mn-ea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3995936" y="4550977"/>
            <a:ext cx="113511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637919" y="4945111"/>
            <a:ext cx="18288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여행을 하는 목적과</a:t>
            </a:r>
            <a:endParaRPr lang="en-US" altLang="ko-KR" sz="1200" dirty="0" smtClean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동기 부여가 필요하다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8" name="타원 47"/>
          <p:cNvSpPr/>
          <p:nvPr/>
        </p:nvSpPr>
        <p:spPr>
          <a:xfrm>
            <a:off x="599090" y="3888828"/>
            <a:ext cx="2544825" cy="25448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27592" y="4193625"/>
            <a:ext cx="1087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+mn-ea"/>
              </a:rPr>
              <a:t>Problem</a:t>
            </a:r>
            <a:endParaRPr lang="ko-KR" altLang="en-US" dirty="0">
              <a:latin typeface="+mn-ea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>
            <a:off x="1303944" y="4550977"/>
            <a:ext cx="1135117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45927" y="4945111"/>
            <a:ext cx="182880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막연히 여행에 </a:t>
            </a:r>
            <a:endParaRPr lang="en-US" altLang="ko-KR" sz="1200" dirty="0" smtClean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대한 생각만 있을 뿐</a:t>
            </a:r>
            <a:r>
              <a:rPr lang="en-US" altLang="ko-KR" sz="1200" dirty="0" smtClean="0">
                <a:latin typeface="+mn-ea"/>
              </a:rPr>
              <a:t>, </a:t>
            </a:r>
          </a:p>
          <a:p>
            <a:pPr algn="ctr">
              <a:lnSpc>
                <a:spcPct val="125000"/>
              </a:lnSpc>
            </a:pPr>
            <a:r>
              <a:rPr lang="ko-KR" altLang="en-US" sz="1200" dirty="0" smtClean="0">
                <a:latin typeface="+mn-ea"/>
              </a:rPr>
              <a:t>여행 목적이 없다</a:t>
            </a:r>
            <a:r>
              <a:rPr lang="en-US" altLang="ko-KR" sz="1200" dirty="0" smtClean="0"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6" name="제목 1"/>
          <p:cNvSpPr txBox="1">
            <a:spLocks/>
          </p:cNvSpPr>
          <p:nvPr/>
        </p:nvSpPr>
        <p:spPr>
          <a:xfrm>
            <a:off x="386824" y="355601"/>
            <a:ext cx="2188210" cy="3331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Noto Sans CJK KR Medium" panose="020B0600000000000000" pitchFamily="34" charset="-127"/>
                <a:ea typeface="Noto Sans CJK KR Medium" panose="020B0600000000000000" pitchFamily="34" charset="-127"/>
                <a:cs typeface="+mj-cs"/>
              </a:rPr>
              <a:t>프로젝트 서비스 도출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Noto Sans CJK KR Medium" panose="020B0600000000000000" pitchFamily="34" charset="-127"/>
              <a:ea typeface="Noto Sans CJK KR Medium" panose="020B0600000000000000" pitchFamily="34" charset="-127"/>
              <a:cs typeface="+mj-cs"/>
            </a:endParaRPr>
          </a:p>
        </p:txBody>
      </p:sp>
      <p:sp>
        <p:nvSpPr>
          <p:cNvPr id="27" name="텍스트 개체 틀 2"/>
          <p:cNvSpPr txBox="1">
            <a:spLocks/>
          </p:cNvSpPr>
          <p:nvPr/>
        </p:nvSpPr>
        <p:spPr>
          <a:xfrm>
            <a:off x="2215457" y="417312"/>
            <a:ext cx="1218204" cy="2457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1200" b="1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_ </a:t>
            </a:r>
            <a:r>
              <a:rPr kumimoji="0" lang="ko-KR" altLang="en-US" sz="1200" b="1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Noto Sans CJK KR DemiLight" panose="020B0400000000000000" pitchFamily="34" charset="-127"/>
                <a:ea typeface="Noto Sans CJK KR DemiLight" panose="020B0400000000000000" pitchFamily="34" charset="-127"/>
                <a:cs typeface="+mn-cs"/>
              </a:rPr>
              <a:t>페르소나 분석</a:t>
            </a:r>
            <a:endParaRPr kumimoji="0" lang="ko-KR" altLang="en-US" sz="1200" b="1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Noto Sans CJK KR DemiLight" panose="020B0400000000000000" pitchFamily="34" charset="-127"/>
              <a:ea typeface="Noto Sans CJK KR DemiLight" panose="020B0400000000000000" pitchFamily="34" charset="-127"/>
              <a:cs typeface="+mn-cs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721412" y="2235987"/>
            <a:ext cx="1031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6600" dirty="0">
                <a:solidFill>
                  <a:schemeClr val="bg1">
                    <a:lumMod val="85000"/>
                  </a:schemeClr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“</a:t>
            </a:r>
            <a:endParaRPr lang="ko-KR" altLang="en-US" sz="6600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1026" name="Picture 2" descr="L:\2017NCS\Final Project\0.서비스설계\이미지\04LL1BfNvFelZ8NND2I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0674" y="1156331"/>
            <a:ext cx="3426325" cy="225690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="" xmlns:p14="http://schemas.microsoft.com/office/powerpoint/2010/main" val="1019579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1882243" cy="333173"/>
          </a:xfrm>
        </p:spPr>
        <p:txBody>
          <a:bodyPr>
            <a:noAutofit/>
          </a:bodyPr>
          <a:lstStyle/>
          <a:p>
            <a:r>
              <a:rPr lang="ko-KR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팀 소개 및 목표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1559" y="3937677"/>
            <a:ext cx="79332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/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lang="en-US" altLang="ko-KR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Ncs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과정을 이해하고 응용할 수 있다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.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1559" y="4464960"/>
            <a:ext cx="793326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5000"/>
              </a:lnSpc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기획부터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일정조율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DB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설계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디자인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퍼블리싱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개발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등 아울러서 모든 팀원이</a:t>
            </a:r>
            <a:endParaRPr lang="en-US" altLang="ko-KR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</a:pP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참여하여 웹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사이트를 완성할 수 있는 능력을 갖춘다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1559" y="5269240"/>
            <a:ext cx="793326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25000"/>
              </a:lnSpc>
            </a:pP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-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팀의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개개인 능력 범위 내에서 프로젝트 설계하고 구현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5735" y="1559125"/>
            <a:ext cx="79332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팀장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석근용</a:t>
            </a:r>
            <a:endParaRPr lang="en-US" altLang="ko-KR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부팀장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윤선아</a:t>
            </a:r>
            <a:endParaRPr lang="en-US" altLang="ko-KR" sz="1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팀원 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: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박지희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이고운</a:t>
            </a:r>
            <a:r>
              <a:rPr lang="en-US" altLang="ko-KR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, </a:t>
            </a:r>
            <a:r>
              <a:rPr lang="ko-KR" altLang="en-US" sz="1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백재현</a:t>
            </a:r>
            <a:endParaRPr lang="ko-KR" altLang="en-US" sz="1400" b="1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516469" y="1216057"/>
            <a:ext cx="0" cy="16086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1864" y="1148327"/>
            <a:ext cx="1862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팀원 소개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516469" y="3390434"/>
            <a:ext cx="0" cy="16086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1864" y="3322704"/>
            <a:ext cx="1862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팀 목표</a:t>
            </a:r>
            <a:endParaRPr lang="ko-KR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489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24" y="355601"/>
            <a:ext cx="3085719" cy="333173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프로젝트 </a:t>
            </a:r>
            <a:r>
              <a:rPr lang="ko-KR" altLang="en-US" dirty="0" smtClean="0"/>
              <a:t>일정</a:t>
            </a:r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431200112"/>
              </p:ext>
            </p:extLst>
          </p:nvPr>
        </p:nvGraphicFramePr>
        <p:xfrm>
          <a:off x="386821" y="1207010"/>
          <a:ext cx="8321744" cy="5106893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34830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  <a:gridCol w="463351"/>
              </a:tblGrid>
              <a:tr h="430359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7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8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9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200" dirty="0" smtClean="0"/>
                        <a:t>10</a:t>
                      </a:r>
                      <a:r>
                        <a:rPr lang="ko-KR" altLang="en-US" sz="1200" dirty="0" smtClean="0"/>
                        <a:t>월</a:t>
                      </a:r>
                      <a:endParaRPr lang="ko-KR" altLang="en-US" sz="1200" dirty="0"/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9126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6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en-US" altLang="ko-KR" sz="1000" dirty="0" smtClean="0">
                          <a:solidFill>
                            <a:schemeClr val="bg1"/>
                          </a:solidFill>
                        </a:rPr>
                        <a:t>14</a:t>
                      </a:r>
                      <a:r>
                        <a:rPr lang="ko-KR" altLang="en-US" sz="1000" dirty="0" smtClean="0">
                          <a:solidFill>
                            <a:schemeClr val="bg1"/>
                          </a:solidFill>
                        </a:rPr>
                        <a:t>주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제안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프로젝트 주제 확정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자료 수집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분석 </a:t>
                      </a:r>
                      <a:r>
                        <a:rPr lang="en-US" altLang="ko-KR" sz="1200" dirty="0" smtClean="0"/>
                        <a:t>/ </a:t>
                      </a:r>
                      <a:r>
                        <a:rPr lang="ko-KR" altLang="en-US" sz="1200" dirty="0" smtClean="0"/>
                        <a:t>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화면 설계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디자인</a:t>
                      </a:r>
                      <a:r>
                        <a:rPr lang="en-US" altLang="ko-KR" sz="1200" dirty="0" smtClean="0"/>
                        <a:t>&amp;</a:t>
                      </a:r>
                      <a:r>
                        <a:rPr lang="ko-KR" altLang="en-US" sz="1200" dirty="0" smtClean="0"/>
                        <a:t>개발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검토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717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r>
                        <a:rPr lang="ko-KR" altLang="en-US" sz="1200" dirty="0" smtClean="0"/>
                        <a:t>시연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</a:pP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7" name="직선 화살표 연결선 6"/>
          <p:cNvCxnSpPr/>
          <p:nvPr/>
        </p:nvCxnSpPr>
        <p:spPr>
          <a:xfrm>
            <a:off x="3641653" y="4991670"/>
            <a:ext cx="2807915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2248281" y="2280260"/>
            <a:ext cx="473148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2248281" y="2821366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>
            <a:off x="2248281" y="3372449"/>
            <a:ext cx="89769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2694595" y="392744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/>
          <p:cNvCxnSpPr/>
          <p:nvPr/>
        </p:nvCxnSpPr>
        <p:spPr>
          <a:xfrm>
            <a:off x="2694595" y="4421488"/>
            <a:ext cx="1409319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/>
          <p:nvPr/>
        </p:nvCxnSpPr>
        <p:spPr>
          <a:xfrm>
            <a:off x="6434763" y="5539763"/>
            <a:ext cx="13716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>
            <a:off x="7805057" y="6055576"/>
            <a:ext cx="914400" cy="0"/>
          </a:xfrm>
          <a:prstGeom prst="straightConnector1">
            <a:avLst/>
          </a:prstGeom>
          <a:ln w="76200">
            <a:solidFill>
              <a:srgbClr val="85CDB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/>
          <p:cNvSpPr/>
          <p:nvPr/>
        </p:nvSpPr>
        <p:spPr>
          <a:xfrm>
            <a:off x="2781519" y="3778877"/>
            <a:ext cx="266121" cy="26886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7457151" y="987470"/>
            <a:ext cx="138857" cy="14029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595616" y="902208"/>
            <a:ext cx="13411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smtClean="0"/>
              <a:t>현재 진행 상황</a:t>
            </a:r>
            <a:endParaRPr lang="ko-KR" altLang="en-US" sz="1200" dirty="0"/>
          </a:p>
        </p:txBody>
      </p:sp>
    </p:spTree>
    <p:extLst>
      <p:ext uri="{BB962C8B-B14F-4D97-AF65-F5344CB8AC3E}">
        <p14:creationId xmlns="" xmlns:p14="http://schemas.microsoft.com/office/powerpoint/2010/main" val="386955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2396</TotalTime>
  <Words>600</Words>
  <Application>Microsoft Office PowerPoint</Application>
  <PresentationFormat>화면 슬라이드 쇼(4:3)</PresentationFormat>
  <Paragraphs>125</Paragraphs>
  <Slides>11</Slides>
  <Notes>3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슬라이드 1</vt:lpstr>
      <vt:lpstr>서비스 주제 선정</vt:lpstr>
      <vt:lpstr>프로젝트 배경</vt:lpstr>
      <vt:lpstr>프로젝트 배경</vt:lpstr>
      <vt:lpstr>프로젝트 배경</vt:lpstr>
      <vt:lpstr>프로젝트 선정</vt:lpstr>
      <vt:lpstr>슬라이드 7</vt:lpstr>
      <vt:lpstr>슬라이드 8</vt:lpstr>
      <vt:lpstr>슬라이드 9</vt:lpstr>
      <vt:lpstr>팀 소개 및 목표</vt:lpstr>
      <vt:lpstr>프로젝트 일정</vt:lpstr>
    </vt:vector>
  </TitlesOfParts>
  <Company>auney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auney</dc:creator>
  <cp:lastModifiedBy>kitcoop</cp:lastModifiedBy>
  <cp:revision>243</cp:revision>
  <dcterms:created xsi:type="dcterms:W3CDTF">2017-07-23T05:44:46Z</dcterms:created>
  <dcterms:modified xsi:type="dcterms:W3CDTF">2017-07-26T11:04:08Z</dcterms:modified>
</cp:coreProperties>
</file>