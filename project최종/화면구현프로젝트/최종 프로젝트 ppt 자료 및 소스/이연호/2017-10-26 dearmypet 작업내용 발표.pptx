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6" r:id="rId17"/>
    <p:sldId id="295" r:id="rId18"/>
    <p:sldId id="297" r:id="rId19"/>
    <p:sldId id="298" r:id="rId20"/>
    <p:sldId id="300" r:id="rId21"/>
    <p:sldId id="301" r:id="rId22"/>
    <p:sldId id="302" r:id="rId23"/>
    <p:sldId id="310" r:id="rId24"/>
    <p:sldId id="311" r:id="rId25"/>
    <p:sldId id="306" r:id="rId26"/>
    <p:sldId id="307" r:id="rId27"/>
    <p:sldId id="308" r:id="rId28"/>
    <p:sldId id="309" r:id="rId29"/>
    <p:sldId id="312" r:id="rId30"/>
    <p:sldId id="313" r:id="rId31"/>
    <p:sldId id="314" r:id="rId32"/>
    <p:sldId id="318" r:id="rId33"/>
    <p:sldId id="319" r:id="rId34"/>
    <p:sldId id="321" r:id="rId35"/>
    <p:sldId id="322" r:id="rId36"/>
    <p:sldId id="323" r:id="rId37"/>
    <p:sldId id="324" r:id="rId38"/>
    <p:sldId id="320" r:id="rId39"/>
    <p:sldId id="325" r:id="rId40"/>
    <p:sldId id="326" r:id="rId41"/>
    <p:sldId id="267" r:id="rId42"/>
    <p:sldId id="272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74" r:id="rId51"/>
    <p:sldId id="282" r:id="rId52"/>
    <p:sldId id="315" r:id="rId53"/>
    <p:sldId id="316" r:id="rId54"/>
    <p:sldId id="264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0287E"/>
    <a:srgbClr val="59403B"/>
    <a:srgbClr val="F9E81E"/>
    <a:srgbClr val="F78D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 autoAdjust="0"/>
    <p:restoredTop sz="99854" autoAdjust="0"/>
  </p:normalViewPr>
  <p:slideViewPr>
    <p:cSldViewPr snapToGrid="0" showGuides="1">
      <p:cViewPr varScale="1">
        <p:scale>
          <a:sx n="90" d="100"/>
          <a:sy n="90" d="100"/>
        </p:scale>
        <p:origin x="-828" y="-114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cloudflar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dearmypet.net/" TargetMode="External"/><Relationship Id="rId2" Type="http://schemas.openxmlformats.org/officeDocument/2006/relationships/hyperlink" Target="https://zerossl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714000"/>
            <a:ext cx="4372638" cy="923330"/>
            <a:chOff x="435428" y="325117"/>
            <a:chExt cx="4372638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598259" y="325117"/>
              <a:ext cx="42098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 smtClean="0"/>
                <a:t>D</a:t>
              </a:r>
              <a:r>
                <a:rPr lang="en-US" altLang="ko-KR" sz="5400" dirty="0" smtClean="0"/>
                <a:t>ear </a:t>
              </a:r>
              <a:r>
                <a:rPr lang="en-US" altLang="ko-KR" sz="5400" b="1" dirty="0" smtClean="0"/>
                <a:t>M</a:t>
              </a:r>
              <a:r>
                <a:rPr lang="en-US" altLang="ko-KR" sz="5400" dirty="0" smtClean="0"/>
                <a:t>y </a:t>
              </a:r>
              <a:r>
                <a:rPr lang="en-US" altLang="ko-KR" sz="5400" b="1" dirty="0" smtClean="0"/>
                <a:t>P</a:t>
              </a:r>
              <a:r>
                <a:rPr lang="en-US" altLang="ko-KR" sz="5400" dirty="0" smtClean="0"/>
                <a:t>et</a:t>
              </a:r>
              <a:endParaRPr lang="ko-KR" altLang="en-US" sz="5400" dirty="0" smtClean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890" y="6204761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https://www.dearmypet.net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3480094" cy="461665"/>
            <a:chOff x="924910" y="1187669"/>
            <a:chExt cx="34800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427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주제에 대한 간단한 설명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569342" y="1434253"/>
            <a:ext cx="10980291" cy="4589125"/>
            <a:chOff x="2175920" y="2178096"/>
            <a:chExt cx="3595998" cy="1502918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608108" cy="514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0621" y="2178096"/>
              <a:ext cx="1439066" cy="33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동물병원</a:t>
              </a:r>
              <a:r>
                <a:rPr lang="en-US" altLang="ko-KR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30900" y="2348624"/>
              <a:ext cx="705149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분양관리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39980" y="2667061"/>
              <a:ext cx="931938" cy="30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입양신청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792" y="3098970"/>
              <a:ext cx="640051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임시보호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49" y="3287912"/>
              <a:ext cx="1221725" cy="393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동물학대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920" y="2854208"/>
              <a:ext cx="835343" cy="272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347" y="2516261"/>
              <a:ext cx="833243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소셜 로그인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78105" y="3252633"/>
              <a:ext cx="866316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자유게시판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6159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4135722" cy="461665"/>
            <a:chOff x="924910" y="1187669"/>
            <a:chExt cx="4135722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40831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 틀 작성 및 정렬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9075" y="1480456"/>
            <a:ext cx="11702503" cy="47894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524250" y="4857750"/>
            <a:ext cx="866775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722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241738"/>
            <a:ext cx="1878694" cy="461665"/>
            <a:chOff x="924910" y="1187669"/>
            <a:chExt cx="18786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826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도메인 구매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987421" y="145091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굴림" charset="-127"/>
                <a:cs typeface="+mn-cs"/>
              </a:rPr>
              <a:t>dearmypet.net</a:t>
            </a:r>
          </a:p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굴림" charset="-127"/>
              <a:cs typeface="+mn-cs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8521" y="1993835"/>
            <a:ext cx="5867400" cy="257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1659531" cy="461665"/>
            <a:chOff x="924910" y="1187669"/>
            <a:chExt cx="1659531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6069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 smtClean="0">
                  <a:ea typeface="굴림" charset="-127"/>
                </a:rPr>
                <a:t>Cloudflare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1968765" y="1730829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 dirty="0" smtClean="0">
                <a:ea typeface="굴림" charset="-127"/>
                <a:hlinkClick r:id="rId2"/>
              </a:rPr>
              <a:t>https://www.cloudflare.com/</a:t>
            </a:r>
            <a:r>
              <a:rPr lang="en-US" altLang="ko-KR" sz="2000" dirty="0" smtClean="0">
                <a:ea typeface="굴림" charset="-127"/>
              </a:rPr>
              <a:t> </a:t>
            </a:r>
            <a:r>
              <a:rPr lang="ko-KR" altLang="en-US" sz="2000" dirty="0" smtClean="0">
                <a:ea typeface="굴림" charset="-127"/>
              </a:rPr>
              <a:t>설정</a:t>
            </a:r>
            <a:r>
              <a:rPr lang="en-US" altLang="ko-KR" sz="2000" dirty="0" smtClean="0">
                <a:ea typeface="굴림" charset="-127"/>
              </a:rPr>
              <a:t>.</a:t>
            </a:r>
          </a:p>
          <a:p>
            <a:pPr eaLnBrk="1" hangingPunct="1"/>
            <a:r>
              <a:rPr lang="ko-KR" altLang="en-US" sz="2000" dirty="0" smtClean="0">
                <a:ea typeface="굴림" charset="-127"/>
              </a:rPr>
              <a:t>네임서버</a:t>
            </a:r>
            <a:r>
              <a:rPr lang="en-US" altLang="ko-KR" sz="2000" dirty="0" smtClean="0">
                <a:ea typeface="굴림" charset="-127"/>
              </a:rPr>
              <a:t>, DDOS </a:t>
            </a:r>
            <a:r>
              <a:rPr lang="ko-KR" altLang="en-US" sz="2000" dirty="0" smtClean="0">
                <a:ea typeface="굴림" charset="-127"/>
              </a:rPr>
              <a:t>공격차단</a:t>
            </a:r>
            <a:r>
              <a:rPr lang="en-US" altLang="ko-KR" sz="2000" dirty="0" smtClean="0">
                <a:ea typeface="굴림" charset="-127"/>
              </a:rPr>
              <a:t>, </a:t>
            </a:r>
            <a:r>
              <a:rPr lang="ko-KR" altLang="en-US" sz="2000" dirty="0" smtClean="0">
                <a:ea typeface="굴림" charset="-127"/>
              </a:rPr>
              <a:t>웹 </a:t>
            </a:r>
            <a:r>
              <a:rPr lang="en-US" altLang="ko-KR" sz="2000" dirty="0" smtClean="0">
                <a:ea typeface="굴림" charset="-127"/>
              </a:rPr>
              <a:t>Cache</a:t>
            </a:r>
            <a:r>
              <a:rPr lang="ko-KR" altLang="en-US" sz="2000" dirty="0" smtClean="0">
                <a:ea typeface="굴림" charset="-127"/>
              </a:rPr>
              <a:t>지원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678" y="2551567"/>
            <a:ext cx="6726237" cy="346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1944418" cy="461665"/>
            <a:chOff x="924910" y="1187669"/>
            <a:chExt cx="194441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891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 smtClean="0">
                  <a:ea typeface="굴림" charset="-127"/>
                </a:rPr>
                <a:t>GitHub</a:t>
              </a:r>
              <a:r>
                <a:rPr lang="en-US" altLang="ko-KR" sz="2400" dirty="0" smtClean="0">
                  <a:ea typeface="굴림" charset="-127"/>
                </a:rPr>
                <a:t> </a:t>
              </a:r>
              <a:r>
                <a:rPr lang="ko-KR" altLang="en-US" sz="2400" dirty="0" smtClean="0">
                  <a:ea typeface="굴림" charset="-127"/>
                </a:rPr>
                <a:t>설정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3805335" y="1637523"/>
            <a:ext cx="4581331" cy="4525963"/>
          </a:xfrm>
        </p:spPr>
        <p:txBody>
          <a:bodyPr/>
          <a:lstStyle/>
          <a:p>
            <a:pPr eaLnBrk="1" hangingPunct="1"/>
            <a:r>
              <a:rPr lang="ko-KR" altLang="en-US" dirty="0" smtClean="0">
                <a:ea typeface="굴림" charset="-127"/>
              </a:rPr>
              <a:t>공동 배포자</a:t>
            </a:r>
            <a:r>
              <a:rPr lang="en-US" altLang="ko-KR" dirty="0" smtClean="0">
                <a:ea typeface="굴림" charset="-127"/>
              </a:rPr>
              <a:t>(</a:t>
            </a:r>
            <a:r>
              <a:rPr lang="ko-KR" altLang="en-US" dirty="0" smtClean="0">
                <a:ea typeface="굴림" charset="-127"/>
              </a:rPr>
              <a:t>팀원</a:t>
            </a:r>
            <a:r>
              <a:rPr lang="en-US" altLang="ko-KR" dirty="0" smtClean="0">
                <a:ea typeface="굴림" charset="-127"/>
              </a:rPr>
              <a:t>)</a:t>
            </a:r>
            <a:r>
              <a:rPr lang="ko-KR" altLang="en-US" dirty="0" smtClean="0">
                <a:ea typeface="굴림" charset="-127"/>
              </a:rPr>
              <a:t> 등록</a:t>
            </a:r>
            <a:endParaRPr lang="en-US" altLang="ko-KR" dirty="0" smtClean="0">
              <a:ea typeface="굴림" charset="-127"/>
            </a:endParaRPr>
          </a:p>
          <a:p>
            <a:pPr eaLnBrk="1" hangingPunct="1"/>
            <a:endParaRPr lang="ko-KR" altLang="en-US" dirty="0" smtClean="0">
              <a:ea typeface="굴림" charset="-127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8807" y="2386823"/>
            <a:ext cx="3354387" cy="3589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114336" cy="461665"/>
            <a:chOff x="924910" y="1187669"/>
            <a:chExt cx="211433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0617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 smtClean="0">
                  <a:ea typeface="굴림" charset="-127"/>
                </a:rPr>
                <a:t>GitHub</a:t>
              </a:r>
              <a:r>
                <a:rPr lang="en-US" altLang="ko-KR" sz="2400" dirty="0" smtClean="0">
                  <a:ea typeface="굴림" charset="-127"/>
                </a:rPr>
                <a:t> </a:t>
              </a:r>
              <a:r>
                <a:rPr lang="ko-KR" altLang="en-US" sz="2400" dirty="0" smtClean="0">
                  <a:ea typeface="굴림" charset="-127"/>
                </a:rPr>
                <a:t>설정</a:t>
              </a:r>
              <a:r>
                <a:rPr lang="en-US" altLang="ko-KR" sz="2400" dirty="0" smtClean="0">
                  <a:ea typeface="굴림" charset="-127"/>
                </a:rPr>
                <a:t>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400" dirty="0" err="1" smtClean="0">
                <a:ea typeface="굴림" charset="-127"/>
              </a:rPr>
              <a:t>Webhooks</a:t>
            </a:r>
            <a:r>
              <a:rPr lang="en-US" altLang="ko-KR" sz="2400" dirty="0" smtClean="0">
                <a:ea typeface="굴림" charset="-127"/>
              </a:rPr>
              <a:t> </a:t>
            </a:r>
            <a:r>
              <a:rPr lang="ko-KR" altLang="en-US" sz="2400" dirty="0" smtClean="0">
                <a:ea typeface="굴림" charset="-127"/>
              </a:rPr>
              <a:t>등록</a:t>
            </a:r>
            <a:endParaRPr lang="en-US" altLang="ko-KR" sz="2400" dirty="0" smtClean="0">
              <a:ea typeface="굴림" charset="-127"/>
            </a:endParaRPr>
          </a:p>
          <a:p>
            <a:pPr eaLnBrk="1" hangingPunct="1"/>
            <a:r>
              <a:rPr lang="ko-KR" altLang="en-US" sz="2400" dirty="0" smtClean="0">
                <a:ea typeface="굴림" charset="-127"/>
              </a:rPr>
              <a:t>팀원이 </a:t>
            </a:r>
            <a:r>
              <a:rPr lang="en-US" altLang="ko-KR" sz="2400" dirty="0" smtClean="0">
                <a:ea typeface="굴림" charset="-127"/>
              </a:rPr>
              <a:t>Commit</a:t>
            </a:r>
            <a:r>
              <a:rPr lang="ko-KR" altLang="en-US" sz="2400" dirty="0" smtClean="0">
                <a:ea typeface="굴림" charset="-127"/>
              </a:rPr>
              <a:t>만 하면 </a:t>
            </a:r>
            <a:r>
              <a:rPr lang="en-US" altLang="ko-KR" sz="2400" dirty="0" smtClean="0">
                <a:ea typeface="굴림" charset="-127"/>
              </a:rPr>
              <a:t>CI</a:t>
            </a:r>
            <a:r>
              <a:rPr lang="ko-KR" altLang="en-US" sz="2400" dirty="0" smtClean="0">
                <a:ea typeface="굴림" charset="-127"/>
              </a:rPr>
              <a:t>를 통해서 서버에 웹 프로젝트가 배포될 수 있는 기반 환경</a:t>
            </a:r>
            <a:r>
              <a:rPr lang="en-US" altLang="ko-KR" sz="2400" dirty="0" smtClean="0">
                <a:ea typeface="굴림" charset="-127"/>
              </a:rPr>
              <a:t>.</a:t>
            </a:r>
          </a:p>
          <a:p>
            <a:pPr eaLnBrk="1" hangingPunct="1"/>
            <a:endParaRPr lang="ko-KR" altLang="en-US" dirty="0" smtClean="0">
              <a:ea typeface="굴림" charset="-127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9875" y="2852738"/>
            <a:ext cx="4032250" cy="3267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204552" cy="461665"/>
            <a:chOff x="924910" y="1187669"/>
            <a:chExt cx="220455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1519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ea typeface="굴림" charset="-127"/>
                </a:rPr>
                <a:t>Semaphore CI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400" dirty="0" err="1" smtClean="0">
                <a:ea typeface="굴림" charset="-127"/>
              </a:rPr>
              <a:t>Github</a:t>
            </a:r>
            <a:r>
              <a:rPr lang="ko-KR" altLang="en-US" sz="2400" dirty="0" smtClean="0">
                <a:ea typeface="굴림" charset="-127"/>
              </a:rPr>
              <a:t>에 각자</a:t>
            </a:r>
            <a:r>
              <a:rPr lang="en-US" altLang="ko-KR" sz="2400" dirty="0" smtClean="0">
                <a:ea typeface="굴림" charset="-127"/>
              </a:rPr>
              <a:t> Commit</a:t>
            </a:r>
            <a:r>
              <a:rPr lang="ko-KR" altLang="en-US" sz="2400" dirty="0" smtClean="0">
                <a:ea typeface="굴림" charset="-127"/>
              </a:rPr>
              <a:t>을 하면 자동으로 테스트를 거쳐서 서버로 배포해주는 역할</a:t>
            </a:r>
            <a:r>
              <a:rPr lang="en-US" altLang="ko-KR" sz="2400" dirty="0" smtClean="0">
                <a:ea typeface="굴림" charset="-127"/>
              </a:rPr>
              <a:t>.</a:t>
            </a:r>
          </a:p>
          <a:p>
            <a:pPr eaLnBrk="1" hangingPunct="1"/>
            <a:endParaRPr lang="en-US" altLang="ko-KR" sz="2400" dirty="0" smtClean="0">
              <a:ea typeface="굴림" charset="-127"/>
            </a:endParaRPr>
          </a:p>
          <a:p>
            <a:pPr eaLnBrk="1" hangingPunct="1"/>
            <a:r>
              <a:rPr lang="ko-KR" altLang="en-US" sz="2400" dirty="0" err="1" smtClean="0">
                <a:ea typeface="굴림" charset="-127"/>
              </a:rPr>
              <a:t>세마포어</a:t>
            </a:r>
            <a:r>
              <a:rPr lang="en-US" altLang="ko-KR" sz="2400" dirty="0" smtClean="0">
                <a:ea typeface="굴림" charset="-127"/>
              </a:rPr>
              <a:t>CI </a:t>
            </a:r>
            <a:r>
              <a:rPr lang="ko-KR" altLang="en-US" sz="2400" dirty="0" smtClean="0">
                <a:ea typeface="굴림" charset="-127"/>
              </a:rPr>
              <a:t>웹 상에서</a:t>
            </a:r>
            <a:endParaRPr lang="en-US" altLang="ko-KR" sz="2400" dirty="0" smtClean="0">
              <a:ea typeface="굴림" charset="-127"/>
            </a:endParaRPr>
          </a:p>
          <a:p>
            <a:pPr eaLnBrk="1" hangingPunct="1">
              <a:buFontTx/>
              <a:buNone/>
            </a:pPr>
            <a:r>
              <a:rPr lang="en-US" altLang="ko-KR" sz="2400" dirty="0" smtClean="0">
                <a:ea typeface="굴림" charset="-127"/>
              </a:rPr>
              <a:t>	</a:t>
            </a:r>
            <a:r>
              <a:rPr lang="ko-KR" altLang="en-US" sz="2400" dirty="0" smtClean="0">
                <a:ea typeface="굴림" charset="-127"/>
              </a:rPr>
              <a:t>배포 테스트 결과 확인 화면 </a:t>
            </a:r>
            <a:r>
              <a:rPr lang="en-US" altLang="ko-KR" sz="2400" dirty="0" smtClean="0">
                <a:ea typeface="굴림" charset="-127"/>
              </a:rPr>
              <a:t>:</a:t>
            </a:r>
          </a:p>
          <a:p>
            <a:pPr eaLnBrk="1" hangingPunct="1"/>
            <a:endParaRPr lang="en-US" altLang="ko-KR" sz="2400" dirty="0" smtClean="0">
              <a:ea typeface="굴림" charset="-127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7435" y="2217252"/>
            <a:ext cx="3455988" cy="4130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1405809" cy="461665"/>
            <a:chOff x="924910" y="1187669"/>
            <a:chExt cx="140580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353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ea typeface="굴림" charset="-127"/>
                </a:rPr>
                <a:t>Travis-CI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ko-KR" altLang="en-US" dirty="0" err="1" smtClean="0">
                <a:ea typeface="굴림" charset="-127"/>
              </a:rPr>
              <a:t>트래비스</a:t>
            </a:r>
            <a:r>
              <a:rPr lang="en-US" altLang="ko-KR" dirty="0" smtClean="0">
                <a:ea typeface="굴림" charset="-127"/>
              </a:rPr>
              <a:t>CI</a:t>
            </a:r>
            <a:r>
              <a:rPr lang="ko-KR" altLang="en-US" dirty="0" smtClean="0">
                <a:ea typeface="굴림" charset="-127"/>
              </a:rPr>
              <a:t>도 초기에 설정해서 사용했었음</a:t>
            </a:r>
            <a:r>
              <a:rPr lang="en-US" altLang="ko-KR" dirty="0" smtClean="0">
                <a:ea typeface="굴림" charset="-127"/>
              </a:rPr>
              <a:t>.</a:t>
            </a:r>
          </a:p>
          <a:p>
            <a:pPr eaLnBrk="1" hangingPunct="1"/>
            <a:endParaRPr lang="ko-KR" altLang="en-US" dirty="0" smtClean="0">
              <a:ea typeface="굴림" charset="-127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0275" y="2349500"/>
            <a:ext cx="7791450" cy="2838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331353" cy="461665"/>
            <a:chOff x="924910" y="1187669"/>
            <a:chExt cx="4331353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2788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err="1" smtClean="0">
                  <a:ea typeface="굴림" charset="-127"/>
                </a:rPr>
                <a:t>HelioHost</a:t>
              </a:r>
              <a:r>
                <a:rPr lang="en-US" altLang="ko-KR" sz="2400" dirty="0" smtClean="0">
                  <a:ea typeface="굴림" charset="-127"/>
                </a:rPr>
                <a:t>, </a:t>
              </a:r>
              <a:r>
                <a:rPr lang="en-US" altLang="ko-KR" sz="2400" dirty="0" err="1" smtClean="0">
                  <a:ea typeface="굴림" charset="-127"/>
                </a:rPr>
                <a:t>Heroku</a:t>
              </a:r>
              <a:r>
                <a:rPr lang="en-US" altLang="ko-KR" sz="2400" dirty="0" smtClean="0">
                  <a:ea typeface="굴림" charset="-127"/>
                </a:rPr>
                <a:t>, </a:t>
              </a:r>
              <a:r>
                <a:rPr lang="en-US" altLang="ko-KR" sz="2400" dirty="0" err="1" smtClean="0">
                  <a:ea typeface="굴림" charset="-127"/>
                </a:rPr>
                <a:t>Openshift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ko-KR" altLang="en-US" sz="1800" dirty="0" smtClean="0">
                <a:ea typeface="굴림" charset="-127"/>
              </a:rPr>
              <a:t>자바 웹 </a:t>
            </a:r>
            <a:r>
              <a:rPr lang="ko-KR" altLang="en-US" sz="1800" dirty="0" err="1" smtClean="0">
                <a:ea typeface="굴림" charset="-127"/>
              </a:rPr>
              <a:t>호스팅이</a:t>
            </a:r>
            <a:r>
              <a:rPr lang="ko-KR" altLang="en-US" sz="1800" dirty="0" smtClean="0">
                <a:ea typeface="굴림" charset="-127"/>
              </a:rPr>
              <a:t> 가능한 곳 </a:t>
            </a:r>
            <a:r>
              <a:rPr lang="ko-KR" altLang="en-US" sz="1800" dirty="0" err="1" smtClean="0">
                <a:ea typeface="굴림" charset="-127"/>
              </a:rPr>
              <a:t>세팅</a:t>
            </a:r>
            <a:r>
              <a:rPr lang="en-US" altLang="ko-KR" sz="1800" dirty="0" smtClean="0">
                <a:ea typeface="굴림" charset="-127"/>
              </a:rPr>
              <a:t>.</a:t>
            </a:r>
            <a:br>
              <a:rPr lang="en-US" altLang="ko-KR" sz="1800" dirty="0" smtClean="0">
                <a:ea typeface="굴림" charset="-127"/>
              </a:rPr>
            </a:br>
            <a:endParaRPr lang="en-US" altLang="ko-KR" sz="1800" dirty="0" smtClean="0">
              <a:ea typeface="굴림" charset="-127"/>
            </a:endParaRPr>
          </a:p>
          <a:p>
            <a:pPr eaLnBrk="1" hangingPunct="1"/>
            <a:r>
              <a:rPr lang="en-US" altLang="ko-KR" sz="1800" dirty="0" err="1" smtClean="0">
                <a:ea typeface="굴림" charset="-127"/>
              </a:rPr>
              <a:t>HelioHost</a:t>
            </a:r>
            <a:r>
              <a:rPr lang="en-US" altLang="ko-KR" sz="1800" dirty="0" smtClean="0">
                <a:ea typeface="굴림" charset="-127"/>
              </a:rPr>
              <a:t> : </a:t>
            </a:r>
            <a:r>
              <a:rPr lang="ko-KR" altLang="en-US" sz="1800" dirty="0" smtClean="0">
                <a:ea typeface="굴림" charset="-127"/>
              </a:rPr>
              <a:t>최종 서비스용으로 평생 </a:t>
            </a:r>
            <a:r>
              <a:rPr lang="en-US" altLang="ko-KR" sz="1800" dirty="0" smtClean="0">
                <a:ea typeface="굴림" charset="-127"/>
              </a:rPr>
              <a:t>1</a:t>
            </a:r>
            <a:r>
              <a:rPr lang="ko-KR" altLang="en-US" sz="1800" dirty="0" smtClean="0">
                <a:ea typeface="굴림" charset="-127"/>
              </a:rPr>
              <a:t>달러를 지불</a:t>
            </a:r>
            <a:r>
              <a:rPr lang="en-US" altLang="ko-KR" sz="1800" dirty="0" smtClean="0">
                <a:ea typeface="굴림" charset="-127"/>
              </a:rPr>
              <a:t>.</a:t>
            </a:r>
            <a:br>
              <a:rPr lang="en-US" altLang="ko-KR" sz="1800" dirty="0" smtClean="0">
                <a:ea typeface="굴림" charset="-127"/>
              </a:rPr>
            </a:br>
            <a:r>
              <a:rPr lang="en-US" altLang="ko-KR" sz="1800" dirty="0" smtClean="0">
                <a:ea typeface="굴림" charset="-127"/>
              </a:rPr>
              <a:t>war</a:t>
            </a:r>
            <a:r>
              <a:rPr lang="ko-KR" altLang="en-US" sz="1800" dirty="0" smtClean="0">
                <a:ea typeface="굴림" charset="-127"/>
              </a:rPr>
              <a:t>파일을 만들어서 </a:t>
            </a:r>
            <a:r>
              <a:rPr lang="en-US" altLang="ko-KR" sz="1800" dirty="0" smtClean="0">
                <a:ea typeface="굴림" charset="-127"/>
              </a:rPr>
              <a:t>ftp</a:t>
            </a:r>
            <a:r>
              <a:rPr lang="ko-KR" altLang="en-US" sz="1800" dirty="0" smtClean="0">
                <a:ea typeface="굴림" charset="-127"/>
              </a:rPr>
              <a:t>로 파일을 </a:t>
            </a:r>
            <a:r>
              <a:rPr lang="ko-KR" altLang="en-US" sz="1800" dirty="0" err="1" smtClean="0">
                <a:ea typeface="굴림" charset="-127"/>
              </a:rPr>
              <a:t>업로드한</a:t>
            </a:r>
            <a:r>
              <a:rPr lang="ko-KR" altLang="en-US" sz="1800" dirty="0" smtClean="0">
                <a:ea typeface="굴림" charset="-127"/>
              </a:rPr>
              <a:t> 뒤</a:t>
            </a:r>
            <a:r>
              <a:rPr lang="en-US" altLang="ko-KR" sz="1800" dirty="0" smtClean="0">
                <a:ea typeface="굴림" charset="-127"/>
              </a:rPr>
              <a:t>, </a:t>
            </a:r>
            <a:r>
              <a:rPr lang="ko-KR" altLang="en-US" sz="1800" dirty="0" smtClean="0">
                <a:ea typeface="굴림" charset="-127"/>
              </a:rPr>
              <a:t>고객지원게시판</a:t>
            </a:r>
            <a:r>
              <a:rPr lang="en-US" altLang="ko-KR" sz="1800" dirty="0" smtClean="0">
                <a:ea typeface="굴림" charset="-127"/>
              </a:rPr>
              <a:t>(</a:t>
            </a:r>
            <a:r>
              <a:rPr lang="ko-KR" altLang="en-US" sz="1800" dirty="0" smtClean="0">
                <a:ea typeface="굴림" charset="-127"/>
              </a:rPr>
              <a:t>영어</a:t>
            </a:r>
            <a:r>
              <a:rPr lang="en-US" altLang="ko-KR" sz="1800" dirty="0" smtClean="0">
                <a:ea typeface="굴림" charset="-127"/>
              </a:rPr>
              <a:t>)</a:t>
            </a:r>
            <a:r>
              <a:rPr lang="ko-KR" altLang="en-US" sz="1800" dirty="0" smtClean="0">
                <a:ea typeface="굴림" charset="-127"/>
              </a:rPr>
              <a:t>에 배포를 요청하는 형태</a:t>
            </a:r>
            <a:r>
              <a:rPr lang="en-US" altLang="ko-KR" sz="1800" dirty="0" smtClean="0">
                <a:ea typeface="굴림" charset="-127"/>
              </a:rPr>
              <a:t>.</a:t>
            </a:r>
          </a:p>
          <a:p>
            <a:pPr eaLnBrk="1" hangingPunct="1"/>
            <a:r>
              <a:rPr lang="en-US" altLang="ko-KR" sz="1800" dirty="0" err="1" smtClean="0">
                <a:ea typeface="굴림" charset="-127"/>
              </a:rPr>
              <a:t>Heroku</a:t>
            </a:r>
            <a:r>
              <a:rPr lang="en-US" altLang="ko-KR" sz="1800" dirty="0" smtClean="0">
                <a:ea typeface="굴림" charset="-127"/>
              </a:rPr>
              <a:t> : </a:t>
            </a:r>
            <a:r>
              <a:rPr lang="ko-KR" altLang="en-US" sz="1800" dirty="0" smtClean="0">
                <a:ea typeface="굴림" charset="-127"/>
              </a:rPr>
              <a:t>개발서버 용도로 사용</a:t>
            </a:r>
            <a:r>
              <a:rPr lang="en-US" altLang="ko-KR" sz="1800" dirty="0" smtClean="0">
                <a:ea typeface="굴림" charset="-127"/>
              </a:rPr>
              <a:t/>
            </a:r>
            <a:br>
              <a:rPr lang="en-US" altLang="ko-KR" sz="1800" dirty="0" smtClean="0">
                <a:ea typeface="굴림" charset="-127"/>
              </a:rPr>
            </a:br>
            <a:r>
              <a:rPr lang="en-US" altLang="ko-KR" sz="1800" dirty="0" smtClean="0">
                <a:ea typeface="굴림" charset="-127"/>
              </a:rPr>
              <a:t>-&gt; </a:t>
            </a:r>
            <a:r>
              <a:rPr lang="en-US" altLang="ko-KR" sz="1800" dirty="0" err="1" smtClean="0">
                <a:ea typeface="굴림" charset="-127"/>
              </a:rPr>
              <a:t>Heroku</a:t>
            </a:r>
            <a:r>
              <a:rPr lang="en-US" altLang="ko-KR" sz="1800" dirty="0" smtClean="0">
                <a:ea typeface="굴림" charset="-127"/>
              </a:rPr>
              <a:t> </a:t>
            </a:r>
            <a:r>
              <a:rPr lang="en-US" altLang="ko-KR" sz="1800" dirty="0" err="1" smtClean="0">
                <a:ea typeface="굴림" charset="-127"/>
              </a:rPr>
              <a:t>toolbelt</a:t>
            </a:r>
            <a:r>
              <a:rPr lang="ko-KR" altLang="en-US" sz="1800" dirty="0" smtClean="0">
                <a:ea typeface="굴림" charset="-127"/>
              </a:rPr>
              <a:t> </a:t>
            </a:r>
            <a:r>
              <a:rPr lang="en-US" altLang="ko-KR" sz="1800" dirty="0" smtClean="0">
                <a:ea typeface="굴림" charset="-127"/>
              </a:rPr>
              <a:t>(CLI)</a:t>
            </a:r>
            <a:r>
              <a:rPr lang="ko-KR" altLang="en-US" sz="1800" dirty="0" smtClean="0">
                <a:ea typeface="굴림" charset="-127"/>
              </a:rPr>
              <a:t>사용방법과 </a:t>
            </a:r>
            <a:r>
              <a:rPr lang="en-US" altLang="ko-KR" sz="1800" dirty="0" err="1" smtClean="0">
                <a:ea typeface="굴림" charset="-127"/>
              </a:rPr>
              <a:t>git</a:t>
            </a:r>
            <a:r>
              <a:rPr lang="en-US" altLang="ko-KR" sz="1800" dirty="0" smtClean="0">
                <a:ea typeface="굴림" charset="-127"/>
              </a:rPr>
              <a:t>(CLI)</a:t>
            </a:r>
            <a:r>
              <a:rPr lang="ko-KR" altLang="en-US" sz="1800" dirty="0" smtClean="0">
                <a:ea typeface="굴림" charset="-127"/>
              </a:rPr>
              <a:t>을 익혀야 함</a:t>
            </a:r>
            <a:r>
              <a:rPr lang="en-US" altLang="ko-KR" sz="1800" dirty="0" smtClean="0">
                <a:ea typeface="굴림" charset="-127"/>
              </a:rPr>
              <a:t>.</a:t>
            </a:r>
            <a:br>
              <a:rPr lang="en-US" altLang="ko-KR" sz="1800" dirty="0" smtClean="0">
                <a:ea typeface="굴림" charset="-127"/>
              </a:rPr>
            </a:br>
            <a:r>
              <a:rPr lang="en-US" altLang="ko-KR" sz="1800" dirty="0" smtClean="0">
                <a:ea typeface="굴림" charset="-127"/>
              </a:rPr>
              <a:t>-&gt; xml</a:t>
            </a:r>
            <a:r>
              <a:rPr lang="ko-KR" altLang="en-US" sz="1800" dirty="0" smtClean="0">
                <a:ea typeface="굴림" charset="-127"/>
              </a:rPr>
              <a:t>파일은 </a:t>
            </a:r>
            <a:r>
              <a:rPr lang="en-US" altLang="ko-KR" sz="1800" dirty="0" smtClean="0">
                <a:ea typeface="굴림" charset="-127"/>
              </a:rPr>
              <a:t>web-</a:t>
            </a:r>
            <a:r>
              <a:rPr lang="en-US" altLang="ko-KR" sz="1800" dirty="0" err="1" smtClean="0">
                <a:ea typeface="굴림" charset="-127"/>
              </a:rPr>
              <a:t>inf</a:t>
            </a:r>
            <a:r>
              <a:rPr lang="ko-KR" altLang="en-US" sz="1800" dirty="0" smtClean="0">
                <a:ea typeface="굴림" charset="-127"/>
              </a:rPr>
              <a:t>하위에 두어야 하는 경로인식문제</a:t>
            </a:r>
            <a:r>
              <a:rPr lang="en-US" altLang="ko-KR" sz="1800" dirty="0" smtClean="0">
                <a:ea typeface="굴림" charset="-127"/>
              </a:rPr>
              <a:t/>
            </a:r>
            <a:br>
              <a:rPr lang="en-US" altLang="ko-KR" sz="1800" dirty="0" smtClean="0">
                <a:ea typeface="굴림" charset="-127"/>
              </a:rPr>
            </a:br>
            <a:r>
              <a:rPr lang="en-US" altLang="ko-KR" sz="1800" dirty="0" smtClean="0">
                <a:ea typeface="굴림" charset="-127"/>
              </a:rPr>
              <a:t>	(xml</a:t>
            </a:r>
            <a:r>
              <a:rPr lang="ko-KR" altLang="en-US" sz="1800" dirty="0" smtClean="0">
                <a:ea typeface="굴림" charset="-127"/>
              </a:rPr>
              <a:t>파일이 있는 곳에 </a:t>
            </a:r>
            <a:r>
              <a:rPr lang="en-US" altLang="ko-KR" sz="1800" dirty="0" err="1" smtClean="0">
                <a:ea typeface="굴림" charset="-127"/>
              </a:rPr>
              <a:t>classpath</a:t>
            </a:r>
            <a:r>
              <a:rPr lang="en-US" altLang="ko-KR" sz="1800" dirty="0" smtClean="0">
                <a:ea typeface="굴림" charset="-127"/>
              </a:rPr>
              <a:t>: </a:t>
            </a:r>
            <a:r>
              <a:rPr lang="ko-KR" altLang="en-US" sz="1800" dirty="0" smtClean="0">
                <a:ea typeface="굴림" charset="-127"/>
              </a:rPr>
              <a:t>를 이용할 수 없음</a:t>
            </a:r>
            <a:r>
              <a:rPr lang="en-US" altLang="ko-KR" sz="1800" dirty="0" smtClean="0">
                <a:ea typeface="굴림" charset="-127"/>
              </a:rPr>
              <a:t>)</a:t>
            </a:r>
            <a:br>
              <a:rPr lang="en-US" altLang="ko-KR" sz="1800" dirty="0" smtClean="0">
                <a:ea typeface="굴림" charset="-127"/>
              </a:rPr>
            </a:br>
            <a:r>
              <a:rPr lang="en-US" altLang="ko-KR" sz="1800" dirty="0" smtClean="0">
                <a:ea typeface="굴림" charset="-127"/>
              </a:rPr>
              <a:t>-&gt; </a:t>
            </a:r>
            <a:r>
              <a:rPr lang="ko-KR" altLang="en-US" sz="1800" dirty="0" smtClean="0">
                <a:ea typeface="굴림" charset="-127"/>
              </a:rPr>
              <a:t>초기설정파일이 필요함</a:t>
            </a:r>
            <a:r>
              <a:rPr lang="en-US" altLang="ko-KR" sz="1800" dirty="0" smtClean="0">
                <a:ea typeface="굴림" charset="-127"/>
              </a:rPr>
              <a:t>(</a:t>
            </a:r>
            <a:r>
              <a:rPr lang="en-US" altLang="ko-KR" sz="1800" dirty="0" err="1" smtClean="0">
                <a:ea typeface="굴림" charset="-127"/>
              </a:rPr>
              <a:t>Procfile</a:t>
            </a:r>
            <a:r>
              <a:rPr lang="en-US" altLang="ko-KR" sz="1800" dirty="0" smtClean="0">
                <a:ea typeface="굴림" charset="-127"/>
              </a:rPr>
              <a:t>, </a:t>
            </a:r>
            <a:r>
              <a:rPr lang="en-US" altLang="ko-KR" sz="1800" dirty="0" err="1" smtClean="0">
                <a:ea typeface="굴림" charset="-127"/>
              </a:rPr>
              <a:t>system.properties</a:t>
            </a:r>
            <a:r>
              <a:rPr lang="ko-KR" altLang="en-US" sz="1800" dirty="0" smtClean="0">
                <a:ea typeface="굴림" charset="-127"/>
              </a:rPr>
              <a:t>파일</a:t>
            </a:r>
            <a:r>
              <a:rPr lang="en-US" altLang="ko-KR" sz="1800" dirty="0" smtClean="0">
                <a:ea typeface="굴림" charset="-127"/>
              </a:rPr>
              <a:t>)</a:t>
            </a:r>
            <a:br>
              <a:rPr lang="en-US" altLang="ko-KR" sz="1800" dirty="0" smtClean="0">
                <a:ea typeface="굴림" charset="-127"/>
              </a:rPr>
            </a:br>
            <a:endParaRPr lang="en-US" altLang="ko-KR" sz="1800" dirty="0" smtClean="0">
              <a:ea typeface="굴림" charset="-127"/>
            </a:endParaRPr>
          </a:p>
          <a:p>
            <a:pPr eaLnBrk="1" hangingPunct="1"/>
            <a:r>
              <a:rPr lang="en-US" altLang="ko-KR" sz="1800" dirty="0" err="1" smtClean="0">
                <a:ea typeface="굴림" charset="-127"/>
              </a:rPr>
              <a:t>Openshift</a:t>
            </a:r>
            <a:r>
              <a:rPr lang="en-US" altLang="ko-KR" sz="1800" dirty="0" smtClean="0">
                <a:ea typeface="굴림" charset="-127"/>
              </a:rPr>
              <a:t> : </a:t>
            </a:r>
            <a:r>
              <a:rPr lang="ko-KR" altLang="en-US" sz="1800" dirty="0" smtClean="0">
                <a:ea typeface="굴림" charset="-127"/>
              </a:rPr>
              <a:t>개발서버용도로 사용을 시도했으나 실패</a:t>
            </a:r>
            <a:r>
              <a:rPr lang="en-US" altLang="ko-KR" sz="1800" dirty="0" smtClean="0">
                <a:ea typeface="굴림" charset="-127"/>
              </a:rPr>
              <a:t>.</a:t>
            </a:r>
            <a:endParaRPr lang="ko-KR" altLang="en-US" sz="1800" dirty="0" smtClean="0">
              <a:ea typeface="굴림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644627" cy="461665"/>
            <a:chOff x="924910" y="1187669"/>
            <a:chExt cx="364462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5920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ea typeface="굴림" charset="-127"/>
                </a:rPr>
                <a:t>let's encrypt(HTTPS)</a:t>
              </a:r>
              <a:r>
                <a:rPr lang="ko-KR" altLang="en-US" sz="2400" dirty="0" smtClean="0">
                  <a:ea typeface="굴림" charset="-127"/>
                </a:rPr>
                <a:t>적용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ko-KR" altLang="en-US" dirty="0" smtClean="0">
                <a:ea typeface="굴림" charset="-127"/>
              </a:rPr>
              <a:t>적용 툴</a:t>
            </a:r>
            <a:r>
              <a:rPr lang="en-US" altLang="ko-KR" dirty="0" smtClean="0">
                <a:ea typeface="굴림" charset="-127"/>
              </a:rPr>
              <a:t>(</a:t>
            </a:r>
            <a:r>
              <a:rPr lang="en-US" altLang="ko-KR" dirty="0" smtClean="0">
                <a:ea typeface="굴림" charset="-127"/>
                <a:hlinkClick r:id="rId2"/>
              </a:rPr>
              <a:t>https://zerossl.com/</a:t>
            </a:r>
            <a:r>
              <a:rPr lang="en-US" altLang="ko-KR" dirty="0" smtClean="0">
                <a:ea typeface="굴림" charset="-127"/>
              </a:rPr>
              <a:t>)</a:t>
            </a:r>
            <a:r>
              <a:rPr lang="ko-KR" altLang="en-US" dirty="0" smtClean="0">
                <a:ea typeface="굴림" charset="-127"/>
              </a:rPr>
              <a:t>에서 생성한 각종 키들을 </a:t>
            </a:r>
            <a:r>
              <a:rPr lang="en-US" altLang="ko-KR" dirty="0" err="1" smtClean="0">
                <a:ea typeface="굴림" charset="-127"/>
              </a:rPr>
              <a:t>HelioHost</a:t>
            </a:r>
            <a:r>
              <a:rPr lang="ko-KR" altLang="en-US" dirty="0" smtClean="0">
                <a:ea typeface="굴림" charset="-127"/>
              </a:rPr>
              <a:t>에 등록함</a:t>
            </a:r>
            <a:r>
              <a:rPr lang="en-US" altLang="ko-KR" dirty="0" smtClean="0">
                <a:ea typeface="굴림" charset="-127"/>
              </a:rPr>
              <a:t>.</a:t>
            </a:r>
          </a:p>
          <a:p>
            <a:pPr eaLnBrk="1" hangingPunct="1"/>
            <a:r>
              <a:rPr lang="ko-KR" altLang="en-US" dirty="0" smtClean="0">
                <a:ea typeface="굴림" charset="-127"/>
              </a:rPr>
              <a:t>최종 적용예정 서버 </a:t>
            </a:r>
            <a:r>
              <a:rPr lang="en-US" altLang="ko-KR" dirty="0" smtClean="0">
                <a:ea typeface="굴림" charset="-127"/>
              </a:rPr>
              <a:t>(</a:t>
            </a:r>
            <a:r>
              <a:rPr lang="en-US" altLang="ko-KR" dirty="0" smtClean="0">
                <a:ea typeface="굴림" charset="-127"/>
                <a:hlinkClick r:id="rId3"/>
              </a:rPr>
              <a:t>https://www.dearmypet.net</a:t>
            </a:r>
            <a:r>
              <a:rPr lang="en-US" altLang="ko-KR" dirty="0" smtClean="0">
                <a:ea typeface="굴림" charset="-127"/>
              </a:rPr>
              <a:t>) </a:t>
            </a:r>
            <a:r>
              <a:rPr lang="ko-KR" altLang="en-US" dirty="0" smtClean="0">
                <a:ea typeface="굴림" charset="-127"/>
              </a:rPr>
              <a:t>로 접속할 때</a:t>
            </a:r>
            <a:r>
              <a:rPr lang="en-US" altLang="ko-KR" dirty="0" smtClean="0">
                <a:ea typeface="굴림" charset="-127"/>
              </a:rPr>
              <a:t>, HTTPS</a:t>
            </a:r>
            <a:r>
              <a:rPr lang="ko-KR" altLang="en-US" dirty="0" smtClean="0">
                <a:ea typeface="굴림" charset="-127"/>
              </a:rPr>
              <a:t>프로토콜 사용가능</a:t>
            </a:r>
            <a:endParaRPr lang="en-US" altLang="ko-KR" dirty="0" smtClean="0">
              <a:ea typeface="굴림" charset="-127"/>
            </a:endParaRPr>
          </a:p>
          <a:p>
            <a:pPr eaLnBrk="1" hangingPunct="1"/>
            <a:r>
              <a:rPr lang="en-US" altLang="ko-KR" dirty="0" smtClean="0">
                <a:ea typeface="굴림" charset="-127"/>
              </a:rPr>
              <a:t>HTTPS</a:t>
            </a:r>
            <a:r>
              <a:rPr lang="ko-KR" altLang="en-US" dirty="0" smtClean="0">
                <a:ea typeface="굴림" charset="-127"/>
              </a:rPr>
              <a:t>프로토콜을 사용해서</a:t>
            </a:r>
            <a:r>
              <a:rPr lang="en-US" altLang="ko-KR" dirty="0" smtClean="0">
                <a:ea typeface="굴림" charset="-127"/>
              </a:rPr>
              <a:t>, </a:t>
            </a:r>
            <a:r>
              <a:rPr lang="ko-KR" altLang="en-US" dirty="0" smtClean="0">
                <a:ea typeface="굴림" charset="-127"/>
              </a:rPr>
              <a:t>개발서버</a:t>
            </a:r>
            <a:r>
              <a:rPr lang="en-US" altLang="ko-KR" dirty="0" smtClean="0">
                <a:ea typeface="굴림" charset="-127"/>
              </a:rPr>
              <a:t>(</a:t>
            </a:r>
            <a:r>
              <a:rPr lang="en-US" altLang="ko-KR" dirty="0" smtClean="0">
                <a:ea typeface="굴림" charset="-127"/>
                <a:hlinkClick r:id="rId3"/>
              </a:rPr>
              <a:t>https://dev.dearmypet.net</a:t>
            </a:r>
            <a:r>
              <a:rPr lang="en-US" altLang="ko-KR" dirty="0" smtClean="0">
                <a:ea typeface="굴림" charset="-127"/>
              </a:rPr>
              <a:t>)</a:t>
            </a:r>
            <a:r>
              <a:rPr lang="ko-KR" altLang="en-US" dirty="0" smtClean="0">
                <a:ea typeface="굴림" charset="-127"/>
              </a:rPr>
              <a:t>로 접속가능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395135" cy="461665"/>
            <a:chOff x="924910" y="1187669"/>
            <a:chExt cx="339513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웹 프로젝트 </a:t>
              </a:r>
              <a:r>
                <a:rPr lang="ko-KR" altLang="en-US" sz="2400" dirty="0" smtClean="0">
                  <a:ea typeface="굴림" charset="-127"/>
                </a:rPr>
                <a:t>환경설정</a:t>
              </a:r>
              <a:r>
                <a:rPr lang="en-US" altLang="ko-KR" sz="2400" dirty="0" smtClean="0">
                  <a:ea typeface="굴림" charset="-127"/>
                </a:rPr>
                <a:t>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ko-KR" altLang="en-US" sz="2000" dirty="0" smtClean="0">
                <a:ea typeface="굴림" charset="-127"/>
              </a:rPr>
              <a:t>웹</a:t>
            </a:r>
            <a:r>
              <a:rPr lang="en-US" altLang="ko-KR" sz="2000" dirty="0" smtClean="0">
                <a:ea typeface="굴림" charset="-127"/>
              </a:rPr>
              <a:t> </a:t>
            </a:r>
            <a:r>
              <a:rPr lang="ko-KR" altLang="en-US" sz="2000" dirty="0" smtClean="0">
                <a:ea typeface="굴림" charset="-127"/>
              </a:rPr>
              <a:t>주소에 </a:t>
            </a:r>
            <a:r>
              <a:rPr lang="en-US" altLang="ko-KR" sz="2000" dirty="0" smtClean="0">
                <a:ea typeface="굴림" charset="-127"/>
              </a:rPr>
              <a:t>.do</a:t>
            </a:r>
            <a:r>
              <a:rPr lang="ko-KR" altLang="en-US" sz="2000" dirty="0" smtClean="0">
                <a:ea typeface="굴림" charset="-127"/>
              </a:rPr>
              <a:t>가 아니라 </a:t>
            </a:r>
            <a:r>
              <a:rPr lang="en-US" altLang="ko-KR" sz="2000" dirty="0" smtClean="0">
                <a:ea typeface="굴림" charset="-127"/>
              </a:rPr>
              <a:t>.</a:t>
            </a:r>
            <a:r>
              <a:rPr lang="en-US" altLang="ko-KR" sz="2000" dirty="0" err="1" smtClean="0">
                <a:ea typeface="굴림" charset="-127"/>
              </a:rPr>
              <a:t>dmp</a:t>
            </a:r>
            <a:r>
              <a:rPr lang="en-US" altLang="ko-KR" sz="2000" dirty="0" smtClean="0">
                <a:ea typeface="굴림" charset="-127"/>
              </a:rPr>
              <a:t>, .</a:t>
            </a:r>
            <a:r>
              <a:rPr lang="en-US" altLang="ko-KR" sz="2000" dirty="0" err="1" smtClean="0">
                <a:ea typeface="굴림" charset="-127"/>
              </a:rPr>
              <a:t>jsn</a:t>
            </a:r>
            <a:r>
              <a:rPr lang="ko-KR" altLang="en-US" sz="2000" dirty="0" smtClean="0">
                <a:ea typeface="굴림" charset="-127"/>
              </a:rPr>
              <a:t>으로 </a:t>
            </a:r>
            <a:r>
              <a:rPr lang="ko-KR" altLang="en-US" sz="2000" dirty="0" err="1" smtClean="0">
                <a:ea typeface="굴림" charset="-127"/>
              </a:rPr>
              <a:t>요청받을</a:t>
            </a:r>
            <a:r>
              <a:rPr lang="ko-KR" altLang="en-US" sz="2000" dirty="0" smtClean="0">
                <a:ea typeface="굴림" charset="-127"/>
              </a:rPr>
              <a:t> 수 있도록 설정함</a:t>
            </a:r>
            <a:r>
              <a:rPr lang="en-US" altLang="ko-KR" sz="2000" dirty="0" smtClean="0">
                <a:ea typeface="굴림" charset="-127"/>
              </a:rPr>
              <a:t>.</a:t>
            </a:r>
          </a:p>
          <a:p>
            <a:pPr eaLnBrk="1" hangingPunct="1"/>
            <a:r>
              <a:rPr lang="ko-KR" altLang="en-US" sz="2000" dirty="0" smtClean="0">
                <a:ea typeface="굴림" charset="-127"/>
              </a:rPr>
              <a:t>일반 </a:t>
            </a:r>
            <a:r>
              <a:rPr lang="en-US" altLang="ko-KR" sz="2000" dirty="0" err="1" smtClean="0">
                <a:ea typeface="굴림" charset="-127"/>
              </a:rPr>
              <a:t>css</a:t>
            </a:r>
            <a:r>
              <a:rPr lang="en-US" altLang="ko-KR" sz="2000" dirty="0" smtClean="0">
                <a:ea typeface="굴림" charset="-127"/>
              </a:rPr>
              <a:t>, </a:t>
            </a:r>
            <a:r>
              <a:rPr lang="en-US" altLang="ko-KR" sz="2000" dirty="0" err="1" smtClean="0">
                <a:ea typeface="굴림" charset="-127"/>
              </a:rPr>
              <a:t>js</a:t>
            </a:r>
            <a:r>
              <a:rPr lang="ko-KR" altLang="en-US" sz="2000" dirty="0" smtClean="0">
                <a:ea typeface="굴림" charset="-127"/>
              </a:rPr>
              <a:t>파일의 </a:t>
            </a:r>
            <a:r>
              <a:rPr lang="ko-KR" altLang="en-US" sz="2000" dirty="0" err="1" smtClean="0">
                <a:ea typeface="굴림" charset="-127"/>
              </a:rPr>
              <a:t>웹요청은</a:t>
            </a:r>
            <a:r>
              <a:rPr lang="ko-KR" altLang="en-US" sz="2000" dirty="0" smtClean="0">
                <a:ea typeface="굴림" charset="-127"/>
              </a:rPr>
              <a:t> 바로 전달할 수 있도록 </a:t>
            </a:r>
            <a:r>
              <a:rPr lang="en-US" altLang="ko-KR" sz="2000" dirty="0" smtClean="0">
                <a:ea typeface="굴림" charset="-127"/>
              </a:rPr>
              <a:t>view-resolver</a:t>
            </a:r>
            <a:r>
              <a:rPr lang="ko-KR" altLang="en-US" sz="2000" dirty="0" smtClean="0">
                <a:ea typeface="굴림" charset="-127"/>
              </a:rPr>
              <a:t>를 설정함</a:t>
            </a:r>
            <a:r>
              <a:rPr lang="en-US" altLang="ko-KR" sz="2000" dirty="0" smtClean="0">
                <a:ea typeface="굴림" charset="-127"/>
              </a:rPr>
              <a:t>.(</a:t>
            </a:r>
            <a:r>
              <a:rPr lang="ko-KR" altLang="en-US" sz="2000" dirty="0" smtClean="0">
                <a:ea typeface="굴림" charset="-127"/>
              </a:rPr>
              <a:t>예 </a:t>
            </a:r>
            <a:r>
              <a:rPr lang="en-US" altLang="ko-KR" sz="2000" dirty="0" smtClean="0">
                <a:ea typeface="굴림" charset="-127"/>
              </a:rPr>
              <a:t>: https://dearmypet.herokuapp.com/js/jquery.js)</a:t>
            </a:r>
          </a:p>
          <a:p>
            <a:pPr eaLnBrk="1" hangingPunct="1"/>
            <a:r>
              <a:rPr lang="ko-KR" altLang="en-US" sz="2000" dirty="0" smtClean="0">
                <a:ea typeface="굴림" charset="-127"/>
              </a:rPr>
              <a:t>스프링 </a:t>
            </a:r>
            <a:r>
              <a:rPr lang="ko-KR" altLang="en-US" sz="2000" dirty="0" err="1" smtClean="0">
                <a:ea typeface="굴림" charset="-127"/>
              </a:rPr>
              <a:t>타일즈</a:t>
            </a:r>
            <a:r>
              <a:rPr lang="ko-KR" altLang="en-US" sz="2000" dirty="0" smtClean="0">
                <a:ea typeface="굴림" charset="-127"/>
              </a:rPr>
              <a:t> 적용 </a:t>
            </a:r>
            <a:r>
              <a:rPr lang="en-US" altLang="ko-KR" sz="2000" dirty="0" smtClean="0">
                <a:ea typeface="굴림" charset="-127"/>
              </a:rPr>
              <a:t>+ </a:t>
            </a:r>
            <a:r>
              <a:rPr lang="ko-KR" altLang="en-US" sz="2000" dirty="0" err="1" smtClean="0">
                <a:ea typeface="굴림" charset="-127"/>
              </a:rPr>
              <a:t>뷰</a:t>
            </a:r>
            <a:r>
              <a:rPr lang="ko-KR" altLang="en-US" sz="2000" dirty="0" smtClean="0">
                <a:ea typeface="굴림" charset="-127"/>
              </a:rPr>
              <a:t> 페이지 등록</a:t>
            </a:r>
            <a:r>
              <a:rPr lang="en-US" altLang="ko-KR" sz="2000" dirty="0" smtClean="0">
                <a:ea typeface="굴림" charset="-127"/>
              </a:rPr>
              <a:t/>
            </a:r>
            <a:br>
              <a:rPr lang="en-US" altLang="ko-KR" sz="2000" dirty="0" smtClean="0">
                <a:ea typeface="굴림" charset="-127"/>
              </a:rPr>
            </a:br>
            <a:r>
              <a:rPr lang="en-US" altLang="ko-KR" sz="1200" dirty="0" smtClean="0">
                <a:ea typeface="굴림" charset="-127"/>
              </a:rPr>
              <a:t> &lt;</a:t>
            </a:r>
            <a:r>
              <a:rPr lang="en-US" altLang="ko-KR" sz="1200" dirty="0" err="1" smtClean="0">
                <a:ea typeface="굴림" charset="-127"/>
              </a:rPr>
              <a:t>mvc:view</a:t>
            </a:r>
            <a:r>
              <a:rPr lang="en-US" altLang="ko-KR" sz="1200" dirty="0" smtClean="0">
                <a:ea typeface="굴림" charset="-127"/>
              </a:rPr>
              <a:t>-controller path=</a:t>
            </a:r>
            <a:r>
              <a:rPr lang="en-US" altLang="ko-KR" sz="1200" i="1" dirty="0" smtClean="0">
                <a:ea typeface="굴림" charset="-127"/>
              </a:rPr>
              <a:t>"/main.dmp" view-name="</a:t>
            </a:r>
            <a:r>
              <a:rPr lang="en-US" altLang="ko-KR" sz="1200" i="1" dirty="0" err="1" smtClean="0">
                <a:ea typeface="굴림" charset="-127"/>
              </a:rPr>
              <a:t>main.tiles</a:t>
            </a:r>
            <a:r>
              <a:rPr lang="en-US" altLang="ko-KR" sz="1200" i="1" dirty="0" smtClean="0">
                <a:ea typeface="굴림" charset="-127"/>
              </a:rPr>
              <a:t>" /&gt;</a:t>
            </a:r>
            <a:endParaRPr lang="en-US" altLang="ko-KR" sz="2000" dirty="0" smtClean="0">
              <a:ea typeface="굴림" charset="-127"/>
            </a:endParaRPr>
          </a:p>
          <a:p>
            <a:pPr eaLnBrk="1" hangingPunct="1"/>
            <a:r>
              <a:rPr lang="en-US" altLang="ko-KR" sz="2000" dirty="0" err="1" smtClean="0">
                <a:ea typeface="굴림" charset="-127"/>
              </a:rPr>
              <a:t>MyBatis</a:t>
            </a:r>
            <a:r>
              <a:rPr lang="en-US" altLang="ko-KR" sz="2000" dirty="0" smtClean="0">
                <a:ea typeface="굴림" charset="-127"/>
              </a:rPr>
              <a:t> </a:t>
            </a:r>
            <a:r>
              <a:rPr lang="ko-KR" altLang="en-US" sz="2000" dirty="0" smtClean="0">
                <a:ea typeface="굴림" charset="-127"/>
              </a:rPr>
              <a:t>적용</a:t>
            </a:r>
            <a:r>
              <a:rPr lang="en-US" altLang="ko-KR" sz="2000" dirty="0" smtClean="0">
                <a:ea typeface="굴림" charset="-127"/>
              </a:rPr>
              <a:t>(</a:t>
            </a:r>
            <a:r>
              <a:rPr lang="ko-KR" altLang="en-US" sz="2000" dirty="0" smtClean="0">
                <a:ea typeface="굴림" charset="-127"/>
              </a:rPr>
              <a:t>특정 경로에 여러 </a:t>
            </a:r>
            <a:r>
              <a:rPr lang="en-US" altLang="ko-KR" sz="2000" dirty="0" smtClean="0">
                <a:ea typeface="굴림" charset="-127"/>
              </a:rPr>
              <a:t>Mapper.xml </a:t>
            </a:r>
            <a:r>
              <a:rPr lang="ko-KR" altLang="en-US" sz="2000" dirty="0" smtClean="0">
                <a:ea typeface="굴림" charset="-127"/>
              </a:rPr>
              <a:t>자동 등록</a:t>
            </a:r>
            <a:r>
              <a:rPr lang="en-US" altLang="ko-KR" sz="2000" dirty="0" smtClean="0">
                <a:ea typeface="굴림" charset="-127"/>
              </a:rPr>
              <a:t>)</a:t>
            </a:r>
            <a:br>
              <a:rPr lang="en-US" altLang="ko-KR" sz="2000" dirty="0" smtClean="0">
                <a:ea typeface="굴림" charset="-127"/>
              </a:rPr>
            </a:br>
            <a:r>
              <a:rPr lang="en-US" altLang="ko-KR" sz="1200" dirty="0" smtClean="0">
                <a:ea typeface="굴림" charset="-127"/>
              </a:rPr>
              <a:t>&lt;bean name=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SqlSessionFactoryBean</a:t>
            </a:r>
            <a:r>
              <a:rPr lang="en-US" altLang="ko-KR" sz="1200" i="1" dirty="0" smtClean="0">
                <a:ea typeface="굴림" charset="-127"/>
              </a:rPr>
              <a:t>" class="</a:t>
            </a:r>
            <a:r>
              <a:rPr lang="en-US" altLang="ko-KR" sz="1200" i="1" dirty="0" err="1" smtClean="0">
                <a:ea typeface="굴림" charset="-127"/>
              </a:rPr>
              <a:t>org.mybatis.spring.SqlSessionFactoryBean</a:t>
            </a:r>
            <a:r>
              <a:rPr lang="en-US" altLang="ko-KR" sz="1200" i="1" dirty="0" smtClean="0">
                <a:ea typeface="굴림" charset="-127"/>
              </a:rPr>
              <a:t>"&gt;</a:t>
            </a: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&lt;property name=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configLocation</a:t>
            </a:r>
            <a:r>
              <a:rPr lang="en-US" altLang="ko-KR" sz="1200" i="1" dirty="0" smtClean="0">
                <a:ea typeface="굴림" charset="-127"/>
              </a:rPr>
              <a:t>" value="/WEB-INF/spring/</a:t>
            </a:r>
            <a:r>
              <a:rPr lang="en-US" altLang="ko-KR" sz="1200" i="1" dirty="0" err="1" smtClean="0">
                <a:ea typeface="굴림" charset="-127"/>
              </a:rPr>
              <a:t>config</a:t>
            </a:r>
            <a:r>
              <a:rPr lang="en-US" altLang="ko-KR" sz="1200" i="1" dirty="0" smtClean="0">
                <a:ea typeface="굴림" charset="-127"/>
              </a:rPr>
              <a:t>/</a:t>
            </a:r>
            <a:r>
              <a:rPr lang="en-US" altLang="ko-KR" sz="1200" i="1" dirty="0" err="1" smtClean="0">
                <a:ea typeface="굴림" charset="-127"/>
              </a:rPr>
              <a:t>mybatis</a:t>
            </a:r>
            <a:r>
              <a:rPr lang="en-US" altLang="ko-KR" sz="1200" i="1" dirty="0" smtClean="0">
                <a:ea typeface="굴림" charset="-127"/>
              </a:rPr>
              <a:t>/mybatis-config.xml" /&gt;</a:t>
            </a: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&lt;property name=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dataSource</a:t>
            </a:r>
            <a:r>
              <a:rPr lang="en-US" altLang="ko-KR" sz="1200" i="1" dirty="0" smtClean="0">
                <a:ea typeface="굴림" charset="-127"/>
              </a:rPr>
              <a:t>" ref="</a:t>
            </a:r>
            <a:r>
              <a:rPr lang="en-US" altLang="ko-KR" sz="1200" i="1" dirty="0" err="1" smtClean="0">
                <a:ea typeface="굴림" charset="-127"/>
              </a:rPr>
              <a:t>BasicDataSourceclass</a:t>
            </a:r>
            <a:r>
              <a:rPr lang="en-US" altLang="ko-KR" sz="1200" i="1" dirty="0" smtClean="0">
                <a:ea typeface="굴림" charset="-127"/>
              </a:rPr>
              <a:t>" /&gt;</a:t>
            </a: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&lt;property name=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mapperLocations</a:t>
            </a:r>
            <a:r>
              <a:rPr lang="en-US" altLang="ko-KR" sz="1200" i="1" dirty="0" smtClean="0">
                <a:ea typeface="굴림" charset="-127"/>
              </a:rPr>
              <a:t>"  value="/WEB-INF/spring/</a:t>
            </a:r>
            <a:r>
              <a:rPr lang="en-US" altLang="ko-KR" sz="1200" i="1" dirty="0" err="1" smtClean="0">
                <a:ea typeface="굴림" charset="-127"/>
              </a:rPr>
              <a:t>config</a:t>
            </a:r>
            <a:r>
              <a:rPr lang="en-US" altLang="ko-KR" sz="1200" i="1" dirty="0" smtClean="0">
                <a:ea typeface="굴림" charset="-127"/>
              </a:rPr>
              <a:t>/</a:t>
            </a:r>
            <a:r>
              <a:rPr lang="en-US" altLang="ko-KR" sz="1200" i="1" dirty="0" err="1" smtClean="0">
                <a:ea typeface="굴림" charset="-127"/>
              </a:rPr>
              <a:t>mybatis</a:t>
            </a:r>
            <a:r>
              <a:rPr lang="en-US" altLang="ko-KR" sz="1200" i="1" dirty="0" smtClean="0">
                <a:ea typeface="굴림" charset="-127"/>
              </a:rPr>
              <a:t>/*</a:t>
            </a:r>
            <a:r>
              <a:rPr lang="en-US" altLang="ko-KR" sz="1200" i="1" dirty="0" err="1" smtClean="0">
                <a:ea typeface="굴림" charset="-127"/>
              </a:rPr>
              <a:t>Mapper.xml</a:t>
            </a:r>
            <a:r>
              <a:rPr lang="en-US" altLang="ko-KR" sz="1200" i="1" dirty="0" smtClean="0">
                <a:ea typeface="굴림" charset="-127"/>
              </a:rPr>
              <a:t>" /&gt;</a:t>
            </a: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&lt;/bean&gt;</a:t>
            </a:r>
          </a:p>
          <a:p>
            <a:pPr eaLnBrk="1" hangingPunct="1"/>
            <a:r>
              <a:rPr lang="ko-KR" altLang="en-US" sz="2000" dirty="0" smtClean="0">
                <a:ea typeface="굴림" charset="-127"/>
              </a:rPr>
              <a:t>스프링에서 </a:t>
            </a:r>
            <a:r>
              <a:rPr lang="en-US" altLang="ko-KR" sz="2000" dirty="0" smtClean="0">
                <a:ea typeface="굴림" charset="-127"/>
              </a:rPr>
              <a:t>Bean </a:t>
            </a:r>
            <a:r>
              <a:rPr lang="ko-KR" altLang="en-US" sz="2000" dirty="0" smtClean="0">
                <a:ea typeface="굴림" charset="-127"/>
              </a:rPr>
              <a:t>자동 스캔 등록</a:t>
            </a:r>
            <a:endParaRPr lang="en-US" altLang="ko-KR" sz="2000" dirty="0" smtClean="0">
              <a:ea typeface="굴림" charset="-127"/>
            </a:endParaRP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</a:t>
            </a:r>
            <a:r>
              <a:rPr lang="en-US" altLang="ko-KR" sz="1200" dirty="0" err="1" smtClean="0">
                <a:ea typeface="굴림" charset="-127"/>
              </a:rPr>
              <a:t>context:component</a:t>
            </a:r>
            <a:r>
              <a:rPr lang="en-US" altLang="ko-KR" sz="1200" dirty="0" smtClean="0">
                <a:ea typeface="굴림" charset="-127"/>
              </a:rPr>
              <a:t>-scan base-package=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net.dearmypet.webapp</a:t>
            </a:r>
            <a:r>
              <a:rPr lang="en-US" altLang="ko-KR" sz="1200" i="1" dirty="0" smtClean="0">
                <a:ea typeface="굴림" charset="-127"/>
              </a:rPr>
              <a:t>" /&gt;</a:t>
            </a:r>
            <a:endParaRPr lang="en-US" altLang="ko-KR" sz="1200" dirty="0" smtClean="0">
              <a:ea typeface="굴림" charset="-127"/>
            </a:endParaRPr>
          </a:p>
          <a:p>
            <a:pPr eaLnBrk="1" hangingPunct="1"/>
            <a:r>
              <a:rPr lang="ko-KR" altLang="en-US" sz="2000" dirty="0" err="1" smtClean="0">
                <a:ea typeface="굴림" charset="-127"/>
              </a:rPr>
              <a:t>페비콘</a:t>
            </a:r>
            <a:r>
              <a:rPr lang="ko-KR" altLang="en-US" sz="2000" dirty="0" smtClean="0">
                <a:ea typeface="굴림" charset="-127"/>
              </a:rPr>
              <a:t> 적용 </a:t>
            </a:r>
            <a:r>
              <a:rPr lang="en-US" altLang="ko-KR" sz="2000" dirty="0" smtClean="0">
                <a:ea typeface="굴림" charset="-127"/>
              </a:rPr>
              <a:t>: </a:t>
            </a:r>
          </a:p>
          <a:p>
            <a:pPr eaLnBrk="1" hangingPunct="1"/>
            <a:r>
              <a:rPr lang="en-US" altLang="ko-KR" sz="2000" dirty="0" err="1" smtClean="0">
                <a:ea typeface="굴림" charset="-127"/>
              </a:rPr>
              <a:t>db.properties</a:t>
            </a:r>
            <a:r>
              <a:rPr lang="ko-KR" altLang="en-US" sz="2000" dirty="0" smtClean="0">
                <a:ea typeface="굴림" charset="-127"/>
              </a:rPr>
              <a:t>파일에 </a:t>
            </a:r>
            <a:r>
              <a:rPr lang="en-US" altLang="ko-KR" sz="2000" dirty="0" smtClean="0">
                <a:ea typeface="굴림" charset="-127"/>
              </a:rPr>
              <a:t>DB</a:t>
            </a:r>
            <a:r>
              <a:rPr lang="ko-KR" altLang="en-US" sz="2000" dirty="0" smtClean="0">
                <a:ea typeface="굴림" charset="-127"/>
              </a:rPr>
              <a:t>접속 정보 </a:t>
            </a:r>
            <a:r>
              <a:rPr lang="ko-KR" altLang="en-US" sz="2000" dirty="0" err="1" smtClean="0">
                <a:ea typeface="굴림" charset="-127"/>
              </a:rPr>
              <a:t>암호화처리</a:t>
            </a:r>
            <a:r>
              <a:rPr lang="en-US" altLang="ko-KR" sz="2000" dirty="0" smtClean="0">
                <a:ea typeface="굴림" charset="-127"/>
              </a:rPr>
              <a:t>(</a:t>
            </a:r>
            <a:r>
              <a:rPr lang="en-US" altLang="ko-KR" sz="2000" i="1" dirty="0" err="1" smtClean="0">
                <a:ea typeface="굴림" charset="-127"/>
              </a:rPr>
              <a:t>jasypt</a:t>
            </a:r>
            <a:r>
              <a:rPr lang="en-US" altLang="ko-KR" sz="2000" i="1" dirty="0" smtClean="0">
                <a:ea typeface="굴림" charset="-127"/>
              </a:rPr>
              <a:t> </a:t>
            </a:r>
            <a:r>
              <a:rPr lang="ko-KR" altLang="en-US" sz="2000" dirty="0" smtClean="0">
                <a:ea typeface="굴림" charset="-127"/>
              </a:rPr>
              <a:t>라이브러리사용</a:t>
            </a:r>
            <a:r>
              <a:rPr lang="en-US" altLang="ko-KR" sz="2000" dirty="0" smtClean="0">
                <a:ea typeface="굴림" charset="-127"/>
              </a:rPr>
              <a:t>)</a:t>
            </a:r>
          </a:p>
          <a:p>
            <a:pPr eaLnBrk="1" hangingPunct="1"/>
            <a:endParaRPr lang="en-US" altLang="ko-KR" sz="2000" dirty="0" smtClean="0">
              <a:ea typeface="굴림" charset="-127"/>
            </a:endParaRPr>
          </a:p>
          <a:p>
            <a:pPr eaLnBrk="1" hangingPunct="1"/>
            <a:endParaRPr lang="ko-KR" altLang="en-US" sz="2000" dirty="0" smtClean="0">
              <a:ea typeface="굴림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395135" cy="461665"/>
            <a:chOff x="924910" y="1187669"/>
            <a:chExt cx="339513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웹 프로젝트 </a:t>
              </a:r>
              <a:r>
                <a:rPr lang="ko-KR" altLang="en-US" sz="2400" dirty="0" smtClean="0">
                  <a:ea typeface="굴림" charset="-127"/>
                </a:rPr>
                <a:t>환경설정</a:t>
              </a:r>
              <a:r>
                <a:rPr lang="en-US" altLang="ko-KR" sz="2400" dirty="0" smtClean="0">
                  <a:ea typeface="굴림" charset="-127"/>
                </a:rPr>
                <a:t>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 dirty="0" smtClean="0">
                <a:ea typeface="굴림" charset="-127"/>
              </a:rPr>
              <a:t>filter </a:t>
            </a:r>
            <a:r>
              <a:rPr lang="ko-KR" altLang="en-US" sz="2000" dirty="0" smtClean="0">
                <a:ea typeface="굴림" charset="-127"/>
              </a:rPr>
              <a:t>및 </a:t>
            </a:r>
            <a:r>
              <a:rPr lang="en-US" altLang="ko-KR" sz="2000" dirty="0" err="1" smtClean="0">
                <a:ea typeface="굴림" charset="-127"/>
              </a:rPr>
              <a:t>mvc:message</a:t>
            </a:r>
            <a:r>
              <a:rPr lang="en-US" altLang="ko-KR" sz="2000" dirty="0" smtClean="0">
                <a:ea typeface="굴림" charset="-127"/>
              </a:rPr>
              <a:t>-converters </a:t>
            </a:r>
            <a:r>
              <a:rPr lang="ko-KR" altLang="en-US" sz="2000" dirty="0" smtClean="0">
                <a:ea typeface="굴림" charset="-127"/>
              </a:rPr>
              <a:t>를 통한 한글설정</a:t>
            </a:r>
            <a:endParaRPr lang="en-US" altLang="ko-KR" sz="2000" dirty="0" smtClean="0">
              <a:ea typeface="굴림" charset="-127"/>
            </a:endParaRPr>
          </a:p>
          <a:p>
            <a:pPr eaLnBrk="1" hangingPunct="1"/>
            <a:r>
              <a:rPr lang="en-US" altLang="ko-KR" sz="2000" dirty="0" smtClean="0">
                <a:ea typeface="굴림" charset="-127"/>
              </a:rPr>
              <a:t>exception </a:t>
            </a:r>
            <a:r>
              <a:rPr lang="ko-KR" altLang="en-US" sz="2000" dirty="0" smtClean="0">
                <a:ea typeface="굴림" charset="-127"/>
              </a:rPr>
              <a:t>메시지 </a:t>
            </a:r>
            <a:r>
              <a:rPr lang="en-US" altLang="ko-KR" sz="2000" dirty="0" smtClean="0">
                <a:ea typeface="굴림" charset="-127"/>
              </a:rPr>
              <a:t>property </a:t>
            </a:r>
            <a:r>
              <a:rPr lang="ko-KR" altLang="en-US" sz="2000" dirty="0" smtClean="0">
                <a:ea typeface="굴림" charset="-127"/>
              </a:rPr>
              <a:t>처리</a:t>
            </a:r>
            <a:endParaRPr lang="en-US" altLang="ko-KR" sz="2000" dirty="0" smtClean="0">
              <a:ea typeface="굴림" charset="-127"/>
            </a:endParaRP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&lt;bean class=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org.springframework.context.support.ResourceBundleMessageSource</a:t>
            </a:r>
            <a:r>
              <a:rPr lang="en-US" altLang="ko-KR" sz="1200" i="1" dirty="0" smtClean="0">
                <a:ea typeface="굴림" charset="-127"/>
              </a:rPr>
              <a:t>"</a:t>
            </a:r>
          </a:p>
          <a:p>
            <a:pPr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	name=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messageSource</a:t>
            </a:r>
            <a:r>
              <a:rPr lang="en-US" altLang="ko-KR" sz="1200" i="1" dirty="0" smtClean="0">
                <a:ea typeface="굴림" charset="-127"/>
              </a:rPr>
              <a:t>" p:basename="</a:t>
            </a:r>
            <a:r>
              <a:rPr lang="en-US" altLang="ko-KR" sz="1200" i="1" dirty="0" err="1" smtClean="0">
                <a:ea typeface="굴림" charset="-127"/>
              </a:rPr>
              <a:t>net.dearmypet.webapp.exception.error_message</a:t>
            </a:r>
            <a:r>
              <a:rPr lang="en-US" altLang="ko-KR" sz="1200" i="1" dirty="0" smtClean="0">
                <a:ea typeface="굴림" charset="-127"/>
              </a:rPr>
              <a:t>" /&gt;</a:t>
            </a:r>
            <a:endParaRPr lang="en-US" altLang="ko-KR" sz="2000" dirty="0" smtClean="0">
              <a:ea typeface="굴림" charset="-127"/>
            </a:endParaRPr>
          </a:p>
          <a:p>
            <a:pPr eaLnBrk="1" hangingPunct="1"/>
            <a:endParaRPr lang="en-US" altLang="ko-KR" sz="1200" dirty="0" smtClean="0">
              <a:ea typeface="굴림" charset="-127"/>
            </a:endParaRPr>
          </a:p>
          <a:p>
            <a:pPr eaLnBrk="1" hangingPunct="1"/>
            <a:r>
              <a:rPr lang="en-US" altLang="ko-KR" sz="2000" dirty="0" smtClean="0">
                <a:ea typeface="굴림" charset="-127"/>
              </a:rPr>
              <a:t>post</a:t>
            </a:r>
            <a:r>
              <a:rPr lang="ko-KR" altLang="en-US" sz="2000" dirty="0" smtClean="0">
                <a:ea typeface="굴림" charset="-127"/>
              </a:rPr>
              <a:t>방식으로  뒤로 이동 시 캐시삭제 </a:t>
            </a:r>
            <a:r>
              <a:rPr lang="en-US" altLang="ko-KR" sz="2000" dirty="0" smtClean="0">
                <a:ea typeface="굴림" charset="-127"/>
              </a:rPr>
              <a:t>: </a:t>
            </a:r>
            <a:r>
              <a:rPr lang="en-US" altLang="ko-KR" sz="2000" dirty="0" err="1" smtClean="0">
                <a:ea typeface="굴림" charset="-127"/>
              </a:rPr>
              <a:t>mvc:interceptors</a:t>
            </a:r>
            <a:r>
              <a:rPr lang="ko-KR" altLang="en-US" sz="2000" dirty="0" smtClean="0">
                <a:ea typeface="굴림" charset="-127"/>
              </a:rPr>
              <a:t>사용</a:t>
            </a:r>
            <a:endParaRPr lang="en-US" altLang="ko-KR" sz="2000" dirty="0" smtClean="0">
              <a:ea typeface="굴림" charset="-127"/>
            </a:endParaRPr>
          </a:p>
          <a:p>
            <a:pPr eaLnBrk="1" hangingPunct="1"/>
            <a:r>
              <a:rPr lang="en-US" altLang="ko-KR" sz="2000" dirty="0" smtClean="0">
                <a:ea typeface="굴림" charset="-127"/>
              </a:rPr>
              <a:t>View Resolver </a:t>
            </a:r>
            <a:r>
              <a:rPr lang="ko-KR" altLang="en-US" sz="2000" dirty="0" smtClean="0">
                <a:ea typeface="굴림" charset="-127"/>
              </a:rPr>
              <a:t>관련 설정</a:t>
            </a:r>
            <a:r>
              <a:rPr lang="en-US" altLang="ko-KR" sz="2000" dirty="0" smtClean="0">
                <a:ea typeface="굴림" charset="-127"/>
              </a:rPr>
              <a:t>(</a:t>
            </a:r>
            <a:r>
              <a:rPr lang="ko-KR" altLang="en-US" sz="2000" dirty="0" smtClean="0">
                <a:ea typeface="굴림" charset="-127"/>
              </a:rPr>
              <a:t>파일업로드 포함</a:t>
            </a:r>
            <a:r>
              <a:rPr lang="en-US" altLang="ko-KR" sz="2000" dirty="0" smtClean="0">
                <a:ea typeface="굴림" charset="-127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&lt;</a:t>
            </a:r>
            <a:r>
              <a:rPr lang="en-US" altLang="ko-KR" sz="1200" dirty="0" err="1" smtClean="0">
                <a:ea typeface="굴림" charset="-127"/>
              </a:rPr>
              <a:t>context:component</a:t>
            </a:r>
            <a:r>
              <a:rPr lang="en-US" altLang="ko-KR" sz="1200" dirty="0" smtClean="0">
                <a:ea typeface="굴림" charset="-127"/>
              </a:rPr>
              <a:t>-scan base-package=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spring.fileup.controller</a:t>
            </a:r>
            <a:r>
              <a:rPr lang="en-US" altLang="ko-KR" sz="1200" i="1" dirty="0" smtClean="0">
                <a:ea typeface="굴림" charset="-127"/>
              </a:rPr>
              <a:t>"/&gt;</a:t>
            </a:r>
          </a:p>
          <a:p>
            <a:pPr lvl="1"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&lt;bean id=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multipartResolver</a:t>
            </a:r>
            <a:r>
              <a:rPr lang="en-US" altLang="ko-KR" sz="1200" i="1" dirty="0" smtClean="0">
                <a:ea typeface="굴림" charset="-127"/>
              </a:rPr>
              <a:t>" class="org.springframework.web.multipart.commons.CommonsMultipartResolver" /&gt;</a:t>
            </a:r>
          </a:p>
          <a:p>
            <a:pPr lvl="1"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&lt;bean class=</a:t>
            </a:r>
            <a:r>
              <a:rPr lang="en-US" altLang="ko-KR" sz="1200" i="1" dirty="0" smtClean="0">
                <a:ea typeface="굴림" charset="-127"/>
              </a:rPr>
              <a:t>"</a:t>
            </a:r>
            <a:r>
              <a:rPr lang="en-US" altLang="ko-KR" sz="1200" i="1" dirty="0" err="1" smtClean="0">
                <a:ea typeface="굴림" charset="-127"/>
              </a:rPr>
              <a:t>org.springframework.web.servlet.view.BeanNameViewResolver</a:t>
            </a:r>
            <a:r>
              <a:rPr lang="en-US" altLang="ko-KR" sz="1200" i="1" dirty="0" smtClean="0">
                <a:ea typeface="굴림" charset="-127"/>
              </a:rPr>
              <a:t>" p:order="1" /&gt;</a:t>
            </a:r>
          </a:p>
          <a:p>
            <a:pPr lvl="1"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&lt;bean class=</a:t>
            </a:r>
            <a:r>
              <a:rPr lang="en-US" altLang="ko-KR" sz="1200" i="1" dirty="0" smtClean="0">
                <a:ea typeface="굴림" charset="-127"/>
              </a:rPr>
              <a:t>"org.springframework.web.servlet.view.tiles3.TilesViewResolver" p:order="2" /&gt;</a:t>
            </a:r>
          </a:p>
          <a:p>
            <a:pPr lvl="1" eaLnBrk="1" hangingPunct="1">
              <a:buFontTx/>
              <a:buNone/>
            </a:pPr>
            <a:r>
              <a:rPr lang="en-US" altLang="ko-KR" sz="1200" dirty="0" smtClean="0">
                <a:ea typeface="굴림" charset="-127"/>
              </a:rPr>
              <a:t>&lt;bean class=</a:t>
            </a:r>
            <a:r>
              <a:rPr lang="en-US" altLang="ko-KR" sz="1200" i="1" dirty="0" smtClean="0">
                <a:ea typeface="굴림" charset="-127"/>
              </a:rPr>
              <a:t>"org.springframework.web.servlet.view.InternalResourceViewResolver" p:order="4" /&gt;</a:t>
            </a:r>
          </a:p>
          <a:p>
            <a:pPr eaLnBrk="1" hangingPunct="1"/>
            <a:endParaRPr lang="en-US" altLang="ko-KR" sz="2000" dirty="0" smtClean="0">
              <a:ea typeface="굴림" charset="-127"/>
            </a:endParaRPr>
          </a:p>
          <a:p>
            <a:pPr eaLnBrk="1" hangingPunct="1"/>
            <a:endParaRPr lang="en-US" altLang="ko-KR" sz="2000" dirty="0" smtClean="0">
              <a:ea typeface="굴림" charset="-127"/>
            </a:endParaRPr>
          </a:p>
          <a:p>
            <a:pPr eaLnBrk="1" hangingPunct="1"/>
            <a:endParaRPr lang="en-US" altLang="ko-KR" sz="2000" dirty="0" smtClean="0">
              <a:ea typeface="굴림" charset="-127"/>
            </a:endParaRPr>
          </a:p>
          <a:p>
            <a:pPr eaLnBrk="1" hangingPunct="1"/>
            <a:endParaRPr lang="ko-KR" altLang="en-US" sz="2000" dirty="0" smtClean="0">
              <a:ea typeface="굴림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395135" cy="461665"/>
            <a:chOff x="924910" y="1187669"/>
            <a:chExt cx="339513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웹 프로젝트 </a:t>
              </a:r>
              <a:r>
                <a:rPr lang="ko-KR" altLang="en-US" sz="2400" dirty="0" smtClean="0">
                  <a:ea typeface="굴림" charset="-127"/>
                </a:rPr>
                <a:t>환경설정</a:t>
              </a:r>
              <a:r>
                <a:rPr lang="en-US" altLang="ko-KR" sz="2400" dirty="0" smtClean="0">
                  <a:ea typeface="굴림" charset="-127"/>
                </a:rPr>
                <a:t>3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981200" y="1752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ko-KR" altLang="en-US" sz="2000" dirty="0">
                <a:ea typeface="굴림" charset="-127"/>
              </a:rPr>
              <a:t>팀원들이 </a:t>
            </a:r>
            <a:r>
              <a:rPr lang="en-US" altLang="ko-KR" sz="2000" dirty="0" err="1">
                <a:ea typeface="굴림" charset="-127"/>
              </a:rPr>
              <a:t>Controll</a:t>
            </a:r>
            <a:r>
              <a:rPr lang="en-US" altLang="ko-KR" sz="2000" dirty="0">
                <a:ea typeface="굴림" charset="-127"/>
              </a:rPr>
              <a:t>, Service, DAO, DTO(VO), Mapper.xml</a:t>
            </a:r>
            <a:r>
              <a:rPr lang="ko-KR" altLang="en-US" sz="2000" dirty="0">
                <a:ea typeface="굴림" charset="-127"/>
              </a:rPr>
              <a:t>을 각자 작업할 수 있도록</a:t>
            </a:r>
            <a:r>
              <a:rPr lang="en-US" altLang="ko-KR" sz="2000" dirty="0">
                <a:ea typeface="굴림" charset="-127"/>
              </a:rPr>
              <a:t>, </a:t>
            </a:r>
            <a:r>
              <a:rPr lang="ko-KR" altLang="en-US" sz="2000" dirty="0">
                <a:ea typeface="굴림" charset="-127"/>
              </a:rPr>
              <a:t>패키지 분리</a:t>
            </a:r>
            <a:endParaRPr lang="en-US" altLang="ko-KR" sz="2000" dirty="0">
              <a:ea typeface="굴림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ko-KR" sz="2000" dirty="0">
              <a:ea typeface="굴림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ko-KR" sz="2000" dirty="0">
              <a:ea typeface="굴림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ko-KR" sz="2000" dirty="0">
              <a:ea typeface="굴림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ko-KR" altLang="en-US" sz="2000" dirty="0">
              <a:ea typeface="굴림" charset="-127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7738" y="2565400"/>
            <a:ext cx="2676525" cy="292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395135" cy="461665"/>
            <a:chOff x="924910" y="1187669"/>
            <a:chExt cx="339513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웹 프로젝트 </a:t>
              </a:r>
              <a:r>
                <a:rPr lang="ko-KR" altLang="en-US" sz="2400" dirty="0" smtClean="0">
                  <a:ea typeface="굴림" charset="-127"/>
                </a:rPr>
                <a:t>환경설정</a:t>
              </a:r>
              <a:r>
                <a:rPr lang="en-US" altLang="ko-KR" sz="2400" dirty="0" smtClean="0">
                  <a:ea typeface="굴림" charset="-127"/>
                </a:rPr>
                <a:t>4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981200" y="1628775"/>
            <a:ext cx="8229600" cy="4649788"/>
            <a:chOff x="609600" y="1628775"/>
            <a:chExt cx="8229600" cy="4649788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148263" y="1628775"/>
              <a:ext cx="3333750" cy="454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내용 개체 틀 2"/>
            <p:cNvSpPr txBox="1">
              <a:spLocks/>
            </p:cNvSpPr>
            <p:nvPr/>
          </p:nvSpPr>
          <p:spPr bwMode="auto">
            <a:xfrm>
              <a:off x="609600" y="1752600"/>
              <a:ext cx="8229600" cy="4525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US" altLang="ko-KR" sz="2000" dirty="0" err="1">
                  <a:ea typeface="굴림" charset="-127"/>
                </a:rPr>
                <a:t>Json</a:t>
              </a:r>
              <a:r>
                <a:rPr lang="en-US" altLang="ko-KR" sz="2000" dirty="0">
                  <a:ea typeface="굴림" charset="-127"/>
                </a:rPr>
                <a:t> </a:t>
              </a:r>
              <a:r>
                <a:rPr lang="ko-KR" altLang="en-US" sz="2000" dirty="0">
                  <a:ea typeface="굴림" charset="-127"/>
                </a:rPr>
                <a:t>처리 지원 설정 및 테스트</a:t>
              </a: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ko-KR" altLang="en-US" sz="2000" dirty="0">
                <a:ea typeface="굴림" charset="-127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395135" cy="461665"/>
            <a:chOff x="924910" y="1187669"/>
            <a:chExt cx="339513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342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웹 프로젝트 </a:t>
              </a:r>
              <a:r>
                <a:rPr lang="ko-KR" altLang="en-US" sz="2400" dirty="0" smtClean="0">
                  <a:ea typeface="굴림" charset="-127"/>
                </a:rPr>
                <a:t>환경설정</a:t>
              </a:r>
              <a:r>
                <a:rPr lang="en-US" altLang="ko-KR" sz="2400" dirty="0" smtClean="0">
                  <a:ea typeface="굴림" charset="-127"/>
                </a:rPr>
                <a:t>5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981200" y="1752600"/>
            <a:ext cx="8229600" cy="4700588"/>
            <a:chOff x="609600" y="1752600"/>
            <a:chExt cx="8229600" cy="4700588"/>
          </a:xfrm>
        </p:grpSpPr>
        <p:sp>
          <p:nvSpPr>
            <p:cNvPr id="10" name="내용 개체 틀 2"/>
            <p:cNvSpPr txBox="1">
              <a:spLocks/>
            </p:cNvSpPr>
            <p:nvPr/>
          </p:nvSpPr>
          <p:spPr bwMode="auto">
            <a:xfrm>
              <a:off x="609600" y="1752600"/>
              <a:ext cx="8229600" cy="4525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US" altLang="ko-KR" sz="2000" dirty="0">
                  <a:ea typeface="굴림" charset="-127"/>
                </a:rPr>
                <a:t>DB </a:t>
              </a:r>
              <a:r>
                <a:rPr lang="ko-KR" altLang="en-US" sz="2000" dirty="0">
                  <a:ea typeface="굴림" charset="-127"/>
                </a:rPr>
                <a:t>처리결과 테스트</a:t>
              </a: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altLang="ko-KR" sz="2000" dirty="0">
                <a:ea typeface="굴림" charset="-127"/>
              </a:endParaRP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ko-KR" altLang="en-US" sz="2000" dirty="0">
                <a:ea typeface="굴림" charset="-127"/>
              </a:endParaRPr>
            </a:p>
          </p:txBody>
        </p:sp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42988" y="2128838"/>
              <a:ext cx="6019800" cy="432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308846" cy="461665"/>
            <a:chOff x="924910" y="1187669"/>
            <a:chExt cx="430884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2562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err="1" smtClean="0">
                  <a:ea typeface="굴림" charset="-127"/>
                </a:rPr>
                <a:t>소셜</a:t>
              </a:r>
              <a:r>
                <a:rPr lang="ko-KR" altLang="en-US" sz="2400" dirty="0" smtClean="0">
                  <a:ea typeface="굴림" charset="-127"/>
                </a:rPr>
                <a:t> 공유 기본 설정</a:t>
              </a:r>
              <a:r>
                <a:rPr lang="en-US" altLang="ko-KR" sz="2400" dirty="0" smtClean="0">
                  <a:ea typeface="굴림" charset="-127"/>
                </a:rPr>
                <a:t>(</a:t>
              </a:r>
              <a:r>
                <a:rPr lang="ko-KR" altLang="en-US" sz="2400" dirty="0" err="1" smtClean="0">
                  <a:ea typeface="굴림" charset="-127"/>
                </a:rPr>
                <a:t>진행중</a:t>
              </a:r>
              <a:r>
                <a:rPr lang="en-US" altLang="ko-KR" sz="2400" dirty="0" smtClean="0">
                  <a:ea typeface="굴림" charset="-127"/>
                </a:rPr>
                <a:t>)1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981200" y="178992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ko-KR" altLang="en-US" sz="2000" dirty="0">
                <a:ea typeface="굴림" charset="-127"/>
              </a:rPr>
              <a:t>메타파일 설정</a:t>
            </a:r>
            <a:r>
              <a:rPr lang="en-US" altLang="ko-KR" sz="2000" dirty="0">
                <a:ea typeface="굴림" charset="-127"/>
              </a:rPr>
              <a:t>: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&lt;meta property="</a:t>
            </a:r>
            <a:r>
              <a:rPr lang="en-US" altLang="ko-KR" sz="1200" dirty="0" err="1">
                <a:ea typeface="굴림" charset="-127"/>
              </a:rPr>
              <a:t>og:type</a:t>
            </a:r>
            <a:r>
              <a:rPr lang="en-US" altLang="ko-KR" sz="1200" dirty="0">
                <a:ea typeface="굴림" charset="-127"/>
              </a:rPr>
              <a:t>" content="website" /&gt;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&lt;meta property="</a:t>
            </a:r>
            <a:r>
              <a:rPr lang="en-US" altLang="ko-KR" sz="1200" dirty="0" err="1">
                <a:ea typeface="굴림" charset="-127"/>
              </a:rPr>
              <a:t>og:site_name</a:t>
            </a:r>
            <a:r>
              <a:rPr lang="en-US" altLang="ko-KR" sz="1200" dirty="0">
                <a:ea typeface="굴림" charset="-127"/>
              </a:rPr>
              <a:t>" content="Dear My Pet" /&gt;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&lt;meta property="</a:t>
            </a:r>
            <a:r>
              <a:rPr lang="en-US" altLang="ko-KR" sz="1200" dirty="0" err="1">
                <a:ea typeface="굴림" charset="-127"/>
              </a:rPr>
              <a:t>og:url</a:t>
            </a:r>
            <a:r>
              <a:rPr lang="en-US" altLang="ko-KR" sz="1200" dirty="0">
                <a:ea typeface="굴림" charset="-127"/>
              </a:rPr>
              <a:t>" content="https://dev.dearmypet.net/?" /&gt;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ko-KR" sz="2000" dirty="0">
              <a:ea typeface="굴림" charset="-127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ko-KR" altLang="en-US" sz="2000" dirty="0">
              <a:ea typeface="굴림" charset="-127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8913" y="3023896"/>
            <a:ext cx="6734175" cy="1895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308846" cy="461665"/>
            <a:chOff x="924910" y="1187669"/>
            <a:chExt cx="430884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2562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err="1" smtClean="0">
                  <a:ea typeface="굴림" charset="-127"/>
                </a:rPr>
                <a:t>소셜</a:t>
              </a:r>
              <a:r>
                <a:rPr lang="ko-KR" altLang="en-US" sz="2400" dirty="0" smtClean="0">
                  <a:ea typeface="굴림" charset="-127"/>
                </a:rPr>
                <a:t> 공유 기본 설정</a:t>
              </a:r>
              <a:r>
                <a:rPr lang="en-US" altLang="ko-KR" sz="2400" dirty="0" smtClean="0">
                  <a:ea typeface="굴림" charset="-127"/>
                </a:rPr>
                <a:t>(</a:t>
              </a:r>
              <a:r>
                <a:rPr lang="ko-KR" altLang="en-US" sz="2400" dirty="0" err="1" smtClean="0">
                  <a:ea typeface="굴림" charset="-127"/>
                </a:rPr>
                <a:t>진행중</a:t>
              </a:r>
              <a:r>
                <a:rPr lang="en-US" altLang="ko-KR" sz="2400" dirty="0" smtClean="0">
                  <a:ea typeface="굴림" charset="-127"/>
                </a:rPr>
                <a:t>)2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981200" y="1752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ko-KR" altLang="en-US" sz="2000" dirty="0">
                <a:ea typeface="굴림" charset="-127"/>
              </a:rPr>
              <a:t>자바스크립트 설정</a:t>
            </a:r>
            <a:r>
              <a:rPr lang="en-US" altLang="ko-KR" sz="2000" dirty="0">
                <a:ea typeface="굴림" charset="-127"/>
              </a:rPr>
              <a:t>: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&lt;script&gt;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</a:t>
            </a:r>
            <a:r>
              <a:rPr lang="en-US" altLang="ko-KR" sz="1200" dirty="0" err="1">
                <a:ea typeface="굴림" charset="-127"/>
              </a:rPr>
              <a:t>var</a:t>
            </a:r>
            <a:r>
              <a:rPr lang="en-US" altLang="ko-KR" sz="1200" dirty="0">
                <a:ea typeface="굴림" charset="-127"/>
              </a:rPr>
              <a:t> </a:t>
            </a:r>
            <a:r>
              <a:rPr lang="en-US" altLang="ko-KR" sz="1200" dirty="0" err="1">
                <a:ea typeface="굴림" charset="-127"/>
              </a:rPr>
              <a:t>orginUrl</a:t>
            </a:r>
            <a:r>
              <a:rPr lang="en-US" altLang="ko-KR" sz="1200" dirty="0">
                <a:ea typeface="굴림" charset="-127"/>
              </a:rPr>
              <a:t> = "http://dearmypet.netnull";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</a:t>
            </a:r>
            <a:r>
              <a:rPr lang="en-US" altLang="ko-KR" sz="1200" dirty="0" err="1">
                <a:ea typeface="굴림" charset="-127"/>
              </a:rPr>
              <a:t>var</a:t>
            </a:r>
            <a:r>
              <a:rPr lang="en-US" altLang="ko-KR" sz="1200" dirty="0">
                <a:ea typeface="굴림" charset="-127"/>
              </a:rPr>
              <a:t> </a:t>
            </a:r>
            <a:r>
              <a:rPr lang="en-US" altLang="ko-KR" sz="1200" dirty="0" err="1">
                <a:ea typeface="굴림" charset="-127"/>
              </a:rPr>
              <a:t>encodeUrl</a:t>
            </a:r>
            <a:r>
              <a:rPr lang="en-US" altLang="ko-KR" sz="1200" dirty="0">
                <a:ea typeface="굴림" charset="-127"/>
              </a:rPr>
              <a:t> = </a:t>
            </a:r>
            <a:r>
              <a:rPr lang="en-US" altLang="ko-KR" sz="1200" dirty="0" err="1">
                <a:ea typeface="굴림" charset="-127"/>
              </a:rPr>
              <a:t>encodeURIComponent</a:t>
            </a:r>
            <a:r>
              <a:rPr lang="en-US" altLang="ko-KR" sz="1200" dirty="0">
                <a:ea typeface="굴림" charset="-127"/>
              </a:rPr>
              <a:t>(</a:t>
            </a:r>
            <a:r>
              <a:rPr lang="en-US" altLang="ko-KR" sz="1200" dirty="0" err="1">
                <a:ea typeface="굴림" charset="-127"/>
              </a:rPr>
              <a:t>orginUrl</a:t>
            </a:r>
            <a:r>
              <a:rPr lang="en-US" altLang="ko-KR" sz="1200" dirty="0">
                <a:ea typeface="굴림" charset="-127"/>
              </a:rPr>
              <a:t>);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</a:t>
            </a:r>
            <a:r>
              <a:rPr lang="en-US" altLang="ko-KR" sz="1200" dirty="0" err="1">
                <a:ea typeface="굴림" charset="-127"/>
              </a:rPr>
              <a:t>var</a:t>
            </a:r>
            <a:r>
              <a:rPr lang="en-US" altLang="ko-KR" sz="1200" dirty="0">
                <a:ea typeface="굴림" charset="-127"/>
              </a:rPr>
              <a:t> </a:t>
            </a:r>
            <a:r>
              <a:rPr lang="en-US" altLang="ko-KR" sz="1200" dirty="0" err="1">
                <a:ea typeface="굴림" charset="-127"/>
              </a:rPr>
              <a:t>snsShare</a:t>
            </a:r>
            <a:r>
              <a:rPr lang="en-US" altLang="ko-KR" sz="1200" dirty="0">
                <a:ea typeface="굴림" charset="-127"/>
              </a:rPr>
              <a:t> = {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</a:t>
            </a:r>
            <a:r>
              <a:rPr lang="en-US" altLang="ko-KR" sz="1200" dirty="0" err="1">
                <a:ea typeface="굴림" charset="-127"/>
              </a:rPr>
              <a:t>shareFb</a:t>
            </a:r>
            <a:r>
              <a:rPr lang="en-US" altLang="ko-KR" sz="1200" dirty="0">
                <a:ea typeface="굴림" charset="-127"/>
              </a:rPr>
              <a:t> : function(){ //</a:t>
            </a:r>
            <a:r>
              <a:rPr lang="ko-KR" altLang="en-US" sz="1200" dirty="0" err="1">
                <a:ea typeface="굴림" charset="-127"/>
              </a:rPr>
              <a:t>페이스북</a:t>
            </a:r>
            <a:r>
              <a:rPr lang="ko-KR" altLang="en-US" sz="1200" dirty="0">
                <a:ea typeface="굴림" charset="-127"/>
              </a:rPr>
              <a:t>			</a:t>
            </a:r>
          </a:p>
          <a:p>
            <a:pPr marL="800100" lvl="1" indent="-342900">
              <a:spcBef>
                <a:spcPct val="20000"/>
              </a:spcBef>
            </a:pPr>
            <a:r>
              <a:rPr lang="ko-KR" altLang="en-US" sz="1200" dirty="0">
                <a:ea typeface="굴림" charset="-127"/>
              </a:rPr>
              <a:t>			</a:t>
            </a:r>
            <a:r>
              <a:rPr lang="en-US" altLang="ko-KR" sz="1200" dirty="0" err="1">
                <a:ea typeface="굴림" charset="-127"/>
              </a:rPr>
              <a:t>window.open</a:t>
            </a:r>
            <a:r>
              <a:rPr lang="en-US" altLang="ko-KR" sz="1200" dirty="0">
                <a:ea typeface="굴림" charset="-127"/>
              </a:rPr>
              <a:t>("http://www.facebook.com/sharer/sharer.php?u="+encodeUrl, 'shareOn2', "width=600, height=500, scrollbars=no");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},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</a:t>
            </a:r>
            <a:r>
              <a:rPr lang="en-US" altLang="ko-KR" sz="1200" dirty="0" err="1">
                <a:ea typeface="굴림" charset="-127"/>
              </a:rPr>
              <a:t>shareTw</a:t>
            </a:r>
            <a:r>
              <a:rPr lang="en-US" altLang="ko-KR" sz="1200" dirty="0">
                <a:ea typeface="굴림" charset="-127"/>
              </a:rPr>
              <a:t> : function(){ // </a:t>
            </a:r>
            <a:r>
              <a:rPr lang="ko-KR" altLang="en-US" sz="1200" dirty="0" err="1">
                <a:ea typeface="굴림" charset="-127"/>
              </a:rPr>
              <a:t>트위터</a:t>
            </a:r>
            <a:endParaRPr lang="ko-KR" altLang="en-US" sz="1200" dirty="0">
              <a:ea typeface="굴림" charset="-127"/>
            </a:endParaRPr>
          </a:p>
          <a:p>
            <a:pPr marL="800100" lvl="1" indent="-342900">
              <a:spcBef>
                <a:spcPct val="20000"/>
              </a:spcBef>
            </a:pPr>
            <a:r>
              <a:rPr lang="ko-KR" altLang="en-US" sz="1200" dirty="0">
                <a:ea typeface="굴림" charset="-127"/>
              </a:rPr>
              <a:t>				</a:t>
            </a:r>
            <a:r>
              <a:rPr lang="en-US" altLang="ko-KR" sz="1200" dirty="0">
                <a:ea typeface="굴림" charset="-127"/>
              </a:rPr>
              <a:t>//https://twitter.com/intent/tweet?text=TEXT&amp;url=PAGE_URL	</a:t>
            </a:r>
            <a:r>
              <a:rPr lang="en-US" altLang="ko-KR" sz="1200" dirty="0" err="1">
                <a:ea typeface="굴림" charset="-127"/>
              </a:rPr>
              <a:t>window.open</a:t>
            </a:r>
            <a:r>
              <a:rPr lang="en-US" altLang="ko-KR" sz="1200" dirty="0">
                <a:ea typeface="굴림" charset="-127"/>
              </a:rPr>
              <a:t>("https://twitter.com/intent/tweet?text="+jQuery("#og_title").attr("content")+"&amp;url=http://dearmypet.netnull", "_</a:t>
            </a:r>
            <a:r>
              <a:rPr lang="en-US" altLang="ko-KR" sz="1200" dirty="0" err="1">
                <a:ea typeface="굴림" charset="-127"/>
              </a:rPr>
              <a:t>blank","toolbar</a:t>
            </a:r>
            <a:r>
              <a:rPr lang="en-US" altLang="ko-KR" sz="1200" dirty="0">
                <a:ea typeface="굴림" charset="-127"/>
              </a:rPr>
              <a:t>=0,status=0,width=626,height=436");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},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</a:t>
            </a:r>
            <a:r>
              <a:rPr lang="en-US" altLang="ko-KR" sz="1200" dirty="0" err="1">
                <a:ea typeface="굴림" charset="-127"/>
              </a:rPr>
              <a:t>shareGp</a:t>
            </a:r>
            <a:r>
              <a:rPr lang="en-US" altLang="ko-KR" sz="1200" dirty="0">
                <a:ea typeface="굴림" charset="-127"/>
              </a:rPr>
              <a:t> : function(){ // </a:t>
            </a:r>
            <a:r>
              <a:rPr lang="ko-KR" altLang="en-US" sz="1200" dirty="0" err="1">
                <a:ea typeface="굴림" charset="-127"/>
              </a:rPr>
              <a:t>구글</a:t>
            </a:r>
            <a:r>
              <a:rPr lang="ko-KR" altLang="en-US" sz="1200" dirty="0">
                <a:ea typeface="굴림" charset="-127"/>
              </a:rPr>
              <a:t> 플러스</a:t>
            </a:r>
          </a:p>
          <a:p>
            <a:pPr marL="800100" lvl="1" indent="-342900">
              <a:spcBef>
                <a:spcPct val="20000"/>
              </a:spcBef>
            </a:pPr>
            <a:r>
              <a:rPr lang="ko-KR" altLang="en-US" sz="1200" dirty="0">
                <a:ea typeface="굴림" charset="-127"/>
              </a:rPr>
              <a:t>				</a:t>
            </a:r>
            <a:r>
              <a:rPr lang="en-US" altLang="ko-KR" sz="1200" dirty="0" err="1">
                <a:ea typeface="굴림" charset="-127"/>
              </a:rPr>
              <a:t>window.open</a:t>
            </a:r>
            <a:r>
              <a:rPr lang="en-US" altLang="ko-KR" sz="1200" dirty="0">
                <a:ea typeface="굴림" charset="-127"/>
              </a:rPr>
              <a:t>("https://plus.google.com/share?url=http://dearmypet.netnull", "</a:t>
            </a:r>
            <a:r>
              <a:rPr lang="en-US" altLang="ko-KR" sz="1200" dirty="0" err="1">
                <a:ea typeface="굴림" charset="-127"/>
              </a:rPr>
              <a:t>sharer","toolbar</a:t>
            </a:r>
            <a:r>
              <a:rPr lang="en-US" altLang="ko-KR" sz="1200" dirty="0">
                <a:ea typeface="굴림" charset="-127"/>
              </a:rPr>
              <a:t>=0,status=0,width=626,height=436");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	}				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		};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altLang="ko-KR" sz="1200" dirty="0">
                <a:ea typeface="굴림" charset="-127"/>
              </a:rPr>
              <a:t>&lt;/script&gt;</a:t>
            </a:r>
            <a:endParaRPr lang="ko-KR" altLang="en-US" sz="2000" dirty="0">
              <a:ea typeface="굴림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722147" cy="461665"/>
            <a:chOff x="924910" y="1187669"/>
            <a:chExt cx="372214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669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ea typeface="굴림" charset="-127"/>
                </a:rPr>
                <a:t>페이스 북 로그인</a:t>
              </a:r>
              <a:r>
                <a:rPr lang="en-US" altLang="ko-KR" sz="2400" dirty="0" smtClean="0">
                  <a:ea typeface="굴림" charset="-127"/>
                </a:rPr>
                <a:t>(</a:t>
              </a:r>
              <a:r>
                <a:rPr lang="ko-KR" altLang="en-US" sz="2400" dirty="0" err="1" smtClean="0">
                  <a:ea typeface="굴림" charset="-127"/>
                </a:rPr>
                <a:t>진행중</a:t>
              </a:r>
              <a:r>
                <a:rPr lang="en-US" altLang="ko-KR" sz="2400" dirty="0" smtClean="0">
                  <a:ea typeface="굴림" charset="-127"/>
                </a:rPr>
                <a:t>)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이연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63" y="1628775"/>
            <a:ext cx="6619875" cy="4095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186471" cy="461665"/>
            <a:chOff x="924910" y="1187669"/>
            <a:chExt cx="2186471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1339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동물정보 출력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하금호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kitcoop\Desktop\파이널 프로젝트 자료\다른 팀원들 자료\금호씨\하금호_동물정보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835" y="1327863"/>
            <a:ext cx="6315075" cy="428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016618" y="1343608"/>
            <a:ext cx="45993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부트스트랩으로 작성을 하였으며 일정</a:t>
            </a:r>
          </a:p>
          <a:p>
            <a:r>
              <a:rPr lang="ko-KR" altLang="en-US" dirty="0" smtClean="0"/>
              <a:t>시간이 지나게 되며 자동으로 사진이</a:t>
            </a:r>
          </a:p>
          <a:p>
            <a:r>
              <a:rPr lang="ko-KR" altLang="en-US" dirty="0" smtClean="0"/>
              <a:t>다음으로 변경 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고양이 이름 클릭 시 별도의 </a:t>
            </a:r>
            <a:r>
              <a:rPr lang="ko-KR" altLang="en-US" dirty="0" err="1" smtClean="0"/>
              <a:t>모달창이</a:t>
            </a:r>
            <a:r>
              <a:rPr lang="ko-KR" altLang="en-US" dirty="0" smtClean="0"/>
              <a:t> 나와</a:t>
            </a:r>
          </a:p>
          <a:p>
            <a:r>
              <a:rPr lang="ko-KR" altLang="en-US" dirty="0" smtClean="0"/>
              <a:t>상세정보를 보여 줍니다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*</a:t>
            </a:r>
            <a:r>
              <a:rPr lang="ko-KR" altLang="en-US" dirty="0" err="1" smtClean="0"/>
              <a:t>모달창은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구현중</a:t>
            </a:r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3827946" cy="461665"/>
            <a:chOff x="924910" y="1187669"/>
            <a:chExt cx="382794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7753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디자인 구성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3862913" y="1268963"/>
            <a:ext cx="4466174" cy="5295730"/>
            <a:chOff x="2959719" y="1268963"/>
            <a:chExt cx="4466174" cy="5295730"/>
          </a:xfrm>
        </p:grpSpPr>
        <p:pic>
          <p:nvPicPr>
            <p:cNvPr id="9" name="Picture 2" descr="C:\Users\kitcoop\Desktop\목록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66107" y="1343405"/>
              <a:ext cx="2659786" cy="45908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2" name="Picture 2" descr="\\192.168.0.57\화면구현프로젝트\배진환\171018 배진환\캡처3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59719" y="1268963"/>
              <a:ext cx="1458227" cy="529573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238314" cy="461665"/>
            <a:chOff x="924910" y="1187669"/>
            <a:chExt cx="423831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1857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타일즈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구현 상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C:\Users\kitcoop\Desktop\he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3176" y="1132652"/>
            <a:ext cx="7325648" cy="4831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238314" cy="461665"/>
            <a:chOff x="924910" y="1187669"/>
            <a:chExt cx="423831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1857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타일즈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구현 하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foo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0388" y="1384300"/>
            <a:ext cx="5991225" cy="4943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853867" cy="461665"/>
            <a:chOff x="924910" y="1187669"/>
            <a:chExt cx="485386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타일즈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구현 사이드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si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5431" y="863281"/>
            <a:ext cx="8401139" cy="5589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956460" cy="461665"/>
            <a:chOff x="924910" y="1187669"/>
            <a:chExt cx="4956460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9039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일반</a:t>
              </a:r>
              <a:r>
                <a:rPr lang="ko-KR" altLang="en-US" sz="2400" dirty="0" smtClean="0"/>
                <a:t>회원관리페이지</a:t>
              </a:r>
              <a:endParaRPr lang="en-US" altLang="ko-KR" sz="2400" dirty="0" smtClean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테이블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9109" y="1021854"/>
            <a:ext cx="7833783" cy="48142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5059052" cy="461665"/>
            <a:chOff x="924910" y="1187669"/>
            <a:chExt cx="505905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50064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단체회원 관리페이지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테이블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4865" y="1129866"/>
            <a:ext cx="7482270" cy="45982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5059052" cy="461665"/>
            <a:chOff x="924910" y="1187669"/>
            <a:chExt cx="505905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50064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전체회원 관리페이지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리플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7291" y="1340768"/>
            <a:ext cx="6237419" cy="4176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802024" cy="461665"/>
            <a:chOff x="924910" y="1187669"/>
            <a:chExt cx="28020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7494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분양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3" descr="C:\Users\kitcoop\Desktop\리플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84832" y="1412776"/>
            <a:ext cx="6022336" cy="4032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648683" cy="461665"/>
            <a:chOff x="924910" y="1187669"/>
            <a:chExt cx="4648683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5961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로그인기록게시판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히스토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5402" y="1138436"/>
            <a:ext cx="6881196" cy="4581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312052" cy="461665"/>
            <a:chOff x="924910" y="1187669"/>
            <a:chExt cx="431205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2594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구현된 페이지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\\192.168.0.57\화면구현프로젝트\배진환\171018 배진환\캡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3553" y="1426468"/>
            <a:ext cx="8684894" cy="4005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312052" cy="461665"/>
            <a:chOff x="924910" y="1187669"/>
            <a:chExt cx="431205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2594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 구현된 페이지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\\192.168.0.57\화면구현프로젝트\배진환\171018 배진환\캡처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8339" y="1304764"/>
            <a:ext cx="9195323" cy="4248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083878" cy="461665"/>
            <a:chOff x="924910" y="1187669"/>
            <a:chExt cx="208387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관리자페이지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C:\Users\kitcoop\Desktop\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957" y="1586215"/>
            <a:ext cx="5391361" cy="4235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3" descr="C:\Users\kitcoop\Desktop\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6067" y="1586204"/>
            <a:ext cx="5296651" cy="4348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904616" cy="461665"/>
            <a:chOff x="924910" y="1187669"/>
            <a:chExt cx="290461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852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게시판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페이징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처리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캡처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86" y="1248040"/>
            <a:ext cx="5420629" cy="436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494247" cy="461665"/>
            <a:chOff x="924910" y="1187669"/>
            <a:chExt cx="249424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4416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게시판 컨트롤러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3" descr="C:\Users\kitcoop\Desktop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0557" y="446881"/>
            <a:ext cx="5830887" cy="5964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1878694" cy="461665"/>
            <a:chOff x="924910" y="1187669"/>
            <a:chExt cx="18786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826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게시판 검색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057469" y="974322"/>
            <a:ext cx="10077062" cy="4909356"/>
            <a:chOff x="895738" y="1567543"/>
            <a:chExt cx="10077062" cy="4909356"/>
          </a:xfrm>
        </p:grpSpPr>
        <p:pic>
          <p:nvPicPr>
            <p:cNvPr id="8" name="Picture 3" descr="C:\Users\kitcoop\Desktop\캡처4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95738" y="1567543"/>
              <a:ext cx="6332783" cy="2628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9" name="Picture 4" descr="C:\Users\kitcoop\Desktop\캡처5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478260" y="1567543"/>
              <a:ext cx="3494540" cy="47942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0" name="Picture 5" descr="C:\Users\kitcoop\Desktop\캡처16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42346" y="4390924"/>
              <a:ext cx="3686175" cy="20859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904616" cy="461665"/>
            <a:chOff x="924910" y="1187669"/>
            <a:chExt cx="290461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852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게시판 글 상세보기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캡처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9753" y="1278902"/>
            <a:ext cx="8072494" cy="430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1570917" cy="461665"/>
            <a:chOff x="924910" y="1187669"/>
            <a:chExt cx="157091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518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버튼 추가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2" descr="C:\Users\kitcoop\Desktop\캡처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34" y="1982776"/>
            <a:ext cx="8143932" cy="2892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부제목 2"/>
          <p:cNvSpPr txBox="1">
            <a:spLocks/>
          </p:cNvSpPr>
          <p:nvPr/>
        </p:nvSpPr>
        <p:spPr>
          <a:xfrm>
            <a:off x="2872636" y="5105400"/>
            <a:ext cx="6400800" cy="90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댓글 댓글 추가 게시물 삭제 닫기버튼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4443499" cy="461665"/>
            <a:chOff x="924910" y="1187669"/>
            <a:chExt cx="444349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43909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글 삭제 기능 및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댓글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컨트롤러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3" descr="C:\Users\kitcoop\Desktop\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4761" y="1608910"/>
            <a:ext cx="4881973" cy="39698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3" descr="C:\Users\kitcoop\Desktop\캡처1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2055" y="1548278"/>
            <a:ext cx="1171575" cy="904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494247" cy="461665"/>
            <a:chOff x="924910" y="1187669"/>
            <a:chExt cx="249424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4416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관리자 컨트롤러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576531" y="685800"/>
            <a:ext cx="9038939" cy="5486400"/>
            <a:chOff x="494200" y="998376"/>
            <a:chExt cx="9038939" cy="5486400"/>
          </a:xfrm>
        </p:grpSpPr>
        <p:pic>
          <p:nvPicPr>
            <p:cNvPr id="9" name="Picture 4" descr="C:\Users\kitcoop\Desktop\캡처11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4200" y="998376"/>
              <a:ext cx="2247900" cy="5486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12" name="Picture 2" descr="C:\Users\kitcoop\Desktop\2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40353" y="1698430"/>
              <a:ext cx="6092786" cy="47863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241738"/>
            <a:ext cx="2289063" cy="461665"/>
            <a:chOff x="924910" y="1187669"/>
            <a:chExt cx="2289063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2236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선택 삭제 기능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배진환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Picture 3" descr="C:\Users\kitcoop\Desktop\캡처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3175" y="964401"/>
            <a:ext cx="7505650" cy="4929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2289063" cy="461665"/>
            <a:chOff x="924910" y="1187669"/>
            <a:chExt cx="228906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236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기능 투표 제작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3193" y="466264"/>
            <a:ext cx="5168448" cy="5982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61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209839"/>
            <a:ext cx="1442677" cy="461665"/>
            <a:chOff x="924910" y="1155770"/>
            <a:chExt cx="144267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55770"/>
              <a:ext cx="13901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A.I.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C:\Users\kitcoop\Desktop\ai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275" y="838200"/>
            <a:ext cx="5162550" cy="5067300"/>
          </a:xfrm>
          <a:prstGeom prst="rect">
            <a:avLst/>
          </a:prstGeom>
          <a:noFill/>
        </p:spPr>
      </p:pic>
      <p:pic>
        <p:nvPicPr>
          <p:cNvPr id="1027" name="Picture 3" descr="C:\Users\kitcoop\Desktop\ai_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9050"/>
            <a:ext cx="5172075" cy="631666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852772" cy="461665"/>
            <a:chOff x="924910" y="1145137"/>
            <a:chExt cx="85277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로고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690920" y="967551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latin typeface="+mj-lt"/>
              </a:rPr>
              <a:t>글씨가 써지는 효과로 로고 디자인</a:t>
            </a:r>
            <a:endParaRPr lang="ko-KR" altLang="en-US" sz="3200" dirty="0">
              <a:latin typeface="+mj-lt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2550870" y="2211788"/>
            <a:ext cx="7074304" cy="3408620"/>
            <a:chOff x="2550870" y="2211788"/>
            <a:chExt cx="7074304" cy="34086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29399" y="2211788"/>
              <a:ext cx="4295775" cy="10096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29399" y="3558911"/>
              <a:ext cx="3448050" cy="8286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29399" y="4725058"/>
              <a:ext cx="3695700" cy="895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4" name="타원 13"/>
            <p:cNvSpPr/>
            <p:nvPr/>
          </p:nvSpPr>
          <p:spPr>
            <a:xfrm>
              <a:off x="2550870" y="2583706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2550870" y="3840341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2550870" y="5039826"/>
              <a:ext cx="199361" cy="2658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78434" y="2516558"/>
              <a:ext cx="2326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smtClean="0"/>
                <a:t>아무것도 </a:t>
              </a:r>
              <a:r>
                <a:rPr lang="ko-KR" altLang="en-US" sz="2000" dirty="0" err="1" smtClean="0"/>
                <a:t>없는상태</a:t>
              </a:r>
              <a:endParaRPr lang="ko-KR" altLang="en-US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16906" y="3773193"/>
              <a:ext cx="1556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smtClean="0"/>
                <a:t>그려지는 중</a:t>
              </a:r>
              <a:endParaRPr lang="ko-KR" altLang="en-US" sz="2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04081" y="4972678"/>
              <a:ext cx="18133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err="1" smtClean="0"/>
                <a:t>다그려진</a:t>
              </a:r>
              <a:r>
                <a:rPr lang="ko-KR" altLang="en-US" sz="2000" dirty="0" smtClean="0"/>
                <a:t> 상태</a:t>
              </a:r>
              <a:endParaRPr lang="ko-KR" altLang="en-US" sz="2000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6390" y="1728172"/>
            <a:ext cx="8261504" cy="436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 smtClean="0"/>
              <a:t>팝업되는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로그인창</a:t>
            </a:r>
            <a:r>
              <a:rPr lang="ko-KR" altLang="en-US" sz="3200" dirty="0" smtClean="0"/>
              <a:t> 디자인</a:t>
            </a:r>
            <a:endParaRPr lang="ko-KR" alt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기본 회원가입 페이지 디자인</a:t>
            </a:r>
            <a:endParaRPr lang="ko-KR" altLang="en-US" sz="32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553" y="1860562"/>
            <a:ext cx="8151848" cy="45162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반려동물 백과사전 페이지 디자인</a:t>
            </a:r>
            <a:endParaRPr lang="ko-KR" altLang="en-US" sz="3200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4374" y="1747056"/>
            <a:ext cx="8668192" cy="48431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공지사항 게시판 디자인</a:t>
            </a:r>
            <a:endParaRPr lang="ko-KR" altLang="en-US" sz="32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3954" y="1961483"/>
            <a:ext cx="6338223" cy="40917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회사 소개 페이지 디자인</a:t>
            </a:r>
            <a:endParaRPr lang="ko-KR" altLang="en-US" sz="3200" dirty="0"/>
          </a:p>
        </p:txBody>
      </p:sp>
      <p:grpSp>
        <p:nvGrpSpPr>
          <p:cNvPr id="16" name="그룹 15"/>
          <p:cNvGrpSpPr/>
          <p:nvPr/>
        </p:nvGrpSpPr>
        <p:grpSpPr>
          <a:xfrm>
            <a:off x="6826860" y="1890792"/>
            <a:ext cx="2900506" cy="4081314"/>
            <a:chOff x="6273967" y="2102342"/>
            <a:chExt cx="2900506" cy="4081314"/>
          </a:xfrm>
        </p:grpSpPr>
        <p:grpSp>
          <p:nvGrpSpPr>
            <p:cNvPr id="15" name="그룹 14"/>
            <p:cNvGrpSpPr/>
            <p:nvPr/>
          </p:nvGrpSpPr>
          <p:grpSpPr>
            <a:xfrm>
              <a:off x="6273967" y="2102342"/>
              <a:ext cx="2889871" cy="3038571"/>
              <a:chOff x="6273967" y="2102342"/>
              <a:chExt cx="2889871" cy="3038571"/>
            </a:xfrm>
          </p:grpSpPr>
          <p:pic>
            <p:nvPicPr>
              <p:cNvPr id="25606" name="Picture 6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273967" y="2102342"/>
                <a:ext cx="2880000" cy="18520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607" name="Picture 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283838" y="3276836"/>
                <a:ext cx="2880000" cy="1864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5608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94473" y="4343400"/>
              <a:ext cx="2880000" cy="1840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그룹 13"/>
          <p:cNvGrpSpPr/>
          <p:nvPr/>
        </p:nvGrpSpPr>
        <p:grpSpPr>
          <a:xfrm>
            <a:off x="2558699" y="1800494"/>
            <a:ext cx="2902815" cy="4261911"/>
            <a:chOff x="2005806" y="1657977"/>
            <a:chExt cx="2902815" cy="4261911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09570" y="1657977"/>
              <a:ext cx="2880000" cy="1756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4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28621" y="4049757"/>
              <a:ext cx="2880000" cy="1870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3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005806" y="2851298"/>
              <a:ext cx="2880000" cy="1840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TextBox 17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160549" cy="461665"/>
            <a:chOff x="924910" y="1145137"/>
            <a:chExt cx="1160549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디자인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멤버 전체 디자인 통합작업</a:t>
            </a:r>
            <a:endParaRPr lang="ko-KR" altLang="en-US" sz="32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5037" y="1798299"/>
            <a:ext cx="2222648" cy="47063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7926" y="1798299"/>
            <a:ext cx="2052724" cy="47267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0891" y="1798299"/>
            <a:ext cx="4927261" cy="41303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1468325" cy="461665"/>
            <a:chOff x="924910" y="1145137"/>
            <a:chExt cx="146832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업무분담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" name="Picture 1" descr="C:\Users\kitcoop\Documents\카카오톡 받은 파일\KakaoTalk_20171019_15404366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155" y="1747408"/>
            <a:ext cx="11023790" cy="4787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업무분담을 위한 표 작성</a:t>
            </a:r>
            <a:endParaRPr lang="ko-KR" alt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852772" cy="461665"/>
            <a:chOff x="924910" y="1145137"/>
            <a:chExt cx="85277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코딩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90035" y="967556"/>
            <a:ext cx="6794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추가 </a:t>
            </a:r>
            <a:r>
              <a:rPr lang="ko-KR" altLang="en-US" sz="3200" dirty="0" err="1" smtClean="0"/>
              <a:t>코딩한</a:t>
            </a:r>
            <a:r>
              <a:rPr lang="ko-KR" altLang="en-US" sz="3200" dirty="0" smtClean="0"/>
              <a:t> 내용</a:t>
            </a:r>
            <a:endParaRPr lang="ko-KR" altLang="en-US" sz="32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0164" y="2122633"/>
            <a:ext cx="7010400" cy="1762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2562952" y="3998855"/>
            <a:ext cx="705353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중복된 코딩 제거를 위해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js</a:t>
            </a:r>
            <a:r>
              <a:rPr lang="en-US" altLang="ko-KR" dirty="0" smtClean="0"/>
              <a:t> </a:t>
            </a:r>
            <a:r>
              <a:rPr lang="ko-KR" altLang="en-US" dirty="0" smtClean="0"/>
              <a:t>부분을 분리 했으나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ko-KR" altLang="en-US" dirty="0" err="1" smtClean="0"/>
              <a:t>타일즈의</a:t>
            </a:r>
            <a:r>
              <a:rPr lang="ko-KR" altLang="en-US" dirty="0" smtClean="0"/>
              <a:t> 경우 분리된 페이지 </a:t>
            </a:r>
            <a:r>
              <a:rPr lang="ko-KR" altLang="en-US" dirty="0" err="1" smtClean="0">
                <a:solidFill>
                  <a:srgbClr val="FF0000"/>
                </a:solidFill>
              </a:rPr>
              <a:t>주소값이</a:t>
            </a:r>
            <a:r>
              <a:rPr lang="ko-KR" altLang="en-US" dirty="0" smtClean="0">
                <a:solidFill>
                  <a:srgbClr val="FF0000"/>
                </a:solidFill>
              </a:rPr>
              <a:t> 없을 경우 에러가 </a:t>
            </a:r>
            <a:r>
              <a:rPr lang="ko-KR" altLang="en-US" dirty="0" smtClean="0"/>
              <a:t>발행함</a:t>
            </a:r>
            <a:r>
              <a:rPr lang="en-US" altLang="ko-KR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이를 해결하기 위한 코딩 내용입니다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>
              <a:buFont typeface="Arial" pitchFamily="34" charset="0"/>
              <a:buChar char="•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ko-KR" altLang="en-US" dirty="0" err="1" smtClean="0"/>
              <a:t>타일즈로</a:t>
            </a:r>
            <a:r>
              <a:rPr lang="ko-KR" altLang="en-US" dirty="0" smtClean="0"/>
              <a:t> 불러오는 </a:t>
            </a:r>
            <a:r>
              <a:rPr lang="ko-KR" altLang="en-US" dirty="0" err="1" smtClean="0"/>
              <a:t>페이지별로</a:t>
            </a:r>
            <a:r>
              <a:rPr lang="ko-KR" altLang="en-US" dirty="0" smtClean="0"/>
              <a:t> 현재 불러온 </a:t>
            </a:r>
            <a:r>
              <a:rPr lang="ko-KR" altLang="en-US" dirty="0" err="1" smtClean="0"/>
              <a:t>주소값에</a:t>
            </a:r>
            <a:r>
              <a:rPr lang="ko-KR" altLang="en-US" dirty="0" smtClean="0"/>
              <a:t> 따라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 불러오는 페이지를 다르게 하는 구문입니다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468325" cy="461665"/>
            <a:chOff x="924910" y="1145137"/>
            <a:chExt cx="146832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670" y="1018303"/>
            <a:ext cx="7754735" cy="48213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8325293" y="1127051"/>
            <a:ext cx="925033" cy="776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가입폼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650819" y="1127051"/>
            <a:ext cx="925033" cy="776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멤버</a:t>
            </a:r>
            <a:endParaRPr lang="en-US" altLang="ko-KR" dirty="0" smtClean="0"/>
          </a:p>
          <a:p>
            <a:pPr algn="ctr"/>
            <a:r>
              <a:rPr lang="en-US" altLang="ko-KR" sz="1600" dirty="0" err="1" smtClean="0"/>
              <a:t>C</a:t>
            </a:r>
            <a:r>
              <a:rPr lang="en-US" altLang="ko-KR" sz="1600" dirty="0" err="1" smtClean="0"/>
              <a:t>ontroll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8325293" y="2707773"/>
            <a:ext cx="925033" cy="776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멤버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0976345" y="1127051"/>
            <a:ext cx="925033" cy="776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멤버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Service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0976345" y="2707773"/>
            <a:ext cx="925033" cy="776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멤버</a:t>
            </a:r>
            <a:endParaRPr lang="en-US" altLang="ko-KR" dirty="0" smtClean="0"/>
          </a:p>
          <a:p>
            <a:pPr algn="ctr"/>
            <a:r>
              <a:rPr lang="en-US" altLang="ko-KR" sz="1600" dirty="0" err="1" smtClean="0"/>
              <a:t>Mapper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10" idx="3"/>
            <a:endCxn id="11" idx="1"/>
          </p:cNvCxnSpPr>
          <p:nvPr/>
        </p:nvCxnSpPr>
        <p:spPr>
          <a:xfrm>
            <a:off x="9250326" y="1515140"/>
            <a:ext cx="4004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1" idx="3"/>
            <a:endCxn id="13" idx="1"/>
          </p:cNvCxnSpPr>
          <p:nvPr/>
        </p:nvCxnSpPr>
        <p:spPr>
          <a:xfrm>
            <a:off x="10575852" y="1515140"/>
            <a:ext cx="4004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3" idx="2"/>
            <a:endCxn id="12" idx="0"/>
          </p:cNvCxnSpPr>
          <p:nvPr/>
        </p:nvCxnSpPr>
        <p:spPr>
          <a:xfrm flipH="1">
            <a:off x="8787810" y="1903228"/>
            <a:ext cx="2651052" cy="80454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2" idx="3"/>
            <a:endCxn id="14" idx="1"/>
          </p:cNvCxnSpPr>
          <p:nvPr/>
        </p:nvCxnSpPr>
        <p:spPr>
          <a:xfrm>
            <a:off x="9250326" y="3095862"/>
            <a:ext cx="1726019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25292" y="3848986"/>
            <a:ext cx="3604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altLang="ko-KR" dirty="0" smtClean="0"/>
              <a:t>ID </a:t>
            </a:r>
            <a:r>
              <a:rPr lang="ko-KR" altLang="en-US" dirty="0" smtClean="0"/>
              <a:t>중복 처리 기능</a:t>
            </a:r>
            <a:endParaRPr lang="en-US" altLang="ko-KR" dirty="0" smtClean="0"/>
          </a:p>
          <a:p>
            <a:pPr marL="400050" indent="-400050">
              <a:buFont typeface="+mj-lt"/>
              <a:buAutoNum type="romanUcPeriod"/>
            </a:pPr>
            <a:r>
              <a:rPr lang="ko-KR" altLang="en-US" dirty="0" smtClean="0"/>
              <a:t>회원가입 기능</a:t>
            </a:r>
            <a:endParaRPr lang="en-US" altLang="ko-KR" dirty="0" smtClean="0"/>
          </a:p>
          <a:p>
            <a:pPr marL="400050" indent="-400050">
              <a:buFont typeface="+mj-lt"/>
              <a:buAutoNum type="romanUcPeriod"/>
            </a:pPr>
            <a:endParaRPr lang="ko-KR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"/>
          <p:cNvGrpSpPr/>
          <p:nvPr/>
        </p:nvGrpSpPr>
        <p:grpSpPr>
          <a:xfrm>
            <a:off x="329345" y="199206"/>
            <a:ext cx="1644656" cy="461665"/>
            <a:chOff x="924910" y="1145137"/>
            <a:chExt cx="1644656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592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685456" y="199206"/>
            <a:ext cx="1261884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bg1"/>
                </a:solidFill>
              </a:rPr>
              <a:t>라진수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9219" y="2079551"/>
            <a:ext cx="4963306" cy="37921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2315165" y="126525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회원가입 완료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6103" y="2079551"/>
            <a:ext cx="4944140" cy="3826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8086944" y="1265254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ID</a:t>
            </a:r>
            <a:r>
              <a:rPr lang="ko-KR" altLang="en-US" dirty="0" err="1" smtClean="0"/>
              <a:t>중복시</a:t>
            </a:r>
            <a:r>
              <a:rPr lang="ko-KR" altLang="en-US" dirty="0" smtClean="0"/>
              <a:t> 처리된 부분</a:t>
            </a:r>
            <a:endParaRPr lang="ko-KR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595</Words>
  <Application>Microsoft Office PowerPoint</Application>
  <PresentationFormat>사용자 지정</PresentationFormat>
  <Paragraphs>228</Paragraphs>
  <Slides>54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5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269</cp:revision>
  <dcterms:created xsi:type="dcterms:W3CDTF">2017-07-26T00:56:20Z</dcterms:created>
  <dcterms:modified xsi:type="dcterms:W3CDTF">2017-10-26T08:11:38Z</dcterms:modified>
</cp:coreProperties>
</file>