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90" r:id="rId4"/>
    <p:sldId id="289" r:id="rId5"/>
    <p:sldId id="293" r:id="rId6"/>
    <p:sldId id="295" r:id="rId7"/>
    <p:sldId id="297" r:id="rId8"/>
    <p:sldId id="292" r:id="rId9"/>
    <p:sldId id="305" r:id="rId10"/>
    <p:sldId id="291" r:id="rId11"/>
    <p:sldId id="306" r:id="rId12"/>
    <p:sldId id="302" r:id="rId13"/>
    <p:sldId id="300" r:id="rId14"/>
    <p:sldId id="298" r:id="rId15"/>
    <p:sldId id="301" r:id="rId16"/>
    <p:sldId id="304" r:id="rId17"/>
    <p:sldId id="286" r:id="rId18"/>
    <p:sldId id="281" r:id="rId19"/>
    <p:sldId id="262" r:id="rId20"/>
  </p:sldIdLst>
  <p:sldSz cx="12192000" cy="6858000"/>
  <p:notesSz cx="6858000" cy="9144000"/>
  <p:embeddedFontLst>
    <p:embeddedFont>
      <p:font typeface="맑은 고딕" pitchFamily="50" charset="-127"/>
      <p:regular r:id="rId21"/>
      <p:bold r:id="rId22"/>
    </p:embeddedFont>
    <p:embeddedFont>
      <p:font typeface="08서울한강체 M" pitchFamily="18" charset="-127"/>
      <p:regular r:id="rId23"/>
    </p:embeddedFont>
    <p:embeddedFont>
      <p:font typeface="08서울남산체 B" pitchFamily="18" charset="-127"/>
      <p:regular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금이" initials="금" lastIdx="0" clrIdx="0">
    <p:extLst>
      <p:ext uri="{19B8F6BF-5375-455C-9EA6-DF929625EA0E}">
        <p15:presenceInfo xmlns:p15="http://schemas.microsoft.com/office/powerpoint/2012/main" xmlns="" userId="금이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E5203E"/>
    <a:srgbClr val="222222"/>
    <a:srgbClr val="474747"/>
    <a:srgbClr val="333333"/>
    <a:srgbClr val="225686"/>
    <a:srgbClr val="1F4E79"/>
    <a:srgbClr val="6666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9503" autoAdjust="0"/>
    <p:restoredTop sz="94660"/>
  </p:normalViewPr>
  <p:slideViewPr>
    <p:cSldViewPr snapToGrid="0">
      <p:cViewPr>
        <p:scale>
          <a:sx n="75" d="100"/>
          <a:sy n="75" d="100"/>
        </p:scale>
        <p:origin x="-1398" y="-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9745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6740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9538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3508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7467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7400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2999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7923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921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0139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0201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6523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13.124.117.186:8080/AmailSendTest/mailForm.js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0.40:8090/FinalBoard/list.do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8253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52" name="TextBox 1451"/>
          <p:cNvSpPr txBox="1"/>
          <p:nvPr/>
        </p:nvSpPr>
        <p:spPr>
          <a:xfrm>
            <a:off x="1848244" y="3381918"/>
            <a:ext cx="8517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LYCLE</a:t>
            </a:r>
            <a:r>
              <a:rPr lang="en-US" altLang="ko-KR" sz="54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= Like + </a:t>
            </a:r>
            <a:r>
              <a:rPr lang="en-US" altLang="ko-KR" sz="54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Bycle</a:t>
            </a:r>
            <a:endParaRPr lang="ko-KR" altLang="en-US" sz="54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74058" y="1574983"/>
            <a:ext cx="4149708" cy="20826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1082" y="4623955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bg1">
                    <a:lumMod val="50000"/>
                  </a:schemeClr>
                </a:solidFill>
                <a:latin typeface="08서울남산체 B" pitchFamily="18" charset="-127"/>
                <a:ea typeface="08서울남산체 B" pitchFamily="18" charset="-127"/>
              </a:rPr>
              <a:t>8</a:t>
            </a:r>
            <a:r>
              <a:rPr lang="ko-KR" altLang="en-US" sz="2400" dirty="0" smtClean="0">
                <a:solidFill>
                  <a:schemeClr val="bg1">
                    <a:lumMod val="50000"/>
                  </a:schemeClr>
                </a:solidFill>
                <a:latin typeface="08서울남산체 B" pitchFamily="18" charset="-127"/>
                <a:ea typeface="08서울남산체 B" pitchFamily="18" charset="-127"/>
              </a:rPr>
              <a:t>월 </a:t>
            </a:r>
            <a:r>
              <a:rPr lang="en-US" altLang="ko-KR" sz="2400" dirty="0" smtClean="0">
                <a:solidFill>
                  <a:schemeClr val="bg1">
                    <a:lumMod val="50000"/>
                  </a:schemeClr>
                </a:solidFill>
                <a:latin typeface="08서울남산체 B" pitchFamily="18" charset="-127"/>
                <a:ea typeface="08서울남산체 B" pitchFamily="18" charset="-127"/>
              </a:rPr>
              <a:t>4</a:t>
            </a:r>
            <a:r>
              <a:rPr lang="ko-KR" altLang="en-US" sz="2400" dirty="0" smtClean="0">
                <a:solidFill>
                  <a:schemeClr val="bg1">
                    <a:lumMod val="50000"/>
                  </a:schemeClr>
                </a:solidFill>
                <a:latin typeface="08서울남산체 B" pitchFamily="18" charset="-127"/>
                <a:ea typeface="08서울남산체 B" pitchFamily="18" charset="-127"/>
              </a:rPr>
              <a:t>주차 발표</a:t>
            </a:r>
            <a:endParaRPr lang="ko-KR" altLang="en-US" sz="2400" dirty="0">
              <a:solidFill>
                <a:schemeClr val="bg1">
                  <a:lumMod val="50000"/>
                </a:schemeClr>
              </a:solidFill>
              <a:latin typeface="08서울남산체 B" pitchFamily="18" charset="-127"/>
              <a:ea typeface="08서울남산체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25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자유형 1301"/>
          <p:cNvSpPr/>
          <p:nvPr/>
        </p:nvSpPr>
        <p:spPr>
          <a:xfrm>
            <a:off x="0" y="0"/>
            <a:ext cx="6794939" cy="1213945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5" name="직각 삼각형 1304"/>
          <p:cNvSpPr/>
          <p:nvPr/>
        </p:nvSpPr>
        <p:spPr>
          <a:xfrm rot="5400000">
            <a:off x="472803" y="2484550"/>
            <a:ext cx="3900645" cy="4846255"/>
          </a:xfrm>
          <a:custGeom>
            <a:avLst/>
            <a:gdLst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2 w 3547242"/>
              <a:gd name="connsiteY2" fmla="*/ 4603531 h 4603531"/>
              <a:gd name="connsiteX3" fmla="*/ 0 w 3547242"/>
              <a:gd name="connsiteY3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1797269 w 3547242"/>
              <a:gd name="connsiteY2" fmla="*/ 2396359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1 w 3547242"/>
              <a:gd name="connsiteY2" fmla="*/ 2349062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808483 h 4808483"/>
              <a:gd name="connsiteX1" fmla="*/ 43086 w 3547242"/>
              <a:gd name="connsiteY1" fmla="*/ 0 h 4808483"/>
              <a:gd name="connsiteX2" fmla="*/ 3547241 w 3547242"/>
              <a:gd name="connsiteY2" fmla="*/ 2554014 h 4808483"/>
              <a:gd name="connsiteX3" fmla="*/ 3547242 w 3547242"/>
              <a:gd name="connsiteY3" fmla="*/ 4808483 h 4808483"/>
              <a:gd name="connsiteX4" fmla="*/ 0 w 3547242"/>
              <a:gd name="connsiteY4" fmla="*/ 4808483 h 4808483"/>
              <a:gd name="connsiteX0" fmla="*/ 43079 w 3590321"/>
              <a:gd name="connsiteY0" fmla="*/ 4887311 h 4887311"/>
              <a:gd name="connsiteX1" fmla="*/ 0 w 3590321"/>
              <a:gd name="connsiteY1" fmla="*/ 0 h 4887311"/>
              <a:gd name="connsiteX2" fmla="*/ 3590320 w 3590321"/>
              <a:gd name="connsiteY2" fmla="*/ 2632842 h 4887311"/>
              <a:gd name="connsiteX3" fmla="*/ 3590321 w 3590321"/>
              <a:gd name="connsiteY3" fmla="*/ 4887311 h 4887311"/>
              <a:gd name="connsiteX4" fmla="*/ 43079 w 3590321"/>
              <a:gd name="connsiteY4" fmla="*/ 4887311 h 4887311"/>
              <a:gd name="connsiteX0" fmla="*/ 0 w 3547242"/>
              <a:gd name="connsiteY0" fmla="*/ 4855780 h 4855780"/>
              <a:gd name="connsiteX1" fmla="*/ 28728 w 3547242"/>
              <a:gd name="connsiteY1" fmla="*/ 0 h 4855780"/>
              <a:gd name="connsiteX2" fmla="*/ 3547241 w 3547242"/>
              <a:gd name="connsiteY2" fmla="*/ 2601311 h 4855780"/>
              <a:gd name="connsiteX3" fmla="*/ 3547242 w 3547242"/>
              <a:gd name="connsiteY3" fmla="*/ 4855780 h 4855780"/>
              <a:gd name="connsiteX4" fmla="*/ 0 w 3547242"/>
              <a:gd name="connsiteY4" fmla="*/ 4855780 h 4855780"/>
              <a:gd name="connsiteX0" fmla="*/ 5978 w 3553220"/>
              <a:gd name="connsiteY0" fmla="*/ 4874830 h 4874830"/>
              <a:gd name="connsiteX1" fmla="*/ 0 w 3553220"/>
              <a:gd name="connsiteY1" fmla="*/ 0 h 4874830"/>
              <a:gd name="connsiteX2" fmla="*/ 3553219 w 3553220"/>
              <a:gd name="connsiteY2" fmla="*/ 2620361 h 4874830"/>
              <a:gd name="connsiteX3" fmla="*/ 3553220 w 3553220"/>
              <a:gd name="connsiteY3" fmla="*/ 4874830 h 4874830"/>
              <a:gd name="connsiteX4" fmla="*/ 5978 w 3553220"/>
              <a:gd name="connsiteY4" fmla="*/ 4874830 h 4874830"/>
              <a:gd name="connsiteX0" fmla="*/ 5976 w 3553218"/>
              <a:gd name="connsiteY0" fmla="*/ 4846255 h 4846255"/>
              <a:gd name="connsiteX1" fmla="*/ 0 w 3553218"/>
              <a:gd name="connsiteY1" fmla="*/ 0 h 4846255"/>
              <a:gd name="connsiteX2" fmla="*/ 3553217 w 3553218"/>
              <a:gd name="connsiteY2" fmla="*/ 2591786 h 4846255"/>
              <a:gd name="connsiteX3" fmla="*/ 3553218 w 3553218"/>
              <a:gd name="connsiteY3" fmla="*/ 4846255 h 4846255"/>
              <a:gd name="connsiteX4" fmla="*/ 5976 w 3553218"/>
              <a:gd name="connsiteY4" fmla="*/ 4846255 h 484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3218" h="4846255">
                <a:moveTo>
                  <a:pt x="5976" y="4846255"/>
                </a:moveTo>
                <a:cubicBezTo>
                  <a:pt x="3983" y="3221312"/>
                  <a:pt x="1993" y="1624943"/>
                  <a:pt x="0" y="0"/>
                </a:cubicBezTo>
                <a:lnTo>
                  <a:pt x="3553217" y="2591786"/>
                </a:lnTo>
                <a:cubicBezTo>
                  <a:pt x="3553217" y="3343276"/>
                  <a:pt x="3553218" y="4094765"/>
                  <a:pt x="3553218" y="4846255"/>
                </a:cubicBezTo>
                <a:lnTo>
                  <a:pt x="5976" y="484625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51480" y="1774677"/>
            <a:ext cx="1492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Make it!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68661" y="3475689"/>
            <a:ext cx="2013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811924" y="3816273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68661" y="4196393"/>
            <a:ext cx="31181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추후 작업방향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68661" y="4988324"/>
            <a:ext cx="45849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작업예상 및 소요일정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792645" y="4547553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811924" y="5302073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6" name="그림 25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31988" y="1152407"/>
            <a:ext cx="3525638" cy="175860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68661" y="5705052"/>
            <a:ext cx="28696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792646" y="6078052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48295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6" grpId="0" animBg="1"/>
      <p:bldP spid="47" grpId="0"/>
      <p:bldP spid="48" grpId="0"/>
      <p:bldP spid="49" grpId="0" animBg="1"/>
      <p:bldP spid="50" grpId="0" animBg="1"/>
      <p:bldP spid="36" grpId="0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3180695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첫 번째</a:t>
            </a:r>
            <a:r>
              <a:rPr lang="en-US" altLang="ko-KR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,</a:t>
            </a:r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 진행사항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08서울남산체 B" pitchFamily="18" charset="-127"/>
              <a:ea typeface="08서울남산체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950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60521531"/>
              </p:ext>
            </p:extLst>
          </p:nvPr>
        </p:nvGraphicFramePr>
        <p:xfrm>
          <a:off x="610001" y="1701425"/>
          <a:ext cx="10877079" cy="461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5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455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12131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8/7 ~ 8/25</a:t>
                      </a:r>
                      <a:endParaRPr lang="en-US" sz="32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32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역할 분담</a:t>
                      </a:r>
                      <a:endParaRPr lang="en-US" sz="32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조수영</a:t>
                      </a:r>
                      <a:endParaRPr lang="en-US" sz="24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디자인 </a:t>
                      </a:r>
                      <a:r>
                        <a:rPr lang="en-US" altLang="ko-KR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( </a:t>
                      </a:r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메인</a:t>
                      </a:r>
                      <a:r>
                        <a:rPr lang="ko-KR" altLang="en-US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페이지 </a:t>
                      </a:r>
                      <a:r>
                        <a:rPr lang="en-US" altLang="ko-KR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/ </a:t>
                      </a:r>
                      <a:r>
                        <a:rPr lang="ko-KR" altLang="en-US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로그인 </a:t>
                      </a:r>
                      <a:r>
                        <a:rPr lang="en-US" altLang="ko-KR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/ </a:t>
                      </a:r>
                      <a:r>
                        <a:rPr lang="ko-KR" altLang="en-US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회원가입 </a:t>
                      </a:r>
                      <a:r>
                        <a:rPr lang="en-US" altLang="ko-KR" sz="24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전민호</a:t>
                      </a:r>
                      <a:endParaRPr lang="en-US" sz="24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Email</a:t>
                      </a:r>
                      <a:r>
                        <a:rPr lang="en-US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ko-KR" altLang="en-US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인증 방식으로  아이디 </a:t>
                      </a:r>
                      <a:r>
                        <a:rPr lang="en-US" altLang="ko-KR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/</a:t>
                      </a:r>
                      <a:r>
                        <a:rPr lang="ko-KR" altLang="en-US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비밀번호  찾기</a:t>
                      </a:r>
                      <a:endParaRPr lang="en-US" sz="2400" b="0" i="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오지혜</a:t>
                      </a:r>
                      <a:endParaRPr lang="en-US" sz="24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0" i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기본 게시판  틀 구현</a:t>
                      </a:r>
                      <a:endParaRPr lang="en-US" sz="2400" b="0" i="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 err="1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김금빛</a:t>
                      </a:r>
                      <a:endParaRPr lang="en-US" sz="24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0" i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회원 가입</a:t>
                      </a:r>
                      <a:r>
                        <a:rPr lang="en-US" altLang="ko-KR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/ </a:t>
                      </a:r>
                      <a:r>
                        <a:rPr lang="ko-KR" altLang="en-US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회원 수정</a:t>
                      </a:r>
                      <a:r>
                        <a:rPr lang="en-US" altLang="ko-KR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/ </a:t>
                      </a:r>
                      <a:r>
                        <a:rPr lang="ko-KR" altLang="en-US" sz="2400" b="0" i="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회원 삭제</a:t>
                      </a:r>
                      <a:endParaRPr lang="en-US" sz="2400" b="0" i="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박지수</a:t>
                      </a:r>
                      <a:endParaRPr lang="en-US" sz="24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로그인 </a:t>
                      </a:r>
                      <a:r>
                        <a:rPr lang="en-US" altLang="ko-KR" sz="2000" b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(</a:t>
                      </a:r>
                      <a:r>
                        <a:rPr lang="en-US" altLang="ko-KR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ko-KR" altLang="en-US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추후</a:t>
                      </a:r>
                      <a:r>
                        <a:rPr lang="en-US" altLang="ko-KR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ko-KR" altLang="en-US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altLang="ko-KR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SNS</a:t>
                      </a:r>
                      <a:r>
                        <a:rPr lang="ko-KR" altLang="en-US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로그인 연동할 수 있도록  할  예정</a:t>
                      </a:r>
                      <a:r>
                        <a:rPr lang="en-US" altLang="ko-KR" sz="2000" b="0" baseline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)</a:t>
                      </a:r>
                      <a:r>
                        <a:rPr lang="en-US" altLang="ko-KR" sz="2000" b="0" dirty="0" smtClean="0">
                          <a:solidFill>
                            <a:schemeClr val="tx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73557" y="265928"/>
            <a:ext cx="1468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4" name="그림 23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33688" y="1027928"/>
            <a:ext cx="18533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- </a:t>
            </a:r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지난 발표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6352738"/>
      </p:ext>
    </p:extLst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 descr="C:\Users\kitcoop\Desktop\최종프로젝트\design\mai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11222" y="2331196"/>
            <a:ext cx="6919340" cy="3965464"/>
          </a:xfrm>
          <a:prstGeom prst="rect">
            <a:avLst/>
          </a:prstGeom>
          <a:noFill/>
        </p:spPr>
      </p:pic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471" y="1283872"/>
            <a:ext cx="5831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1.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디자인</a:t>
            </a:r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,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코딩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_</a:t>
            </a:r>
            <a:r>
              <a:rPr lang="ko-KR" altLang="en-US" sz="32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메인페이지</a:t>
            </a:r>
            <a:endParaRPr lang="ko-KR" altLang="en-US" sz="4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854254" y="2716867"/>
            <a:ext cx="7407346" cy="1613834"/>
            <a:chOff x="2854254" y="2716867"/>
            <a:chExt cx="7407346" cy="1613834"/>
          </a:xfrm>
        </p:grpSpPr>
        <p:sp>
          <p:nvSpPr>
            <p:cNvPr id="14" name="TextBox 13"/>
            <p:cNvSpPr txBox="1"/>
            <p:nvPr/>
          </p:nvSpPr>
          <p:spPr>
            <a:xfrm>
              <a:off x="2854254" y="2716867"/>
              <a:ext cx="10045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배너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이미지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추가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283200" y="3073400"/>
              <a:ext cx="4978400" cy="1257301"/>
            </a:xfrm>
            <a:prstGeom prst="rect">
              <a:avLst/>
            </a:prstGeom>
            <a:noFill/>
            <a:ln w="38100">
              <a:solidFill>
                <a:srgbClr val="E520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오른쪽 화살표 15"/>
            <p:cNvSpPr/>
            <p:nvPr/>
          </p:nvSpPr>
          <p:spPr>
            <a:xfrm>
              <a:off x="3895695" y="3352800"/>
              <a:ext cx="1198195" cy="228600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391400" y="579438"/>
            <a:ext cx="4635499" cy="2189163"/>
            <a:chOff x="7391400" y="579438"/>
            <a:chExt cx="4635499" cy="2189163"/>
          </a:xfrm>
        </p:grpSpPr>
        <p:sp>
          <p:nvSpPr>
            <p:cNvPr id="17" name="직사각형 16"/>
            <p:cNvSpPr/>
            <p:nvPr/>
          </p:nvSpPr>
          <p:spPr>
            <a:xfrm>
              <a:off x="9715500" y="2247901"/>
              <a:ext cx="609600" cy="520700"/>
            </a:xfrm>
            <a:prstGeom prst="rect">
              <a:avLst/>
            </a:prstGeom>
            <a:noFill/>
            <a:ln w="38100">
              <a:solidFill>
                <a:srgbClr val="E520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오른쪽 화살표 17"/>
            <p:cNvSpPr/>
            <p:nvPr/>
          </p:nvSpPr>
          <p:spPr>
            <a:xfrm rot="13583329">
              <a:off x="10215568" y="2083227"/>
              <a:ext cx="832079" cy="197487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94710" y="1442545"/>
              <a:ext cx="13321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로그인시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정보 표시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1510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391400" y="579438"/>
              <a:ext cx="3200400" cy="1228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오른쪽 화살표 20"/>
            <p:cNvSpPr/>
            <p:nvPr/>
          </p:nvSpPr>
          <p:spPr>
            <a:xfrm rot="4343655">
              <a:off x="9483501" y="1969992"/>
              <a:ext cx="785584" cy="231680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25321" y="4361208"/>
            <a:ext cx="3719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접속자수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,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누적접속자수 자동갱신</a:t>
            </a:r>
            <a:endParaRPr lang="en-US" altLang="ko-KR" sz="2800" dirty="0" smtClean="0">
              <a:solidFill>
                <a:schemeClr val="bg1"/>
              </a:solidFill>
              <a:latin typeface="08서울한강체 M" panose="02020603020101020101" pitchFamily="18" charset="-127"/>
              <a:ea typeface="08서울한강체 M" panose="02020603020101020101" pitchFamily="18" charset="-127"/>
            </a:endParaRP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ko-KR" altLang="en-US" sz="2800" dirty="0" err="1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자전거종류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차트로 시각화</a:t>
            </a:r>
            <a:endParaRPr lang="en-US" altLang="ko-KR" sz="2800" dirty="0" smtClean="0">
              <a:solidFill>
                <a:schemeClr val="bg1"/>
              </a:solidFill>
              <a:latin typeface="08서울한강체 M" panose="02020603020101020101" pitchFamily="18" charset="-127"/>
              <a:ea typeface="08서울한강체 M" panose="0202060302010102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7073900" y="4713978"/>
            <a:ext cx="3187700" cy="1463112"/>
            <a:chOff x="7073900" y="4713978"/>
            <a:chExt cx="3187700" cy="1463112"/>
          </a:xfrm>
        </p:grpSpPr>
        <p:sp>
          <p:nvSpPr>
            <p:cNvPr id="19" name="TextBox 18"/>
            <p:cNvSpPr txBox="1"/>
            <p:nvPr/>
          </p:nvSpPr>
          <p:spPr>
            <a:xfrm>
              <a:off x="7621500" y="5101751"/>
              <a:ext cx="2066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smtClean="0">
                  <a:solidFill>
                    <a:srgbClr val="151515"/>
                  </a:solidFill>
                </a:rPr>
                <a:t>차트 추가</a:t>
              </a:r>
              <a:endParaRPr lang="en-US" altLang="ko-KR" dirty="0" smtClean="0">
                <a:solidFill>
                  <a:srgbClr val="151515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rgbClr val="151515"/>
                  </a:solidFill>
                </a:rPr>
                <a:t>날씨 위젯 추가</a:t>
              </a:r>
              <a:endParaRPr lang="en-US" altLang="ko-KR" dirty="0" smtClean="0">
                <a:solidFill>
                  <a:srgbClr val="151515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073900" y="4713978"/>
              <a:ext cx="3187700" cy="1463112"/>
            </a:xfrm>
            <a:prstGeom prst="rect">
              <a:avLst/>
            </a:prstGeom>
            <a:noFill/>
            <a:ln w="38100">
              <a:solidFill>
                <a:srgbClr val="E520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762000" y="1036741"/>
            <a:ext cx="11551920" cy="5993980"/>
            <a:chOff x="762000" y="1036741"/>
            <a:chExt cx="11551920" cy="5993980"/>
          </a:xfrm>
        </p:grpSpPr>
        <p:pic>
          <p:nvPicPr>
            <p:cNvPr id="10" name="Picture 2" descr="C:\Users\kitcoop\Desktop\최종프로젝트\design\login.png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33193" t="9005" r="33274" b="38049"/>
            <a:stretch/>
          </p:blipFill>
          <p:spPr bwMode="auto">
            <a:xfrm>
              <a:off x="762000" y="2631440"/>
              <a:ext cx="3974213" cy="3627120"/>
            </a:xfrm>
            <a:prstGeom prst="rect">
              <a:avLst/>
            </a:prstGeom>
            <a:noFill/>
          </p:spPr>
        </p:pic>
        <p:pic>
          <p:nvPicPr>
            <p:cNvPr id="8" name="Picture 4" descr="C:\Users\kitcoop\Desktop\최종프로젝트\design\menu.png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1" r="43414" b="36189"/>
            <a:stretch/>
          </p:blipFill>
          <p:spPr bwMode="auto">
            <a:xfrm>
              <a:off x="5093542" y="2313185"/>
              <a:ext cx="7220378" cy="4717536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/>
          </p:nvSpPr>
          <p:spPr>
            <a:xfrm>
              <a:off x="9087137" y="1036741"/>
              <a:ext cx="2735085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로그인</a:t>
              </a:r>
              <a:r>
                <a:rPr lang="en-US" altLang="ko-KR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/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메뉴 디자인 수정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</p:grpSp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471" y="1283872"/>
            <a:ext cx="5971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1. </a:t>
            </a:r>
            <a:r>
              <a:rPr lang="ko-KR" altLang="en-US" sz="4800" dirty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디자인</a:t>
            </a:r>
            <a:r>
              <a:rPr lang="en-US" altLang="ko-KR" sz="4800" dirty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,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코딩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_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로그인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,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메뉴</a:t>
            </a:r>
            <a:endParaRPr lang="ko-KR" altLang="en-US" sz="4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5173980" y="1797776"/>
            <a:ext cx="2907992" cy="975904"/>
            <a:chOff x="5173980" y="1797776"/>
            <a:chExt cx="2907992" cy="975904"/>
          </a:xfrm>
        </p:grpSpPr>
        <p:sp>
          <p:nvSpPr>
            <p:cNvPr id="11" name="직사각형 10"/>
            <p:cNvSpPr/>
            <p:nvPr/>
          </p:nvSpPr>
          <p:spPr>
            <a:xfrm>
              <a:off x="5173980" y="2371090"/>
              <a:ext cx="837168" cy="402590"/>
            </a:xfrm>
            <a:prstGeom prst="rect">
              <a:avLst/>
            </a:prstGeom>
            <a:noFill/>
            <a:ln w="38100">
              <a:solidFill>
                <a:srgbClr val="E520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오른쪽 화살표 11"/>
            <p:cNvSpPr/>
            <p:nvPr/>
          </p:nvSpPr>
          <p:spPr>
            <a:xfrm rot="9157465">
              <a:off x="6088314" y="2220375"/>
              <a:ext cx="644522" cy="185618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49583" y="1797776"/>
              <a:ext cx="13323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로고 추가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471" y="1283872"/>
            <a:ext cx="66981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2.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아이디</a:t>
            </a:r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/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비밀번호 찾기</a:t>
            </a:r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(Email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인증</a:t>
            </a:r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)</a:t>
            </a:r>
            <a:endParaRPr lang="ko-KR" altLang="en-US" sz="48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25321" y="2737945"/>
            <a:ext cx="10890379" cy="3008258"/>
            <a:chOff x="425321" y="2737945"/>
            <a:chExt cx="10890379" cy="3008258"/>
          </a:xfrm>
        </p:grpSpPr>
        <p:sp>
          <p:nvSpPr>
            <p:cNvPr id="10" name="TextBox 9"/>
            <p:cNvSpPr txBox="1"/>
            <p:nvPr/>
          </p:nvSpPr>
          <p:spPr>
            <a:xfrm>
              <a:off x="4459010" y="2737945"/>
              <a:ext cx="6856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smtClean="0">
                  <a:solidFill>
                    <a:schemeClr val="bg1"/>
                  </a:solidFill>
                </a:rPr>
                <a:t>http://13.124.117.186:8080/AmailSendTest/mailForm.jsp</a:t>
              </a:r>
            </a:p>
          </p:txBody>
        </p:sp>
        <p:pic>
          <p:nvPicPr>
            <p:cNvPr id="22531" name="Picture 3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/>
            <a:srcRect r="11828"/>
            <a:stretch>
              <a:fillRect/>
            </a:stretch>
          </p:blipFill>
          <p:spPr bwMode="auto">
            <a:xfrm>
              <a:off x="4554538" y="3303588"/>
              <a:ext cx="6189662" cy="2333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TextBox 13"/>
            <p:cNvSpPr txBox="1"/>
            <p:nvPr/>
          </p:nvSpPr>
          <p:spPr>
            <a:xfrm>
              <a:off x="425321" y="4361208"/>
              <a:ext cx="301891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이메일 인증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아마존웹서버에</a:t>
              </a:r>
              <a:r>
                <a:rPr lang="en-US" altLang="ko-KR" sz="2800" dirty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 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업로드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418370" y="1197018"/>
            <a:ext cx="5804129" cy="1991837"/>
            <a:chOff x="4418370" y="1197018"/>
            <a:chExt cx="5804129" cy="1991837"/>
          </a:xfrm>
        </p:grpSpPr>
        <p:sp>
          <p:nvSpPr>
            <p:cNvPr id="15" name="직사각형 14"/>
            <p:cNvSpPr/>
            <p:nvPr/>
          </p:nvSpPr>
          <p:spPr>
            <a:xfrm>
              <a:off x="4418370" y="2667102"/>
              <a:ext cx="3323550" cy="521753"/>
            </a:xfrm>
            <a:prstGeom prst="rect">
              <a:avLst/>
            </a:prstGeom>
            <a:noFill/>
            <a:ln w="38100">
              <a:solidFill>
                <a:srgbClr val="E520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6" name="Picture 2" descr="aws logo에 대한 이미지 검색결과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7355" y="1197018"/>
              <a:ext cx="2335144" cy="1310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오른쪽 화살표 15"/>
            <p:cNvSpPr/>
            <p:nvPr/>
          </p:nvSpPr>
          <p:spPr>
            <a:xfrm rot="8562043">
              <a:off x="7471962" y="2243849"/>
              <a:ext cx="539917" cy="192835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440238" y="5793972"/>
            <a:ext cx="5808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/>
                </a:solidFill>
              </a:rPr>
              <a:t>회원가입</a:t>
            </a:r>
            <a:r>
              <a:rPr lang="en-US" altLang="ko-KR" sz="2000" dirty="0" smtClean="0">
                <a:solidFill>
                  <a:schemeClr val="bg1"/>
                </a:solidFill>
              </a:rPr>
              <a:t>, </a:t>
            </a:r>
            <a:r>
              <a:rPr lang="ko-KR" altLang="en-US" sz="2000" dirty="0" smtClean="0">
                <a:solidFill>
                  <a:schemeClr val="bg1"/>
                </a:solidFill>
              </a:rPr>
              <a:t>아이디</a:t>
            </a:r>
            <a:r>
              <a:rPr lang="en-US" altLang="ko-KR" sz="2000" dirty="0" smtClean="0">
                <a:solidFill>
                  <a:schemeClr val="bg1"/>
                </a:solidFill>
              </a:rPr>
              <a:t>/</a:t>
            </a:r>
            <a:r>
              <a:rPr lang="ko-KR" altLang="en-US" sz="2000" dirty="0" smtClean="0">
                <a:solidFill>
                  <a:schemeClr val="bg1"/>
                </a:solidFill>
              </a:rPr>
              <a:t>비밀번호 찾기에 연동 예정</a:t>
            </a:r>
            <a:endParaRPr lang="en-US" altLang="ko-KR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471" y="1283872"/>
            <a:ext cx="6469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3.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기본 게시판 틀 구현</a:t>
            </a:r>
          </a:p>
        </p:txBody>
      </p:sp>
      <p:pic>
        <p:nvPicPr>
          <p:cNvPr id="23554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 b="4074"/>
          <a:stretch>
            <a:fillRect/>
          </a:stretch>
        </p:blipFill>
        <p:spPr bwMode="auto">
          <a:xfrm>
            <a:off x="6316663" y="2631496"/>
            <a:ext cx="4859337" cy="2766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74551" y="2491044"/>
            <a:ext cx="3345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Tx/>
              <a:buChar char="-"/>
            </a:pP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공지사항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자유게시판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갤러리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이벤트 게시판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711093" y="3284288"/>
            <a:ext cx="2098464" cy="1460500"/>
            <a:chOff x="3711093" y="3284288"/>
            <a:chExt cx="2098464" cy="1460500"/>
          </a:xfrm>
        </p:grpSpPr>
        <p:sp>
          <p:nvSpPr>
            <p:cNvPr id="12" name="오른쪽 화살표 11"/>
            <p:cNvSpPr/>
            <p:nvPr/>
          </p:nvSpPr>
          <p:spPr>
            <a:xfrm>
              <a:off x="3711093" y="3284288"/>
              <a:ext cx="2098464" cy="1460500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98751" y="3722151"/>
              <a:ext cx="17832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dirty="0" smtClean="0">
                  <a:solidFill>
                    <a:schemeClr val="bg1"/>
                  </a:solidFill>
                  <a:latin typeface="08서울한강체 M" pitchFamily="18" charset="-127"/>
                  <a:ea typeface="08서울한강체 M" pitchFamily="18" charset="-127"/>
                </a:rPr>
                <a:t>공통사항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471" y="1283872"/>
            <a:ext cx="6469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3.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기본 게시판 틀 구현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784252" y="2012836"/>
            <a:ext cx="10294871" cy="3836757"/>
            <a:chOff x="784252" y="2012836"/>
            <a:chExt cx="10294871" cy="3836757"/>
          </a:xfrm>
        </p:grpSpPr>
        <p:sp>
          <p:nvSpPr>
            <p:cNvPr id="16" name="TextBox 15"/>
            <p:cNvSpPr txBox="1"/>
            <p:nvPr/>
          </p:nvSpPr>
          <p:spPr>
            <a:xfrm>
              <a:off x="6420002" y="2012836"/>
              <a:ext cx="4659121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리스트</a:t>
              </a:r>
              <a:r>
                <a:rPr lang="en-US" altLang="ko-KR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, 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상세페이지</a:t>
              </a:r>
              <a:r>
                <a:rPr lang="en-US" altLang="ko-KR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,       </a:t>
              </a:r>
              <a:r>
                <a:rPr lang="ko-KR" altLang="en-US" sz="2800" dirty="0" err="1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게시글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 수정</a:t>
              </a:r>
              <a:r>
                <a:rPr lang="en-US" altLang="ko-KR" sz="2800" dirty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,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삭제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세션처리 </a:t>
              </a:r>
              <a:r>
                <a:rPr lang="en-US" altLang="ko-KR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-&gt; 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수정</a:t>
              </a:r>
              <a:r>
                <a:rPr lang="en-US" altLang="ko-KR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,</a:t>
              </a: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삭제 버튼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84252" y="2445482"/>
              <a:ext cx="5453525" cy="3404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3" name="그룹 12"/>
          <p:cNvGrpSpPr/>
          <p:nvPr/>
        </p:nvGrpSpPr>
        <p:grpSpPr>
          <a:xfrm>
            <a:off x="6741530" y="5286636"/>
            <a:ext cx="4957423" cy="923022"/>
            <a:chOff x="6815961" y="3872500"/>
            <a:chExt cx="4957423" cy="923022"/>
          </a:xfrm>
        </p:grpSpPr>
        <p:sp>
          <p:nvSpPr>
            <p:cNvPr id="14" name="TextBox 13"/>
            <p:cNvSpPr txBox="1"/>
            <p:nvPr/>
          </p:nvSpPr>
          <p:spPr>
            <a:xfrm>
              <a:off x="6815961" y="4395412"/>
              <a:ext cx="4709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dirty="0" smtClean="0">
                  <a:solidFill>
                    <a:schemeClr val="bg1"/>
                  </a:solidFill>
                </a:rPr>
                <a:t>파일첨부 기능 추가</a:t>
              </a:r>
              <a:r>
                <a:rPr lang="en-US" altLang="ko-KR" sz="2000" dirty="0" smtClean="0">
                  <a:solidFill>
                    <a:schemeClr val="bg1"/>
                  </a:solidFill>
                </a:rPr>
                <a:t>, </a:t>
              </a:r>
              <a:r>
                <a:rPr lang="ko-KR" altLang="en-US" sz="2000" dirty="0" err="1" smtClean="0">
                  <a:solidFill>
                    <a:schemeClr val="bg1"/>
                  </a:solidFill>
                </a:rPr>
                <a:t>페이징</a:t>
              </a:r>
              <a:r>
                <a:rPr lang="ko-KR" altLang="en-US" sz="2000" dirty="0" smtClean="0">
                  <a:solidFill>
                    <a:schemeClr val="bg1"/>
                  </a:solidFill>
                </a:rPr>
                <a:t> 오류 수정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900481" y="3872500"/>
              <a:ext cx="4872903" cy="499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22889" y="3532876"/>
            <a:ext cx="50958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7018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471" y="1283872"/>
            <a:ext cx="6073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4.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회원가입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_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회원가입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701821" y="2430576"/>
            <a:ext cx="6512896" cy="353837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7435720" y="2430576"/>
            <a:ext cx="4563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ID</a:t>
            </a:r>
            <a:r>
              <a:rPr lang="ko-KR" altLang="en-US" sz="2800" dirty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중복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, PW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조합 체크</a:t>
            </a:r>
            <a:endParaRPr lang="en-US" altLang="ko-KR" sz="2800" dirty="0" smtClean="0">
              <a:solidFill>
                <a:schemeClr val="bg1"/>
              </a:solidFill>
              <a:latin typeface="08서울한강체 M" panose="02020603020101020101" pitchFamily="18" charset="-127"/>
              <a:ea typeface="08서울한강체 M" panose="02020603020101020101" pitchFamily="18" charset="-127"/>
            </a:endParaRP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우편번호 검색     </a:t>
            </a:r>
            <a:r>
              <a:rPr lang="en-US" altLang="ko-KR" sz="2800" dirty="0" err="1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DaumAPI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rPr>
              <a:t>활용</a:t>
            </a:r>
            <a:endParaRPr lang="en-US" altLang="ko-KR" sz="2800" dirty="0" smtClean="0">
              <a:solidFill>
                <a:schemeClr val="bg1"/>
              </a:solidFill>
              <a:latin typeface="08서울한강체 M" panose="02020603020101020101" pitchFamily="18" charset="-127"/>
              <a:ea typeface="08서울한강체 M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4010" t="639" r="777" b="21776"/>
          <a:stretch/>
        </p:blipFill>
        <p:spPr>
          <a:xfrm>
            <a:off x="8037677" y="4116727"/>
            <a:ext cx="3779520" cy="3169921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701821" y="3759200"/>
            <a:ext cx="2996419" cy="357527"/>
          </a:xfrm>
          <a:prstGeom prst="rect">
            <a:avLst/>
          </a:prstGeom>
          <a:noFill/>
          <a:ln w="38100">
            <a:solidFill>
              <a:srgbClr val="E520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61181" y="5087824"/>
            <a:ext cx="5866619" cy="357527"/>
          </a:xfrm>
          <a:prstGeom prst="rect">
            <a:avLst/>
          </a:prstGeom>
          <a:noFill/>
          <a:ln w="38100">
            <a:solidFill>
              <a:srgbClr val="E520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25000" decel="25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4.07407E-6 L -0.00078 0.03588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 animBg="1"/>
      <p:bldP spid="13" grpId="1" animBg="1"/>
      <p:bldP spid="13" grpId="2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471" y="1283872"/>
            <a:ext cx="6073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4.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회원가입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_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설문조사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01821" y="2522016"/>
            <a:ext cx="11297138" cy="3538374"/>
            <a:chOff x="701821" y="2522016"/>
            <a:chExt cx="11297138" cy="3538374"/>
          </a:xfrm>
        </p:grpSpPr>
        <p:sp>
          <p:nvSpPr>
            <p:cNvPr id="10" name="TextBox 9"/>
            <p:cNvSpPr txBox="1"/>
            <p:nvPr/>
          </p:nvSpPr>
          <p:spPr>
            <a:xfrm>
              <a:off x="7435720" y="2522016"/>
              <a:ext cx="456323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설문조사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회원가입 확인 창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01821" y="2522016"/>
              <a:ext cx="6551328" cy="3538374"/>
            </a:xfrm>
            <a:prstGeom prst="rect">
              <a:avLst/>
            </a:prstGeom>
          </p:spPr>
        </p:pic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292" t="18442" r="22297" b="49257"/>
          <a:stretch/>
        </p:blipFill>
        <p:spPr>
          <a:xfrm>
            <a:off x="4686739" y="3720710"/>
            <a:ext cx="421640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6543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5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진행사항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471" y="1283872"/>
            <a:ext cx="64695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5. </a:t>
            </a:r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로그인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641221" y="2541588"/>
            <a:ext cx="4519742" cy="3853908"/>
            <a:chOff x="641221" y="2541588"/>
            <a:chExt cx="4519742" cy="385390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55638" y="2541588"/>
              <a:ext cx="4505325" cy="3248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641221" y="5872276"/>
              <a:ext cx="39815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로그인 페이지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5606921" y="4008295"/>
            <a:ext cx="4492754" cy="2429921"/>
            <a:chOff x="5606921" y="4008295"/>
            <a:chExt cx="4492754" cy="2429921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622925" y="4008295"/>
              <a:ext cx="4476750" cy="1771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5606921" y="5914996"/>
              <a:ext cx="36386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Char char="ü"/>
              </a:pPr>
              <a:r>
                <a:rPr lang="ko-KR" altLang="en-US" sz="2800" dirty="0" smtClean="0">
                  <a:solidFill>
                    <a:schemeClr val="bg1"/>
                  </a:solidFill>
                  <a:latin typeface="08서울한강체 M" panose="02020603020101020101" pitchFamily="18" charset="-127"/>
                  <a:ea typeface="08서울한강체 M" panose="02020603020101020101" pitchFamily="18" charset="-127"/>
                </a:rPr>
                <a:t>로그인 실패 페이지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anose="02020603020101020101" pitchFamily="18" charset="-127"/>
                <a:ea typeface="08서울한강체 M" panose="02020603020101020101" pitchFamily="18" charset="-127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654360" y="1291364"/>
            <a:ext cx="4965152" cy="2189592"/>
            <a:chOff x="5654360" y="1291364"/>
            <a:chExt cx="4965152" cy="2189592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/>
            <a:srcRect l="3243" t="26709" r="2521" b="18104"/>
            <a:stretch>
              <a:fillRect/>
            </a:stretch>
          </p:blipFill>
          <p:spPr bwMode="auto">
            <a:xfrm>
              <a:off x="5683830" y="1766455"/>
              <a:ext cx="4218709" cy="13404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6"/>
            <a:srcRect l="1281" t="27528" r="3001" b="20174"/>
            <a:stretch>
              <a:fillRect/>
            </a:stretch>
          </p:blipFill>
          <p:spPr bwMode="auto">
            <a:xfrm>
              <a:off x="6380022" y="2150920"/>
              <a:ext cx="4239490" cy="13300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TextBox 13"/>
            <p:cNvSpPr txBox="1"/>
            <p:nvPr/>
          </p:nvSpPr>
          <p:spPr>
            <a:xfrm>
              <a:off x="5654360" y="1291364"/>
              <a:ext cx="36852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Wingdings" pitchFamily="2" charset="2"/>
                <a:buChar char="ü"/>
              </a:pPr>
              <a:r>
                <a:rPr lang="ko-KR" altLang="en-US" sz="2000" dirty="0" smtClean="0">
                  <a:solidFill>
                    <a:schemeClr val="bg1"/>
                  </a:solidFill>
                </a:rPr>
                <a:t> </a:t>
              </a:r>
              <a:r>
                <a:rPr lang="en-US" altLang="ko-KR" sz="2000" dirty="0" smtClean="0">
                  <a:solidFill>
                    <a:schemeClr val="bg1"/>
                  </a:solidFill>
                </a:rPr>
                <a:t>ID, PW </a:t>
              </a:r>
              <a:r>
                <a:rPr lang="ko-KR" altLang="en-US" sz="2000" dirty="0" smtClean="0">
                  <a:solidFill>
                    <a:schemeClr val="bg1"/>
                  </a:solidFill>
                </a:rPr>
                <a:t>입력 확인</a:t>
              </a:r>
              <a:endParaRPr lang="en-US" altLang="ko-KR" sz="2000" dirty="0" smtClean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8056404" y="530610"/>
            <a:ext cx="3446332" cy="523220"/>
            <a:chOff x="7765459" y="530610"/>
            <a:chExt cx="3446332" cy="523220"/>
          </a:xfrm>
        </p:grpSpPr>
        <p:sp>
          <p:nvSpPr>
            <p:cNvPr id="18" name="TextBox 17"/>
            <p:cNvSpPr txBox="1"/>
            <p:nvPr/>
          </p:nvSpPr>
          <p:spPr>
            <a:xfrm>
              <a:off x="7765459" y="530610"/>
              <a:ext cx="14209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 smtClean="0">
                  <a:solidFill>
                    <a:schemeClr val="bg1"/>
                  </a:solidFill>
                  <a:latin typeface="08서울한강체 M" pitchFamily="18" charset="-127"/>
                  <a:ea typeface="08서울한강체 M" pitchFamily="18" charset="-127"/>
                </a:rPr>
                <a:t>Model1</a:t>
              </a:r>
              <a:endParaRPr lang="ko-KR" altLang="en-US" sz="1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endParaRPr>
            </a:p>
          </p:txBody>
        </p:sp>
        <p:sp>
          <p:nvSpPr>
            <p:cNvPr id="19" name="오른쪽 화살표 18"/>
            <p:cNvSpPr/>
            <p:nvPr/>
          </p:nvSpPr>
          <p:spPr>
            <a:xfrm>
              <a:off x="9131892" y="574104"/>
              <a:ext cx="582123" cy="437022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48694" y="530610"/>
              <a:ext cx="15630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 smtClean="0">
                  <a:solidFill>
                    <a:schemeClr val="bg1"/>
                  </a:solidFill>
                  <a:latin typeface="08서울한강체 M" pitchFamily="18" charset="-127"/>
                  <a:ea typeface="08서울한강체 M" pitchFamily="18" charset="-127"/>
                </a:rPr>
                <a:t>Model2</a:t>
              </a:r>
              <a:endParaRPr lang="ko-KR" altLang="en-US" sz="1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50069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추후 </a:t>
            </a:r>
            <a:r>
              <a:rPr lang="ko-KR" altLang="en-US" sz="2800" b="1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작업방향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3180695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두 번째</a:t>
            </a:r>
            <a:r>
              <a:rPr lang="en-US" altLang="ko-KR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,</a:t>
            </a:r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 추후 </a:t>
            </a:r>
            <a:r>
              <a:rPr lang="ko-KR" altLang="en-US" sz="5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작업방향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08서울남산체 B" pitchFamily="18" charset="-127"/>
              <a:ea typeface="08서울남산체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482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추후 </a:t>
            </a:r>
            <a:r>
              <a:rPr lang="ko-KR" altLang="en-US" sz="2800" b="1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작업방향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55904" y="4509802"/>
            <a:ext cx="2711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Model2</a:t>
            </a:r>
            <a:endParaRPr lang="en-US" altLang="ko-KR" sz="48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 algn="ctr"/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(MVC</a:t>
            </a:r>
            <a:r>
              <a:rPr lang="ko-KR" altLang="en-US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패턴</a:t>
            </a:r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)</a:t>
            </a:r>
            <a:endParaRPr lang="ko-KR" altLang="en-US" sz="36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6949800" y="4784855"/>
            <a:ext cx="1502760" cy="1128178"/>
          </a:xfrm>
          <a:prstGeom prst="rightArrow">
            <a:avLst/>
          </a:prstGeom>
          <a:solidFill>
            <a:srgbClr val="E5203E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70612" y="4509802"/>
            <a:ext cx="2982853" cy="15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Spring </a:t>
            </a:r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(MVC</a:t>
            </a:r>
            <a:r>
              <a:rPr lang="ko-KR" altLang="en-US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패턴</a:t>
            </a:r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)</a:t>
            </a:r>
            <a:endParaRPr lang="ko-KR" altLang="en-US" sz="36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5801" y="1644776"/>
            <a:ext cx="60571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로그인</a:t>
            </a:r>
            <a:r>
              <a:rPr lang="en-US" altLang="ko-KR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/</a:t>
            </a: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로그아웃</a:t>
            </a:r>
            <a:endParaRPr lang="en-US" altLang="ko-KR" sz="40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회원가입</a:t>
            </a:r>
            <a:r>
              <a:rPr lang="en-US" altLang="ko-KR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/</a:t>
            </a: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수정</a:t>
            </a:r>
            <a:r>
              <a:rPr lang="en-US" altLang="ko-KR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/</a:t>
            </a: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탈퇴</a:t>
            </a:r>
            <a:endParaRPr lang="en-US" altLang="ko-KR" sz="40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ko-KR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ID/PW </a:t>
            </a: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찾기</a:t>
            </a:r>
            <a:endParaRPr lang="en-US" altLang="ko-KR" sz="40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</a:p>
        </p:txBody>
      </p: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249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추후 </a:t>
            </a:r>
            <a:r>
              <a:rPr lang="ko-KR" altLang="en-US" sz="2800" b="1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작업방향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5801" y="1644776"/>
            <a:ext cx="6057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 고도화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19385" y="3268955"/>
            <a:ext cx="3345329" cy="150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기본</a:t>
            </a:r>
            <a:endParaRPr lang="en-US" altLang="ko-KR" sz="40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576181"/>
            <a:ext cx="7313637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Tx/>
              <a:buChar char="-"/>
            </a:pP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공지사항 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: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공지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자유게시판 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: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카테고리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 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: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답글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(Ajax)</a:t>
            </a: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갤러리 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: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인피니트스크롤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, </a:t>
            </a:r>
            <a:r>
              <a:rPr lang="ko-KR" altLang="en-US" sz="32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오토박싱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  <a:buFontTx/>
              <a:buChar char="-"/>
            </a:pP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이벤트 게시판 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: 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진행중</a:t>
            </a:r>
            <a:r>
              <a:rPr lang="en-US" altLang="ko-KR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/</a:t>
            </a:r>
            <a:r>
              <a:rPr lang="ko-KR" altLang="en-US" sz="3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종료된 이벤트</a:t>
            </a:r>
            <a:endParaRPr lang="en-US" altLang="ko-KR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  <a:p>
            <a:pPr>
              <a:lnSpc>
                <a:spcPct val="120000"/>
              </a:lnSpc>
            </a:pPr>
            <a:endParaRPr lang="ko-KR" altLang="en-US" sz="3200" dirty="0" smtClean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34271" y="3037841"/>
            <a:ext cx="2061249" cy="1971040"/>
            <a:chOff x="3201631" y="3037841"/>
            <a:chExt cx="2061249" cy="1971040"/>
          </a:xfrm>
        </p:grpSpPr>
        <p:sp>
          <p:nvSpPr>
            <p:cNvPr id="15" name="오른쪽 화살표 14"/>
            <p:cNvSpPr/>
            <p:nvPr/>
          </p:nvSpPr>
          <p:spPr>
            <a:xfrm>
              <a:off x="3303231" y="3037841"/>
              <a:ext cx="1959649" cy="1971040"/>
            </a:xfrm>
            <a:prstGeom prst="rightArrow">
              <a:avLst/>
            </a:prstGeom>
            <a:solidFill>
              <a:srgbClr val="E5203E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1631" y="3527728"/>
              <a:ext cx="17674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 smtClean="0">
                  <a:solidFill>
                    <a:schemeClr val="bg1"/>
                  </a:solidFill>
                  <a:latin typeface="08서울한강체 M" pitchFamily="18" charset="-127"/>
                  <a:ea typeface="08서울한강체 M" pitchFamily="18" charset="-127"/>
                </a:rPr>
                <a:t>기능</a:t>
              </a:r>
              <a:endPara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endParaRPr>
            </a:p>
            <a:p>
              <a:pPr algn="ctr"/>
              <a:r>
                <a:rPr lang="ko-KR" altLang="en-US" sz="2800" dirty="0" smtClean="0">
                  <a:solidFill>
                    <a:schemeClr val="bg1"/>
                  </a:solidFill>
                  <a:latin typeface="08서울한강체 M" pitchFamily="18" charset="-127"/>
                  <a:ea typeface="08서울한강체 M" pitchFamily="18" charset="-127"/>
                </a:rPr>
                <a:t>추가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49769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3506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 예상 소요 및 일정</a:t>
            </a: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3180695"/>
            <a:ext cx="1219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세 번째</a:t>
            </a:r>
            <a:r>
              <a:rPr lang="en-US" altLang="ko-K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,</a:t>
            </a:r>
            <a:r>
              <a:rPr lang="ko-KR" alt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 </a:t>
            </a:r>
            <a:r>
              <a:rPr lang="ko-KR" altLang="en-US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작업예상</a:t>
            </a:r>
            <a:r>
              <a:rPr lang="ko-KR" alt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 및 </a:t>
            </a:r>
            <a:r>
              <a:rPr lang="ko-KR" altLang="en-US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08서울남산체 B" pitchFamily="18" charset="-127"/>
                <a:ea typeface="08서울남산체 B" pitchFamily="18" charset="-127"/>
              </a:rPr>
              <a:t>소요일정</a:t>
            </a:r>
            <a:endParaRPr lang="en-US" altLang="ko-K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08서울남산체 B" pitchFamily="18" charset="-127"/>
              <a:ea typeface="08서울남산체 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07050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09825776"/>
              </p:ext>
            </p:extLst>
          </p:nvPr>
        </p:nvGraphicFramePr>
        <p:xfrm>
          <a:off x="610001" y="1701425"/>
          <a:ext cx="10877079" cy="461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1121318">
                <a:tc>
                  <a:txBody>
                    <a:bodyPr/>
                    <a:lstStyle/>
                    <a:p>
                      <a:endParaRPr lang="en-US" sz="1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7. 28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8.</a:t>
                      </a:r>
                      <a:r>
                        <a:rPr lang="en-US" sz="200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4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8. 18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8. 25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9. 15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9. 29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10. 13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~</a:t>
                      </a:r>
                      <a:endParaRPr lang="en-US" sz="20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주제선정</a:t>
                      </a:r>
                      <a:endParaRPr lang="en-US" sz="20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메뉴 구성도 및 역할분담</a:t>
                      </a:r>
                      <a:endParaRPr lang="en-US" sz="20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DB</a:t>
                      </a:r>
                      <a:r>
                        <a:rPr lang="ko-KR" alt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설계</a:t>
                      </a:r>
                      <a:endParaRPr lang="en-US" sz="20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기능구현 및 디자인</a:t>
                      </a:r>
                      <a:endParaRPr lang="en-US" sz="20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0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테스트 보완</a:t>
                      </a:r>
                      <a:endParaRPr lang="en-US" sz="20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7" name="Pentagon 8"/>
          <p:cNvSpPr/>
          <p:nvPr/>
        </p:nvSpPr>
        <p:spPr>
          <a:xfrm flipV="1">
            <a:off x="3645815" y="2980694"/>
            <a:ext cx="866808" cy="391899"/>
          </a:xfrm>
          <a:prstGeom prst="homePlate">
            <a:avLst/>
          </a:prstGeom>
          <a:solidFill>
            <a:srgbClr val="1AB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Pentagon 10"/>
          <p:cNvSpPr/>
          <p:nvPr/>
        </p:nvSpPr>
        <p:spPr>
          <a:xfrm>
            <a:off x="4258040" y="3696492"/>
            <a:ext cx="2254520" cy="388600"/>
          </a:xfrm>
          <a:prstGeom prst="homePlate">
            <a:avLst/>
          </a:prstGeom>
          <a:solidFill>
            <a:srgbClr val="F1C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Pentagon 11"/>
          <p:cNvSpPr/>
          <p:nvPr/>
        </p:nvSpPr>
        <p:spPr>
          <a:xfrm>
            <a:off x="4488006" y="4397073"/>
            <a:ext cx="2989753" cy="364894"/>
          </a:xfrm>
          <a:prstGeom prst="homePlate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Pentagon 12"/>
          <p:cNvSpPr/>
          <p:nvPr/>
        </p:nvSpPr>
        <p:spPr>
          <a:xfrm>
            <a:off x="4801024" y="5085778"/>
            <a:ext cx="4556336" cy="376814"/>
          </a:xfrm>
          <a:prstGeom prst="homePlate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Pentagon 14"/>
          <p:cNvSpPr/>
          <p:nvPr/>
        </p:nvSpPr>
        <p:spPr>
          <a:xfrm>
            <a:off x="8300721" y="5798188"/>
            <a:ext cx="3098800" cy="376903"/>
          </a:xfrm>
          <a:prstGeom prst="homePlate">
            <a:avLst/>
          </a:prstGeom>
          <a:solidFill>
            <a:srgbClr val="E74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3557" y="265928"/>
            <a:ext cx="3506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 예상 소요 및 일정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4" name="그림 23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6590806" y="1483910"/>
            <a:ext cx="957631" cy="510993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6635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3273753" y="2137400"/>
            <a:ext cx="564449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0" b="1" spc="-3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Q&amp;A</a:t>
            </a:r>
            <a:endParaRPr lang="ko-KR" altLang="en-US" sz="20000" b="1" spc="-3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4" name="그림 23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2480" y="265928"/>
            <a:ext cx="20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637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20128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14648" y="3930120"/>
            <a:ext cx="76437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감사합니다</a:t>
            </a:r>
            <a:endParaRPr lang="ko-KR" altLang="en-US" sz="60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3201" y="1848114"/>
            <a:ext cx="4149708" cy="20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729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 theme" id="{1C5D189E-FD72-4570-BD83-9039D56F569B}" vid="{C7FF242B-BEBB-4996-864F-8E449359303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1721</TotalTime>
  <Words>362</Words>
  <Application>Microsoft Office PowerPoint</Application>
  <PresentationFormat>사용자 지정</PresentationFormat>
  <Paragraphs>112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굴림</vt:lpstr>
      <vt:lpstr>Arial</vt:lpstr>
      <vt:lpstr>맑은 고딕</vt:lpstr>
      <vt:lpstr>08서울한강체 M</vt:lpstr>
      <vt:lpstr>08서울남산체 B</vt:lpstr>
      <vt:lpstr>Open Sans</vt:lpstr>
      <vt:lpstr>Wingdings</vt:lpstr>
      <vt:lpstr>default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이혜강</dc:creator>
  <cp:lastModifiedBy>kitcoop</cp:lastModifiedBy>
  <cp:revision>176</cp:revision>
  <dcterms:created xsi:type="dcterms:W3CDTF">2016-03-12T15:04:52Z</dcterms:created>
  <dcterms:modified xsi:type="dcterms:W3CDTF">2017-08-25T06:46:40Z</dcterms:modified>
</cp:coreProperties>
</file>