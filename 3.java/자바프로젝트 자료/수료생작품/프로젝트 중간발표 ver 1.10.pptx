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1"/>
    <p:sldMasterId id="2147483771" r:id="rId2"/>
  </p:sldMasterIdLst>
  <p:notesMasterIdLst>
    <p:notesMasterId r:id="rId14"/>
  </p:notesMasterIdLst>
  <p:sldIdLst>
    <p:sldId id="256" r:id="rId3"/>
    <p:sldId id="274" r:id="rId4"/>
    <p:sldId id="272" r:id="rId5"/>
    <p:sldId id="273" r:id="rId6"/>
    <p:sldId id="267" r:id="rId7"/>
    <p:sldId id="266" r:id="rId8"/>
    <p:sldId id="257" r:id="rId9"/>
    <p:sldId id="268" r:id="rId10"/>
    <p:sldId id="270" r:id="rId11"/>
    <p:sldId id="271" r:id="rId12"/>
    <p:sldId id="275" r:id="rId13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33"/>
    <a:srgbClr val="FFFF66"/>
    <a:srgbClr val="FF3300"/>
    <a:srgbClr val="CC2F01"/>
    <a:srgbClr val="B27F0A"/>
    <a:srgbClr val="FEE6E2"/>
    <a:srgbClr val="6699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테마 스타일 2 - 강조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44" autoAdjust="0"/>
    <p:restoredTop sz="94682" autoAdjust="0"/>
  </p:normalViewPr>
  <p:slideViewPr>
    <p:cSldViewPr>
      <p:cViewPr varScale="1">
        <p:scale>
          <a:sx n="87" d="100"/>
          <a:sy n="87" d="100"/>
        </p:scale>
        <p:origin x="-145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BB3F6ED-8DAD-44EC-94A0-4DBBD595AC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Business6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484438" y="4581525"/>
            <a:ext cx="6475412" cy="603250"/>
          </a:xfrm>
        </p:spPr>
        <p:txBody>
          <a:bodyPr/>
          <a:lstStyle>
            <a:lvl1pPr algn="r">
              <a:defRPr sz="3200">
                <a:solidFill>
                  <a:srgbClr val="003366"/>
                </a:solidFill>
              </a:defRPr>
            </a:lvl1pPr>
          </a:lstStyle>
          <a:p>
            <a:pPr lvl="0"/>
            <a:r>
              <a:rPr lang="ko-KR" altLang="en-US" noProof="0" smtClean="0"/>
              <a:t>마스터 제목 스타일 편집</a:t>
            </a:r>
            <a:endParaRPr lang="en-US" altLang="en-US" noProof="0" smtClean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555875" y="5457825"/>
            <a:ext cx="6400800" cy="288925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400" b="1"/>
            </a:lvl1pPr>
          </a:lstStyle>
          <a:p>
            <a:pPr lvl="0"/>
            <a:r>
              <a:rPr lang="ko-KR" altLang="en-US" noProof="0" smtClean="0"/>
              <a:t>마스터 부제목 스타일 편집</a:t>
            </a:r>
            <a:endParaRPr lang="en-US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D2ED0F0-C2DB-4603-8834-66F10C1B4E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79320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08F19-E1B1-4438-A71F-E657446C78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82820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AE620-C0E0-4101-B2AB-0216356B0D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58216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03350" y="1600200"/>
            <a:ext cx="3565525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1275" y="1600200"/>
            <a:ext cx="3565525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035CF-4564-4897-ABB2-53DF96A190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44838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9AD9A-6295-41C9-A718-76B9D8B268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42803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24357-6692-4364-A49F-6FF77AE46C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20721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DFEB03-A32D-4A71-B469-6C51446404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095921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38257-313D-4AF2-B8BF-0329460A38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52724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FB5D9-2EFC-4B59-9E91-AEFC5A33E8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09021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E7AEA-1DC8-4AE1-BD10-3C689A5C02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05227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38113"/>
            <a:ext cx="2171700" cy="598805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138113"/>
            <a:ext cx="6362700" cy="598805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66944-4476-4ADC-A7C5-AD8A37100A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201958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제목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8113"/>
            <a:ext cx="6300788" cy="9271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1403350" y="1600200"/>
            <a:ext cx="7283450" cy="4525963"/>
          </a:xfrm>
        </p:spPr>
        <p:txBody>
          <a:bodyPr/>
          <a:lstStyle/>
          <a:p>
            <a:pPr lvl="0"/>
            <a:r>
              <a:rPr lang="ko-KR" altLang="en-US" noProof="0" smtClean="0"/>
              <a:t>차트를 추가하려면 아이콘을 클릭하십시오</a:t>
            </a:r>
            <a:endParaRPr lang="en-GB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7F1F8-F397-44B6-882A-FD7C6741C3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851159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400175"/>
            <a:ext cx="7315200" cy="581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828800" y="2133600"/>
            <a:ext cx="3505200" cy="4038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0" y="2133600"/>
            <a:ext cx="3505200" cy="40386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643321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corporate1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noProof="0" smtClean="0"/>
              <a:t>마스터 제목 스타일 편집</a:t>
            </a:r>
            <a:endParaRPr lang="en-US" altLang="en-US" noProof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3352800"/>
            <a:ext cx="6400800" cy="1752600"/>
          </a:xfrm>
        </p:spPr>
        <p:txBody>
          <a:bodyPr/>
          <a:lstStyle>
            <a:lvl1pPr marL="0" indent="0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ko-KR" altLang="en-US" noProof="0" smtClean="0"/>
              <a:t>마스터 부제목 스타일 편집</a:t>
            </a:r>
            <a:endParaRPr lang="en-US" altLang="en-US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5638800"/>
            <a:ext cx="1600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572107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08F19-E1B1-4438-A71F-E657446C788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8128898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AE620-C0E0-4101-B2AB-0216356B0D3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313242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3886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3886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035CF-4564-4897-ABB2-53DF96A1902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9853986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9AD9A-6295-41C9-A718-76B9D8B268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7787233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24357-6692-4364-A49F-6FF77AE46C8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788878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DFEB03-A32D-4A71-B469-6C514464043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401097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38257-313D-4AF2-B8BF-0329460A380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8234660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 smtClean="0"/>
              <a:t>그림을 추가하려면 아이콘을 클릭하십시오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FB5D9-2EFC-4B59-9E91-AEFC5A33E83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712450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E7AEA-1DC8-4AE1-BD10-3C689A5C02E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459587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5626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5626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66944-4476-4ADC-A7C5-AD8A37100A3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3940737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3886200"/>
          </a:xfrm>
        </p:spPr>
        <p:txBody>
          <a:bodyPr/>
          <a:lstStyle/>
          <a:p>
            <a:pPr lvl="0"/>
            <a:r>
              <a:rPr lang="ko-KR" altLang="en-US" noProof="0" smtClean="0"/>
              <a:t>표를 추가하려면 아이콘을 클릭하십시오</a:t>
            </a:r>
            <a:endParaRPr lang="en-GB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CCEC5E-F688-4469-A130-F691F2CABC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846583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3886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3886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D3700-B0ED-4AB8-9E0A-03062B5713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414134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Business6_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38113"/>
            <a:ext cx="6300788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altLang="en-US" dirty="0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03350" y="1600200"/>
            <a:ext cx="728345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en-US" dirty="0" smtClean="0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22CCEC5E-F688-4469-A130-F691F2CABC2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ctr" rtl="0" eaLnBrk="1" fontAlgn="base" latinLnBrk="1" hangingPunct="1">
        <a:spcBef>
          <a:spcPct val="0"/>
        </a:spcBef>
        <a:spcAft>
          <a:spcPct val="0"/>
        </a:spcAft>
        <a:defRPr sz="2800" b="1" kern="1200">
          <a:solidFill>
            <a:schemeClr val="tx2"/>
          </a:solidFill>
          <a:latin typeface="나눔바른고딕" pitchFamily="50" charset="-127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folHlink"/>
        </a:buClr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orporate1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altLang="en-US" dirty="0" smtClean="0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latin typeface="나눔바른고딕" pitchFamily="50" charset="-127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1722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latin typeface="나눔바른고딕" pitchFamily="50" charset="-127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latin typeface="나눔바른고딕" pitchFamily="50" charset="-127"/>
              </a:defRPr>
            </a:lvl1pPr>
          </a:lstStyle>
          <a:p>
            <a:pPr>
              <a:defRPr/>
            </a:pPr>
            <a:fld id="{22CCEC5E-F688-4469-A130-F691F2CABC2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000" kern="1200">
          <a:solidFill>
            <a:schemeClr val="tx2"/>
          </a:solidFill>
          <a:latin typeface="나눔바른고딕" pitchFamily="50" charset="-127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"/>
        <a:defRPr sz="25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22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chemeClr val="accent1"/>
        </a:buClr>
        <a:buSzPct val="60000"/>
        <a:buChar char="•"/>
        <a:defRPr sz="2000" kern="1200">
          <a:solidFill>
            <a:schemeClr val="tx1"/>
          </a:solidFill>
          <a:latin typeface="나눔바른고딕" pitchFamily="50" charset="-127"/>
          <a:ea typeface="+mn-ea"/>
          <a:cs typeface="+mn-cs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Comic Sans MS" panose="030F0702030302020204" pitchFamily="66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1"/>
          <p:cNvSpPr txBox="1">
            <a:spLocks/>
          </p:cNvSpPr>
          <p:nvPr/>
        </p:nvSpPr>
        <p:spPr bwMode="auto">
          <a:xfrm>
            <a:off x="657252" y="1571612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>
              <a:defRPr/>
            </a:pPr>
            <a:r>
              <a:rPr lang="ko-KR" altLang="en-US" sz="5400" kern="0" dirty="0" smtClean="0">
                <a:solidFill>
                  <a:schemeClr val="accent5">
                    <a:lumMod val="10000"/>
                  </a:schemeClr>
                </a:solidFill>
                <a:latin typeface="나눔바른고딕" pitchFamily="50" charset="-127"/>
                <a:ea typeface="나눔바른고딕" pitchFamily="50" charset="-127"/>
                <a:cs typeface="+mj-cs"/>
              </a:rPr>
              <a:t>자동차 대여 시스템</a:t>
            </a:r>
            <a:endParaRPr lang="ko-KR" altLang="en-US" sz="5400" kern="0" dirty="0">
              <a:solidFill>
                <a:schemeClr val="accent5">
                  <a:lumMod val="10000"/>
                </a:schemeClr>
              </a:solidFill>
              <a:latin typeface="나눔바른고딕" pitchFamily="50" charset="-127"/>
              <a:ea typeface="나눔바른고딕" pitchFamily="50" charset="-127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r>
              <a:rPr lang="ko-KR" altLang="en-US" sz="3600" b="1" dirty="0" smtClean="0">
                <a:solidFill>
                  <a:schemeClr val="accent2">
                    <a:lumMod val="10000"/>
                  </a:schemeClr>
                </a:solidFill>
              </a:rPr>
              <a:t>설계 흐름도</a:t>
            </a:r>
            <a:endParaRPr lang="ko-KR" altLang="en-US" sz="3600" b="1" dirty="0">
              <a:solidFill>
                <a:schemeClr val="accent2">
                  <a:lumMod val="10000"/>
                </a:schemeClr>
              </a:solidFill>
            </a:endParaRPr>
          </a:p>
        </p:txBody>
      </p:sp>
      <p:pic>
        <p:nvPicPr>
          <p:cNvPr id="4" name="내용 개체 틀 3" descr="Flowchartv0.2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32" y="1428737"/>
            <a:ext cx="9144064" cy="5429264"/>
          </a:xfrm>
          <a:effectLst>
            <a:softEdge rad="3175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r>
              <a:rPr lang="en-US" altLang="ko-KR" sz="3600" dirty="0" smtClean="0">
                <a:solidFill>
                  <a:schemeClr val="accent5">
                    <a:lumMod val="10000"/>
                  </a:schemeClr>
                </a:solidFill>
                <a:ea typeface="나눔바른고딕" pitchFamily="50" charset="-127"/>
              </a:rPr>
              <a:t>DB </a:t>
            </a:r>
            <a:r>
              <a:rPr lang="ko-KR" altLang="en-US" sz="3600" dirty="0" smtClean="0">
                <a:solidFill>
                  <a:schemeClr val="accent5">
                    <a:lumMod val="10000"/>
                  </a:schemeClr>
                </a:solidFill>
                <a:ea typeface="나눔바른고딕" pitchFamily="50" charset="-127"/>
              </a:rPr>
              <a:t>테이블 설계 </a:t>
            </a:r>
            <a:r>
              <a:rPr lang="en-US" altLang="ko-KR" sz="3600" dirty="0" smtClean="0">
                <a:solidFill>
                  <a:schemeClr val="accent5">
                    <a:lumMod val="10000"/>
                  </a:schemeClr>
                </a:solidFill>
                <a:ea typeface="나눔바른고딕" pitchFamily="50" charset="-127"/>
              </a:rPr>
              <a:t>– </a:t>
            </a:r>
            <a:r>
              <a:rPr lang="ko-KR" altLang="en-US" sz="3600" dirty="0" smtClean="0">
                <a:solidFill>
                  <a:schemeClr val="accent5">
                    <a:lumMod val="10000"/>
                  </a:schemeClr>
                </a:solidFill>
                <a:ea typeface="나눔바른고딕" pitchFamily="50" charset="-127"/>
              </a:rPr>
              <a:t>차량</a:t>
            </a:r>
            <a:endParaRPr lang="ko-KR" altLang="en-US" sz="3600" dirty="0">
              <a:solidFill>
                <a:schemeClr val="accent5">
                  <a:lumMod val="10000"/>
                </a:schemeClr>
              </a:solidFill>
              <a:ea typeface="나눔바른고딕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+mn-lt"/>
              <a:ea typeface="나눔바른고딕" pitchFamily="50" charset="-127"/>
            </a:endParaRP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CREATE TABLE VEHICLE(  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V_ID 		NUMBER 		NOT NULL, 	/*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고유 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ID (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중복 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x)*/	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V_NUM		VARCHAR2(10) 	NOT NULL, 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차량번호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중복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X)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V_NAME   	VARCHAR2(20) 	NOT NULL,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이름 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(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제네시스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, SM5)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V_TYPE    		VARCHAR2(10),  	        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종류 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중형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세단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)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V_DAYPRICE      	NUMBER,          	 	/* 1day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렌트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비용 *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V_PRICE           	NUMBER,          	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가격 *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V_RENTEDYN   	CHAR(1)  DEFAULT 'n' 	NOT NULL, 	/*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챠량대여가능유무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-&gt;'n' or 'y'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V_PURDATE   	DATE, 		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차량의 구매날짜 *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V_DESC    	VARCHAR2(4000), 	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차량의 소개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설명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)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V_IMG   		VARCHAR2(50), 		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차량의 이미지를 저장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경로명과 파일명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)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V_RENTCNT	NUMBER,			/*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차량이 </a:t>
            </a:r>
            <a:r>
              <a:rPr lang="ko-KR" altLang="en-US" sz="1200" dirty="0" err="1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렌트된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횟수*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V_REPAIRYN	CHAR(1)  DEFAULT 'n' 	NOT NULL,  /* 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수리여부 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-&gt; 'n' or 'y' */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V_REPAIRSTD	DATE,			/*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정비 입고 날짜 *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V_REPAIREND	DATE,			/*</a:t>
            </a:r>
            <a:r>
              <a:rPr lang="ko-KR" altLang="en-US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차량 정비 출고 날짜 *</a:t>
            </a: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  PRIMARY KEY (V_ID)</a:t>
            </a:r>
          </a:p>
          <a:p>
            <a:pPr>
              <a:buNone/>
            </a:pPr>
            <a:r>
              <a:rPr lang="en-US" altLang="ko-KR" sz="1200" dirty="0" smtClean="0">
                <a:solidFill>
                  <a:schemeClr val="bg1">
                    <a:lumMod val="95000"/>
                  </a:schemeClr>
                </a:solidFill>
                <a:latin typeface="+mn-lt"/>
                <a:ea typeface="나눔바른고딕" pitchFamily="50" charset="-127"/>
              </a:rPr>
              <a:t>);</a:t>
            </a:r>
          </a:p>
          <a:p>
            <a:endParaRPr lang="en-US" altLang="ko-KR" sz="1200" dirty="0" smtClean="0">
              <a:solidFill>
                <a:schemeClr val="bg1">
                  <a:lumMod val="95000"/>
                </a:schemeClr>
              </a:solidFill>
              <a:latin typeface="+mn-lt"/>
              <a:ea typeface="나눔바른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ko-KR" sz="1200" dirty="0" smtClean="0">
                <a:latin typeface="+mn-lt"/>
              </a:rPr>
              <a:t>CREATE TABLE CUSTOMER(  			 /*</a:t>
            </a:r>
            <a:r>
              <a:rPr lang="ko-KR" altLang="en-US" sz="1200" dirty="0" smtClean="0">
                <a:latin typeface="+mn-lt"/>
              </a:rPr>
              <a:t>고객테이블*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C_ID   		NUMBER 		NOT NULL,	/* </a:t>
            </a:r>
            <a:r>
              <a:rPr lang="ko-KR" altLang="en-US" sz="1200" dirty="0" smtClean="0">
                <a:latin typeface="+mn-lt"/>
              </a:rPr>
              <a:t>고객번호</a:t>
            </a:r>
            <a:r>
              <a:rPr lang="en-US" altLang="ko-KR" sz="1200" dirty="0" smtClean="0">
                <a:latin typeface="+mn-lt"/>
              </a:rPr>
              <a:t>(</a:t>
            </a:r>
            <a:r>
              <a:rPr lang="en-US" altLang="ko-KR" sz="1200" dirty="0" err="1" smtClean="0">
                <a:latin typeface="+mn-lt"/>
              </a:rPr>
              <a:t>pk</a:t>
            </a:r>
            <a:r>
              <a:rPr lang="en-US" altLang="ko-KR" sz="1200" dirty="0" smtClean="0">
                <a:latin typeface="+mn-lt"/>
              </a:rPr>
              <a:t>) */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C_NAME    	VARCHAR2(10)         	NOT NULL,	/* </a:t>
            </a:r>
            <a:r>
              <a:rPr lang="ko-KR" altLang="en-US" sz="1200" dirty="0" smtClean="0">
                <a:latin typeface="+mn-lt"/>
              </a:rPr>
              <a:t>고객이름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C_TEL     		VARCHAR2(14)           	NOT NULL,	/* </a:t>
            </a:r>
            <a:r>
              <a:rPr lang="ko-KR" altLang="en-US" sz="1200" dirty="0" smtClean="0">
                <a:latin typeface="+mn-lt"/>
              </a:rPr>
              <a:t>고객전번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C_BDATE    	DATE,                   		/* </a:t>
            </a:r>
            <a:r>
              <a:rPr lang="ko-KR" altLang="en-US" sz="1200" dirty="0" smtClean="0">
                <a:latin typeface="+mn-lt"/>
              </a:rPr>
              <a:t>고객의 생년월일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C_TOTPRICE     	NUMBER,         		/* </a:t>
            </a:r>
            <a:r>
              <a:rPr lang="ko-KR" altLang="en-US" sz="1200" dirty="0" smtClean="0">
                <a:latin typeface="+mn-lt"/>
              </a:rPr>
              <a:t>이 고객이 렌트한 총 비용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C_TRANSNO   	NUMBER,         		/*</a:t>
            </a:r>
            <a:r>
              <a:rPr lang="ko-KR" altLang="en-US" sz="1200" dirty="0" smtClean="0">
                <a:latin typeface="+mn-lt"/>
              </a:rPr>
              <a:t>대여</a:t>
            </a:r>
            <a:r>
              <a:rPr lang="en-US" altLang="ko-KR" sz="1200" dirty="0" smtClean="0">
                <a:latin typeface="+mn-lt"/>
              </a:rPr>
              <a:t>/</a:t>
            </a:r>
            <a:r>
              <a:rPr lang="ko-KR" altLang="en-US" sz="1200" dirty="0" smtClean="0">
                <a:latin typeface="+mn-lt"/>
              </a:rPr>
              <a:t>반납번호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PRIMARY KEY (C_ID));</a:t>
            </a:r>
          </a:p>
          <a:p>
            <a:pPr>
              <a:buNone/>
            </a:pPr>
            <a:endParaRPr lang="ko-KR" altLang="en-US" sz="1200" dirty="0" smtClean="0">
              <a:latin typeface="+mn-lt"/>
            </a:endParaRP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CREATE TABLE RENTDATA(  			/*</a:t>
            </a:r>
            <a:r>
              <a:rPr lang="ko-KR" altLang="en-US" sz="1200" dirty="0" smtClean="0">
                <a:latin typeface="+mn-lt"/>
              </a:rPr>
              <a:t>대여</a:t>
            </a:r>
            <a:r>
              <a:rPr lang="en-US" altLang="ko-KR" sz="1200" dirty="0" smtClean="0">
                <a:latin typeface="+mn-lt"/>
              </a:rPr>
              <a:t>/</a:t>
            </a:r>
            <a:r>
              <a:rPr lang="ko-KR" altLang="en-US" sz="1200" dirty="0" smtClean="0">
                <a:latin typeface="+mn-lt"/>
              </a:rPr>
              <a:t>반납 테이블*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C_TRANSNO 	NUMBER,      		/*</a:t>
            </a:r>
            <a:r>
              <a:rPr lang="ko-KR" altLang="en-US" sz="1200" dirty="0" smtClean="0">
                <a:latin typeface="+mn-lt"/>
              </a:rPr>
              <a:t>대여</a:t>
            </a:r>
            <a:r>
              <a:rPr lang="en-US" altLang="ko-KR" sz="1200" dirty="0" smtClean="0">
                <a:latin typeface="+mn-lt"/>
              </a:rPr>
              <a:t>/</a:t>
            </a:r>
            <a:r>
              <a:rPr lang="ko-KR" altLang="en-US" sz="1200" dirty="0" smtClean="0">
                <a:latin typeface="+mn-lt"/>
              </a:rPr>
              <a:t>반납번호</a:t>
            </a:r>
            <a:r>
              <a:rPr lang="en-US" altLang="ko-KR" sz="1200" dirty="0" smtClean="0">
                <a:latin typeface="+mn-lt"/>
              </a:rPr>
              <a:t>(</a:t>
            </a:r>
            <a:r>
              <a:rPr lang="en-US" altLang="ko-KR" sz="1200" dirty="0" err="1" smtClean="0">
                <a:latin typeface="+mn-lt"/>
              </a:rPr>
              <a:t>pk</a:t>
            </a:r>
            <a:r>
              <a:rPr lang="en-US" altLang="ko-KR" sz="1200" dirty="0" smtClean="0">
                <a:latin typeface="+mn-lt"/>
              </a:rPr>
              <a:t>) */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C_ID     		NUMBER             	NOT NULL,	/* </a:t>
            </a:r>
            <a:r>
              <a:rPr lang="ko-KR" altLang="en-US" sz="1200" dirty="0" smtClean="0">
                <a:latin typeface="+mn-lt"/>
              </a:rPr>
              <a:t>고객 </a:t>
            </a:r>
            <a:r>
              <a:rPr lang="en-US" altLang="ko-KR" sz="1200" dirty="0" smtClean="0">
                <a:latin typeface="+mn-lt"/>
              </a:rPr>
              <a:t>ID */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V_ID     		NUMBER           	NOT NULL,	/* </a:t>
            </a:r>
            <a:r>
              <a:rPr lang="ko-KR" altLang="en-US" sz="1200" dirty="0" smtClean="0">
                <a:latin typeface="+mn-lt"/>
              </a:rPr>
              <a:t>차량 </a:t>
            </a:r>
            <a:r>
              <a:rPr lang="en-US" altLang="ko-KR" sz="1200" dirty="0" smtClean="0">
                <a:latin typeface="+mn-lt"/>
              </a:rPr>
              <a:t>ID  */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V_RENTDATE   	DATE,             		/* </a:t>
            </a:r>
            <a:r>
              <a:rPr lang="ko-KR" altLang="en-US" sz="1200" dirty="0" smtClean="0">
                <a:latin typeface="+mn-lt"/>
              </a:rPr>
              <a:t>차량 </a:t>
            </a:r>
            <a:r>
              <a:rPr lang="ko-KR" altLang="en-US" sz="1200" dirty="0" err="1" smtClean="0">
                <a:latin typeface="+mn-lt"/>
              </a:rPr>
              <a:t>대여일짜</a:t>
            </a:r>
            <a:r>
              <a:rPr lang="ko-KR" altLang="en-US" sz="1200" dirty="0" smtClean="0">
                <a:latin typeface="+mn-lt"/>
              </a:rPr>
              <a:t>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V_EXPRETDATE    	DATE,            		/* </a:t>
            </a:r>
            <a:r>
              <a:rPr lang="ko-KR" altLang="en-US" sz="1200" dirty="0" smtClean="0">
                <a:latin typeface="+mn-lt"/>
              </a:rPr>
              <a:t>차량의 예정 반납일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V_ACTRETDATE	DATE,	       		/*</a:t>
            </a:r>
            <a:r>
              <a:rPr lang="ko-KR" altLang="en-US" sz="1200" dirty="0" smtClean="0">
                <a:latin typeface="+mn-lt"/>
              </a:rPr>
              <a:t>차량의 실제 반납일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C_RENTPRICE     	NUMBER,        		/*</a:t>
            </a:r>
            <a:r>
              <a:rPr lang="ko-KR" altLang="en-US" sz="1200" dirty="0" smtClean="0">
                <a:latin typeface="+mn-lt"/>
              </a:rPr>
              <a:t>이 차량에 대한 총 렌트 비용 *</a:t>
            </a:r>
            <a:r>
              <a:rPr lang="en-US" altLang="ko-KR" sz="1200" dirty="0" smtClean="0">
                <a:latin typeface="+mn-lt"/>
              </a:rPr>
              <a:t>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V_TRANSSTATE    	VARCHAR(10),     		/* </a:t>
            </a:r>
            <a:r>
              <a:rPr lang="ko-KR" altLang="en-US" sz="1200" dirty="0" err="1" smtClean="0">
                <a:latin typeface="+mn-lt"/>
              </a:rPr>
              <a:t>대여됬는지</a:t>
            </a:r>
            <a:r>
              <a:rPr lang="en-US" altLang="ko-KR" sz="1200" dirty="0" smtClean="0">
                <a:latin typeface="+mn-lt"/>
              </a:rPr>
              <a:t>/</a:t>
            </a:r>
            <a:r>
              <a:rPr lang="ko-KR" altLang="en-US" sz="1200" dirty="0" err="1" smtClean="0">
                <a:latin typeface="+mn-lt"/>
              </a:rPr>
              <a:t>정비중인지</a:t>
            </a:r>
            <a:r>
              <a:rPr lang="en-US" altLang="ko-KR" sz="1200" dirty="0" smtClean="0">
                <a:latin typeface="+mn-lt"/>
              </a:rPr>
              <a:t>/</a:t>
            </a:r>
            <a:r>
              <a:rPr lang="ko-KR" altLang="en-US" sz="1200" dirty="0" smtClean="0">
                <a:latin typeface="+mn-lt"/>
              </a:rPr>
              <a:t>대여가능한지</a:t>
            </a:r>
            <a:r>
              <a:rPr lang="en-US" altLang="ko-KR" sz="1200" dirty="0" smtClean="0">
                <a:latin typeface="+mn-lt"/>
              </a:rPr>
              <a:t>					RENTED/REPAIR/READY </a:t>
            </a:r>
            <a:r>
              <a:rPr lang="ko-KR" altLang="en-US" sz="1200" dirty="0" smtClean="0">
                <a:latin typeface="+mn-lt"/>
              </a:rPr>
              <a:t>로 표시</a:t>
            </a:r>
            <a:r>
              <a:rPr lang="en-US" altLang="ko-KR" sz="1200" dirty="0" smtClean="0">
                <a:latin typeface="+mn-lt"/>
              </a:rPr>
              <a:t>*/</a:t>
            </a:r>
          </a:p>
          <a:p>
            <a:pPr>
              <a:buNone/>
            </a:pPr>
            <a:r>
              <a:rPr lang="en-US" altLang="ko-KR" sz="1200" dirty="0" smtClean="0">
                <a:latin typeface="+mn-lt"/>
              </a:rPr>
              <a:t>  PRIMARY KEY (C_TRANSNO));</a:t>
            </a:r>
            <a:endParaRPr lang="ko-KR" altLang="en-US" sz="1200" dirty="0" smtClean="0">
              <a:latin typeface="+mn-lt"/>
            </a:endParaRPr>
          </a:p>
          <a:p>
            <a:endParaRPr lang="ko-KR" altLang="en-US" sz="1200" dirty="0">
              <a:latin typeface="+mn-lt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 bwMode="auto">
          <a:xfrm>
            <a:off x="799450" y="35716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DB </a:t>
            </a:r>
            <a:r>
              <a:rPr kumimoji="1" lang="ko-KR" altLang="en-US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테이블 설계 </a:t>
            </a:r>
            <a:r>
              <a:rPr kumimoji="1" lang="en-US" altLang="ko-KR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– </a:t>
            </a:r>
            <a:r>
              <a:rPr kumimoji="1" lang="ko-KR" altLang="en-US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고객</a:t>
            </a:r>
            <a:r>
              <a:rPr kumimoji="1" lang="en-US" altLang="ko-KR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/</a:t>
            </a:r>
            <a:r>
              <a:rPr kumimoji="1" lang="ko-KR" altLang="en-US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대여</a:t>
            </a:r>
            <a:r>
              <a:rPr kumimoji="1" lang="en-US" altLang="ko-KR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,</a:t>
            </a:r>
            <a:r>
              <a:rPr kumimoji="1" lang="ko-KR" altLang="en-US" sz="3600" b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10000"/>
                  </a:schemeClr>
                </a:solidFill>
                <a:effectLst/>
                <a:uLnTx/>
                <a:uFillTx/>
                <a:latin typeface="나눔바른고딕" pitchFamily="50" charset="-127"/>
                <a:ea typeface="나눔바른고딕" pitchFamily="50" charset="-127"/>
                <a:cs typeface="+mj-cs"/>
              </a:rPr>
              <a:t>반납</a:t>
            </a:r>
            <a:endParaRPr kumimoji="1" lang="ko-KR" altLang="en-US" sz="3600" b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10000"/>
                </a:schemeClr>
              </a:solidFill>
              <a:effectLst/>
              <a:uLnTx/>
              <a:uFillTx/>
              <a:latin typeface="나눔바른고딕" pitchFamily="50" charset="-127"/>
              <a:ea typeface="나눔바른고딕" pitchFamily="50" charset="-127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3600" dirty="0" smtClean="0">
                <a:solidFill>
                  <a:schemeClr val="accent5">
                    <a:lumMod val="10000"/>
                  </a:schemeClr>
                </a:solidFill>
                <a:ea typeface="나눔바른고딕" pitchFamily="50" charset="-127"/>
              </a:rPr>
              <a:t>역할 분담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ko-KR" altLang="en-US" sz="2000" dirty="0" smtClean="0">
                <a:solidFill>
                  <a:srgbClr val="FFC000"/>
                </a:solidFill>
                <a:ea typeface="나눔바른고딕" pitchFamily="50" charset="-127"/>
              </a:rPr>
              <a:t>김지성</a:t>
            </a:r>
            <a:r>
              <a:rPr lang="en-US" altLang="ko-KR" sz="2000" dirty="0" smtClean="0">
                <a:solidFill>
                  <a:srgbClr val="FFC000"/>
                </a:solidFill>
                <a:ea typeface="나눔바른고딕" pitchFamily="50" charset="-127"/>
              </a:rPr>
              <a:t>(</a:t>
            </a:r>
            <a:r>
              <a:rPr lang="ko-KR" altLang="en-US" sz="2000" dirty="0" smtClean="0">
                <a:solidFill>
                  <a:srgbClr val="FFC000"/>
                </a:solidFill>
                <a:ea typeface="나눔바른고딕" pitchFamily="50" charset="-127"/>
              </a:rPr>
              <a:t>팀장</a:t>
            </a:r>
            <a:r>
              <a:rPr lang="en-US" altLang="ko-KR" sz="2000" dirty="0" smtClean="0">
                <a:solidFill>
                  <a:srgbClr val="FFC000"/>
                </a:solidFill>
                <a:ea typeface="나눔바른고딕" pitchFamily="50" charset="-127"/>
              </a:rPr>
              <a:t>)</a:t>
            </a:r>
            <a:endParaRPr lang="ko-KR" altLang="en-US" sz="2000" dirty="0" smtClean="0">
              <a:solidFill>
                <a:srgbClr val="FFC000"/>
              </a:solidFill>
              <a:ea typeface="나눔바른고딕" pitchFamily="50" charset="-127"/>
            </a:endParaRPr>
          </a:p>
          <a:p>
            <a:pPr lvl="1" eaLnBrk="1" hangingPunct="1"/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차량 정보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,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재무관리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UI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구현 및 기능 구현  </a:t>
            </a:r>
          </a:p>
          <a:p>
            <a:pPr eaLnBrk="1" hangingPunct="1"/>
            <a:r>
              <a:rPr lang="ko-KR" altLang="en-US" sz="2000" dirty="0" smtClean="0">
                <a:solidFill>
                  <a:srgbClr val="FF9933"/>
                </a:solidFill>
                <a:ea typeface="나눔바른고딕" pitchFamily="50" charset="-127"/>
              </a:rPr>
              <a:t>조준기</a:t>
            </a:r>
          </a:p>
          <a:p>
            <a:pPr lvl="1" eaLnBrk="1" hangingPunct="1"/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차량 정보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CRUD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 구현 </a:t>
            </a:r>
          </a:p>
          <a:p>
            <a:pPr eaLnBrk="1" hangingPunct="1"/>
            <a:r>
              <a:rPr lang="ko-KR" altLang="en-US" sz="2000" dirty="0" smtClean="0">
                <a:solidFill>
                  <a:srgbClr val="FF9933"/>
                </a:solidFill>
                <a:ea typeface="나눔바른고딕" pitchFamily="50" charset="-127"/>
              </a:rPr>
              <a:t>박준성</a:t>
            </a:r>
          </a:p>
          <a:p>
            <a:pPr lvl="1" eaLnBrk="1" hangingPunct="1"/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차량 정보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,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 재무관리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UI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설계 및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DB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설계</a:t>
            </a:r>
            <a:endParaRPr lang="en-US" altLang="ko-KR" sz="2000" dirty="0" smtClean="0">
              <a:solidFill>
                <a:srgbClr val="002060"/>
              </a:solidFill>
              <a:ea typeface="나눔바른고딕" pitchFamily="50" charset="-127"/>
            </a:endParaRPr>
          </a:p>
          <a:p>
            <a:pPr eaLnBrk="1" hangingPunct="1"/>
            <a:r>
              <a:rPr lang="ko-KR" altLang="en-US" sz="2000" dirty="0" smtClean="0">
                <a:solidFill>
                  <a:srgbClr val="FF9933"/>
                </a:solidFill>
                <a:ea typeface="나눔바른고딕" pitchFamily="50" charset="-127"/>
              </a:rPr>
              <a:t>박재민</a:t>
            </a:r>
          </a:p>
          <a:p>
            <a:pPr lvl="1" eaLnBrk="1" hangingPunct="1"/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대여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/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반납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,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고객정보 기능 구현</a:t>
            </a:r>
            <a:endParaRPr lang="en-US" altLang="ko-KR" sz="2000" dirty="0" smtClean="0">
              <a:solidFill>
                <a:srgbClr val="002060"/>
              </a:solidFill>
              <a:ea typeface="나눔바른고딕" pitchFamily="50" charset="-127"/>
            </a:endParaRPr>
          </a:p>
          <a:p>
            <a:pPr eaLnBrk="1" hangingPunct="1"/>
            <a:r>
              <a:rPr lang="ko-KR" altLang="en-US" sz="2000" dirty="0" smtClean="0">
                <a:solidFill>
                  <a:srgbClr val="FF9933"/>
                </a:solidFill>
                <a:ea typeface="나눔바른고딕" pitchFamily="50" charset="-127"/>
              </a:rPr>
              <a:t>소주영</a:t>
            </a:r>
          </a:p>
          <a:p>
            <a:pPr lvl="1" eaLnBrk="1" hangingPunct="1"/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DB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매니저 클래스 작성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(JDBC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정보 처리 </a:t>
            </a:r>
            <a:r>
              <a:rPr lang="ko-KR" altLang="en-US" sz="2000" dirty="0" err="1" smtClean="0">
                <a:solidFill>
                  <a:srgbClr val="002060"/>
                </a:solidFill>
                <a:ea typeface="나눔바른고딕" pitchFamily="50" charset="-127"/>
              </a:rPr>
              <a:t>메소드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구현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)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 </a:t>
            </a:r>
          </a:p>
          <a:p>
            <a:pPr eaLnBrk="1" hangingPunct="1"/>
            <a:r>
              <a:rPr lang="ko-KR" altLang="en-US" sz="2000" dirty="0" smtClean="0">
                <a:solidFill>
                  <a:srgbClr val="FF9933"/>
                </a:solidFill>
                <a:ea typeface="나눔바른고딕" pitchFamily="50" charset="-127"/>
              </a:rPr>
              <a:t>김형수</a:t>
            </a:r>
          </a:p>
          <a:p>
            <a:pPr lvl="1" eaLnBrk="1" hangingPunct="1"/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대여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/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반납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, 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고객정보 </a:t>
            </a:r>
            <a:r>
              <a:rPr lang="en-US" altLang="ko-KR" sz="2000" dirty="0" smtClean="0">
                <a:solidFill>
                  <a:srgbClr val="002060"/>
                </a:solidFill>
                <a:ea typeface="나눔바른고딕" pitchFamily="50" charset="-127"/>
              </a:rPr>
              <a:t>UI</a:t>
            </a:r>
            <a:r>
              <a:rPr lang="ko-KR" altLang="en-US" sz="2000" dirty="0" smtClean="0">
                <a:solidFill>
                  <a:srgbClr val="002060"/>
                </a:solidFill>
                <a:ea typeface="나눔바른고딕" pitchFamily="50" charset="-127"/>
              </a:rPr>
              <a:t>초기 설계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ko-KR" altLang="en-US" sz="2000" dirty="0" smtClean="0">
                <a:solidFill>
                  <a:srgbClr val="FF9933"/>
                </a:solidFill>
                <a:ea typeface="나눔바른고딕" pitchFamily="50" charset="-127"/>
              </a:rPr>
              <a:t>  </a:t>
            </a:r>
          </a:p>
          <a:p>
            <a:pPr lvl="1" eaLnBrk="1" hangingPunct="1"/>
            <a:endParaRPr lang="en-US" altLang="ko-KR" sz="2000" dirty="0" smtClean="0">
              <a:solidFill>
                <a:srgbClr val="FF9933"/>
              </a:solidFill>
              <a:ea typeface="나눔바른고딕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3600" dirty="0" smtClean="0">
                <a:solidFill>
                  <a:schemeClr val="accent5">
                    <a:lumMod val="10000"/>
                  </a:schemeClr>
                </a:solidFill>
                <a:ea typeface="나눔바른고딕" pitchFamily="50" charset="-127"/>
              </a:rPr>
              <a:t>일정 계획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00034" y="1785926"/>
          <a:ext cx="8191536" cy="4572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942"/>
                <a:gridCol w="1023942"/>
                <a:gridCol w="1023942"/>
                <a:gridCol w="1023942"/>
                <a:gridCol w="1023942"/>
                <a:gridCol w="1023942"/>
                <a:gridCol w="1023942"/>
                <a:gridCol w="1023942"/>
              </a:tblGrid>
              <a:tr h="9144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12.27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12.28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12.29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12.30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01.03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01.04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01.05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</a:tr>
              <a:tr h="9144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UI</a:t>
                      </a:r>
                      <a:r>
                        <a:rPr lang="en-US" altLang="ko-KR" sz="1600" b="1" baseline="0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 </a:t>
                      </a:r>
                      <a:r>
                        <a:rPr lang="ko-KR" altLang="en-US" sz="1600" b="1" baseline="0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설계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9144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DB </a:t>
                      </a:r>
                      <a:r>
                        <a:rPr lang="ko-KR" altLang="en-US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설계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9144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기능 구현</a:t>
                      </a:r>
                      <a:endParaRPr lang="en-US" altLang="ko-KR" sz="1600" b="1" dirty="0" smtClean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en-US" altLang="ko-KR" sz="1600" b="1" dirty="0" smtClean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</a:tr>
              <a:tr h="91440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600" b="1" dirty="0" smtClean="0">
                          <a:solidFill>
                            <a:schemeClr val="accent2">
                              <a:lumMod val="10000"/>
                            </a:schemeClr>
                          </a:solidFill>
                          <a:latin typeface="나눔바른고딕" pitchFamily="50" charset="-127"/>
                          <a:ea typeface="나눔바른고딕" pitchFamily="50" charset="-127"/>
                          <a:cs typeface="Times New Roman" pitchFamily="18" charset="0"/>
                        </a:rPr>
                        <a:t>테스트 및 수정 보완</a:t>
                      </a: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600" b="1" dirty="0">
                        <a:solidFill>
                          <a:schemeClr val="accent2">
                            <a:lumMod val="10000"/>
                          </a:schemeClr>
                        </a:solidFill>
                        <a:latin typeface="나눔바른고딕" pitchFamily="50" charset="-127"/>
                        <a:ea typeface="나눔바른고딕" pitchFamily="50" charset="-127"/>
                        <a:cs typeface="Times New Roman" pitchFamily="18" charset="0"/>
                      </a:endParaRPr>
                    </a:p>
                  </a:txBody>
                  <a:tcPr anchor="ctr">
                    <a:cell3D prstMaterial="dkEdge">
                      <a:bevel prst="coolSlant"/>
                      <a:lightRig rig="flood" dir="t"/>
                    </a:cell3D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sp>
        <p:nvSpPr>
          <p:cNvPr id="5" name="오른쪽 화살표 4"/>
          <p:cNvSpPr/>
          <p:nvPr/>
        </p:nvSpPr>
        <p:spPr>
          <a:xfrm>
            <a:off x="1714480" y="3000372"/>
            <a:ext cx="1714512" cy="50006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1714480" y="3714752"/>
            <a:ext cx="2786082" cy="50006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643306" y="4643446"/>
            <a:ext cx="2786082" cy="50006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6715140" y="5643578"/>
            <a:ext cx="1928826" cy="50006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3600" dirty="0" smtClean="0">
                <a:solidFill>
                  <a:srgbClr val="000000"/>
                </a:solidFill>
              </a:rPr>
              <a:t>고객 창 화면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71500" y="1999456"/>
            <a:ext cx="80010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아래쪽 화살표 6"/>
          <p:cNvSpPr/>
          <p:nvPr/>
        </p:nvSpPr>
        <p:spPr>
          <a:xfrm rot="3634103">
            <a:off x="3537754" y="4345741"/>
            <a:ext cx="428628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429124" y="4143380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tlfgod</a:t>
            </a:r>
            <a:endParaRPr lang="ko-KR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71556" y="357174"/>
            <a:ext cx="8229600" cy="1143000"/>
          </a:xfrm>
        </p:spPr>
        <p:txBody>
          <a:bodyPr/>
          <a:lstStyle/>
          <a:p>
            <a:pPr eaLnBrk="1" hangingPunct="1"/>
            <a:r>
              <a:rPr lang="ko-KR" altLang="en-US" sz="3600" dirty="0" smtClean="0">
                <a:solidFill>
                  <a:srgbClr val="000000"/>
                </a:solidFill>
              </a:rPr>
              <a:t>자동차 등록 및 수정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1500174"/>
            <a:ext cx="5214974" cy="52022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3175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pPr eaLnBrk="1" hangingPunct="1"/>
            <a:r>
              <a:rPr lang="ko-KR" altLang="en-US" sz="3600" dirty="0" smtClean="0">
                <a:solidFill>
                  <a:srgbClr val="000000"/>
                </a:solidFill>
              </a:rPr>
              <a:t>대여</a:t>
            </a:r>
            <a:r>
              <a:rPr lang="en-US" altLang="ko-KR" sz="3600" dirty="0" smtClean="0">
                <a:solidFill>
                  <a:srgbClr val="000000"/>
                </a:solidFill>
              </a:rPr>
              <a:t>/</a:t>
            </a:r>
            <a:r>
              <a:rPr lang="ko-KR" altLang="en-US" sz="3600" dirty="0" smtClean="0">
                <a:solidFill>
                  <a:srgbClr val="000000"/>
                </a:solidFill>
              </a:rPr>
              <a:t>반납 창 화면</a:t>
            </a:r>
          </a:p>
        </p:txBody>
      </p:sp>
      <p:pic>
        <p:nvPicPr>
          <p:cNvPr id="7" name="내용 개체 틀 6" descr="VehicleRentUI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8596" y="1714488"/>
            <a:ext cx="8229600" cy="4623265"/>
          </a:xfr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771556" y="357166"/>
            <a:ext cx="8229600" cy="1143000"/>
          </a:xfrm>
        </p:spPr>
        <p:txBody>
          <a:bodyPr/>
          <a:lstStyle/>
          <a:p>
            <a:pPr eaLnBrk="1" hangingPunct="1"/>
            <a:r>
              <a:rPr lang="ko-KR" altLang="en-US" sz="3600" dirty="0" smtClean="0">
                <a:solidFill>
                  <a:srgbClr val="000000"/>
                </a:solidFill>
              </a:rPr>
              <a:t>매출 및 재고 현황 창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4348" y="1728810"/>
            <a:ext cx="7658100" cy="4914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  <a:softEdge rad="31750"/>
          </a:effec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00128" y="357174"/>
            <a:ext cx="7772400" cy="1143000"/>
          </a:xfrm>
        </p:spPr>
        <p:txBody>
          <a:bodyPr/>
          <a:lstStyle/>
          <a:p>
            <a:r>
              <a:rPr lang="ko-KR" altLang="en-US" sz="3600" dirty="0" smtClean="0">
                <a:solidFill>
                  <a:schemeClr val="accent2">
                    <a:lumMod val="10000"/>
                  </a:schemeClr>
                </a:solidFill>
                <a:ea typeface="나눔바른고딕" pitchFamily="50" charset="-127"/>
              </a:rPr>
              <a:t>감사합니다</a:t>
            </a:r>
            <a:r>
              <a:rPr lang="en-US" altLang="ko-KR" sz="3600" dirty="0" smtClean="0">
                <a:solidFill>
                  <a:schemeClr val="accent2">
                    <a:lumMod val="10000"/>
                  </a:schemeClr>
                </a:solidFill>
                <a:ea typeface="나눔바른고딕" pitchFamily="50" charset="-127"/>
              </a:rPr>
              <a:t>. </a:t>
            </a:r>
            <a:endParaRPr lang="ko-KR" altLang="en-US" sz="3600" dirty="0">
              <a:solidFill>
                <a:schemeClr val="accent2">
                  <a:lumMod val="10000"/>
                </a:schemeClr>
              </a:solidFill>
              <a:ea typeface="나눔바른고딕" pitchFamily="50" charset="-127"/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00034" y="2409828"/>
            <a:ext cx="8072494" cy="4091006"/>
          </a:xfrm>
        </p:spPr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sz="7200" dirty="0" err="1" smtClean="0">
                <a:solidFill>
                  <a:schemeClr val="accent5">
                    <a:lumMod val="10000"/>
                  </a:schemeClr>
                </a:solidFill>
              </a:rPr>
              <a:t>System.exit</a:t>
            </a:r>
            <a:r>
              <a:rPr lang="en-US" altLang="ko-KR" sz="7200" dirty="0" smtClean="0">
                <a:solidFill>
                  <a:schemeClr val="accent5">
                    <a:lumMod val="10000"/>
                  </a:schemeClr>
                </a:solidFill>
              </a:rPr>
              <a:t>(0);</a:t>
            </a:r>
            <a:endParaRPr lang="ko-KR" altLang="en-US" sz="7200" dirty="0">
              <a:solidFill>
                <a:schemeClr val="accent5">
                  <a:lumMod val="10000"/>
                </a:schemeClr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3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14">
      <a:dk1>
        <a:srgbClr val="808080"/>
      </a:dk1>
      <a:lt1>
        <a:srgbClr val="FFFFFF"/>
      </a:lt1>
      <a:dk2>
        <a:srgbClr val="035588"/>
      </a:dk2>
      <a:lt2>
        <a:srgbClr val="003366"/>
      </a:lt2>
      <a:accent1>
        <a:srgbClr val="5D5B72"/>
      </a:accent1>
      <a:accent2>
        <a:srgbClr val="3C3453"/>
      </a:accent2>
      <a:accent3>
        <a:srgbClr val="AAB4C3"/>
      </a:accent3>
      <a:accent4>
        <a:srgbClr val="DADADA"/>
      </a:accent4>
      <a:accent5>
        <a:srgbClr val="B6B5BC"/>
      </a:accent5>
      <a:accent6>
        <a:srgbClr val="352E4A"/>
      </a:accent6>
      <a:hlink>
        <a:srgbClr val="006594"/>
      </a:hlink>
      <a:folHlink>
        <a:srgbClr val="1795BB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3">
        <a:dk1>
          <a:srgbClr val="FFFFFF"/>
        </a:dk1>
        <a:lt1>
          <a:srgbClr val="FFFFFF"/>
        </a:lt1>
        <a:dk2>
          <a:srgbClr val="003366"/>
        </a:dk2>
        <a:lt2>
          <a:srgbClr val="808080"/>
        </a:lt2>
        <a:accent1>
          <a:srgbClr val="5D5B72"/>
        </a:accent1>
        <a:accent2>
          <a:srgbClr val="3C3453"/>
        </a:accent2>
        <a:accent3>
          <a:srgbClr val="FFFFFF"/>
        </a:accent3>
        <a:accent4>
          <a:srgbClr val="DADADA"/>
        </a:accent4>
        <a:accent5>
          <a:srgbClr val="B6B5BC"/>
        </a:accent5>
        <a:accent6>
          <a:srgbClr val="352E4A"/>
        </a:accent6>
        <a:hlink>
          <a:srgbClr val="006594"/>
        </a:hlink>
        <a:folHlink>
          <a:srgbClr val="1795B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4">
        <a:dk1>
          <a:srgbClr val="808080"/>
        </a:dk1>
        <a:lt1>
          <a:srgbClr val="FFFFFF"/>
        </a:lt1>
        <a:dk2>
          <a:srgbClr val="035588"/>
        </a:dk2>
        <a:lt2>
          <a:srgbClr val="003366"/>
        </a:lt2>
        <a:accent1>
          <a:srgbClr val="5D5B72"/>
        </a:accent1>
        <a:accent2>
          <a:srgbClr val="3C3453"/>
        </a:accent2>
        <a:accent3>
          <a:srgbClr val="AAB4C3"/>
        </a:accent3>
        <a:accent4>
          <a:srgbClr val="DADADA"/>
        </a:accent4>
        <a:accent5>
          <a:srgbClr val="B6B5BC"/>
        </a:accent5>
        <a:accent6>
          <a:srgbClr val="352E4A"/>
        </a:accent6>
        <a:hlink>
          <a:srgbClr val="006594"/>
        </a:hlink>
        <a:folHlink>
          <a:srgbClr val="1795BB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usiness1">
  <a:themeElements>
    <a:clrScheme name="">
      <a:dk1>
        <a:srgbClr val="FFFFFF"/>
      </a:dk1>
      <a:lt1>
        <a:srgbClr val="FFFFFF"/>
      </a:lt1>
      <a:dk2>
        <a:srgbClr val="FFFFFF"/>
      </a:dk2>
      <a:lt2>
        <a:srgbClr val="808080"/>
      </a:lt2>
      <a:accent1>
        <a:srgbClr val="33CCFF"/>
      </a:accent1>
      <a:accent2>
        <a:srgbClr val="99FF99"/>
      </a:accent2>
      <a:accent3>
        <a:srgbClr val="FFFFFF"/>
      </a:accent3>
      <a:accent4>
        <a:srgbClr val="DADADA"/>
      </a:accent4>
      <a:accent5>
        <a:srgbClr val="ADE2FF"/>
      </a:accent5>
      <a:accent6>
        <a:srgbClr val="8AE78A"/>
      </a:accent6>
      <a:hlink>
        <a:srgbClr val="FFFF99"/>
      </a:hlink>
      <a:folHlink>
        <a:srgbClr val="CCCCFF"/>
      </a:folHlink>
    </a:clrScheme>
    <a:fontScheme name="business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usiness1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1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1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1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1 8">
        <a:dk1>
          <a:srgbClr val="808080"/>
        </a:dk1>
        <a:lt1>
          <a:srgbClr val="FFCCFF"/>
        </a:lt1>
        <a:dk2>
          <a:srgbClr val="FFCCCC"/>
        </a:dk2>
        <a:lt2>
          <a:srgbClr val="FFFFFF"/>
        </a:lt2>
        <a:accent1>
          <a:srgbClr val="990066"/>
        </a:accent1>
        <a:accent2>
          <a:srgbClr val="9C001A"/>
        </a:accent2>
        <a:accent3>
          <a:srgbClr val="FFE2E2"/>
        </a:accent3>
        <a:accent4>
          <a:srgbClr val="DAAEDA"/>
        </a:accent4>
        <a:accent5>
          <a:srgbClr val="CAAAB8"/>
        </a:accent5>
        <a:accent6>
          <a:srgbClr val="8D0016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00079</Template>
  <TotalTime>812</TotalTime>
  <Words>131</Words>
  <Application>Microsoft PowerPoint</Application>
  <PresentationFormat>화면 슬라이드 쇼(4:3)</PresentationFormat>
  <Paragraphs>76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Custom Design</vt:lpstr>
      <vt:lpstr>business1</vt:lpstr>
      <vt:lpstr>슬라이드 1</vt:lpstr>
      <vt:lpstr>설계 흐름도</vt:lpstr>
      <vt:lpstr>DB 테이블 설계 – 차량</vt:lpstr>
      <vt:lpstr>슬라이드 4</vt:lpstr>
      <vt:lpstr>역할 분담</vt:lpstr>
      <vt:lpstr>일정 계획</vt:lpstr>
      <vt:lpstr>고객 창 화면</vt:lpstr>
      <vt:lpstr>자동차 등록 및 수정</vt:lpstr>
      <vt:lpstr>대여/반납 창 화면</vt:lpstr>
      <vt:lpstr>매출 및 재고 현황 창</vt:lpstr>
      <vt:lpstr>감사합니다. </vt:lpstr>
    </vt:vector>
  </TitlesOfParts>
  <Company>LOVE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Wibro physical level simulation</dc:title>
  <dc:creator>HEART</dc:creator>
  <cp:lastModifiedBy>kitcoop</cp:lastModifiedBy>
  <cp:revision>95</cp:revision>
  <dcterms:created xsi:type="dcterms:W3CDTF">2008-03-23T15:30:55Z</dcterms:created>
  <dcterms:modified xsi:type="dcterms:W3CDTF">2016-12-30T08:21:03Z</dcterms:modified>
</cp:coreProperties>
</file>