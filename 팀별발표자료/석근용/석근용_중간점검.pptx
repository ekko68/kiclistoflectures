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75" r:id="rId5"/>
    <p:sldId id="276" r:id="rId6"/>
    <p:sldId id="268" r:id="rId7"/>
    <p:sldId id="277" r:id="rId8"/>
    <p:sldId id="269" r:id="rId9"/>
    <p:sldId id="279" r:id="rId10"/>
    <p:sldId id="270" r:id="rId11"/>
    <p:sldId id="280" r:id="rId12"/>
    <p:sldId id="271" r:id="rId13"/>
    <p:sldId id="278" r:id="rId14"/>
    <p:sldId id="272" r:id="rId15"/>
    <p:sldId id="281" r:id="rId16"/>
    <p:sldId id="282" r:id="rId17"/>
    <p:sldId id="283" r:id="rId18"/>
    <p:sldId id="284" r:id="rId19"/>
    <p:sldId id="285" r:id="rId20"/>
    <p:sldId id="294" r:id="rId21"/>
    <p:sldId id="295" r:id="rId22"/>
    <p:sldId id="296" r:id="rId23"/>
    <p:sldId id="297" r:id="rId24"/>
    <p:sldId id="298" r:id="rId25"/>
    <p:sldId id="299" r:id="rId26"/>
    <p:sldId id="273" r:id="rId27"/>
    <p:sldId id="286" r:id="rId28"/>
    <p:sldId id="287" r:id="rId29"/>
    <p:sldId id="300" r:id="rId30"/>
    <p:sldId id="301" r:id="rId31"/>
    <p:sldId id="288" r:id="rId32"/>
    <p:sldId id="289" r:id="rId33"/>
    <p:sldId id="274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08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96F6D-244E-4E98-90F6-6F5DFAEF8512}" type="datetimeFigureOut">
              <a:rPr lang="ko-KR" altLang="en-US" smtClean="0"/>
              <a:t>2017-10-18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D19E8-9AF1-4575-92BC-36332DC34A2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67944" y="5229200"/>
            <a:ext cx="4896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>
                <a:solidFill>
                  <a:schemeClr val="bg1">
                    <a:lumMod val="75000"/>
                  </a:schemeClr>
                </a:solidFill>
              </a:rPr>
              <a:t>KIC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2000" dirty="0" err="1" smtClean="0">
                <a:solidFill>
                  <a:schemeClr val="bg1">
                    <a:lumMod val="75000"/>
                  </a:schemeClr>
                </a:solidFill>
              </a:rPr>
              <a:t>프론트엔드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&amp;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자바 개발자 </a:t>
            </a:r>
            <a:r>
              <a:rPr lang="ko-KR" altLang="en-US" sz="2000" dirty="0" err="1" smtClean="0">
                <a:solidFill>
                  <a:schemeClr val="bg1">
                    <a:lumMod val="75000"/>
                  </a:schemeClr>
                </a:solidFill>
              </a:rPr>
              <a:t>양성과정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              </a:t>
            </a:r>
          </a:p>
          <a:p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                                      </a:t>
            </a:r>
            <a:r>
              <a:rPr lang="ko-KR" altLang="en-US" sz="2000" dirty="0" err="1" smtClean="0">
                <a:solidFill>
                  <a:schemeClr val="bg1">
                    <a:lumMod val="75000"/>
                  </a:schemeClr>
                </a:solidFill>
              </a:rPr>
              <a:t>석근용</a:t>
            </a:r>
            <a:endParaRPr lang="ko-KR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616" y="2844225"/>
            <a:ext cx="7187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err="1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Apiktour</a:t>
            </a:r>
            <a:r>
              <a:rPr lang="en-US" altLang="ko-KR" sz="32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Project </a:t>
            </a:r>
            <a:r>
              <a:rPr lang="en-US" altLang="ko-KR" sz="3200" b="1" dirty="0" err="1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Intemediate</a:t>
            </a:r>
            <a:r>
              <a:rPr lang="en-US" altLang="ko-KR" sz="32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Check</a:t>
            </a:r>
            <a:endParaRPr lang="ko-KR" altLang="en-US" sz="3200" b="1" dirty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15797" y="23103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목차</a:t>
            </a:r>
            <a:endParaRPr lang="ko-KR" alt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133608" y="1732746"/>
            <a:ext cx="244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1. </a:t>
            </a:r>
            <a:r>
              <a:rPr lang="ko-KR" altLang="en-US" sz="2000" dirty="0" smtClean="0"/>
              <a:t>필요한 기능 설계</a:t>
            </a:r>
            <a:endParaRPr lang="ko-KR" alt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273990" y="2299518"/>
            <a:ext cx="4767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2. </a:t>
            </a:r>
            <a:r>
              <a:rPr lang="ko-KR" altLang="en-US" sz="2000" dirty="0" smtClean="0"/>
              <a:t>웹 상에서 관리가 용의한 디자인 구현</a:t>
            </a:r>
            <a:endParaRPr lang="ko-KR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347864" y="2884874"/>
            <a:ext cx="2020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3. </a:t>
            </a:r>
            <a:r>
              <a:rPr lang="en-US" altLang="ko-KR" sz="2000" dirty="0" err="1" smtClean="0"/>
              <a:t>Model2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구현</a:t>
            </a:r>
            <a:endParaRPr lang="ko-KR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332119" y="3429000"/>
            <a:ext cx="1887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4. Spring </a:t>
            </a:r>
            <a:r>
              <a:rPr lang="ko-KR" altLang="en-US" sz="2000" dirty="0" smtClean="0"/>
              <a:t>구현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3360649" y="4037002"/>
            <a:ext cx="1643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5. Tiles </a:t>
            </a:r>
            <a:r>
              <a:rPr lang="ko-KR" altLang="en-US" sz="2000" dirty="0" smtClean="0"/>
              <a:t>구현</a:t>
            </a:r>
            <a:endParaRPr lang="ko-KR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397518" y="4613066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6. </a:t>
            </a:r>
            <a:r>
              <a:rPr lang="ko-KR" altLang="en-US" sz="2000" dirty="0" smtClean="0"/>
              <a:t>문제 해결</a:t>
            </a:r>
            <a:endParaRPr lang="ko-KR" alt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3347864" y="5189130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7. </a:t>
            </a:r>
            <a:r>
              <a:rPr lang="ko-KR" altLang="en-US" sz="2000" dirty="0" smtClean="0"/>
              <a:t>웹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서버 관리</a:t>
            </a:r>
            <a:endParaRPr lang="ko-KR" altLang="en-US" sz="20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2051720" y="2204864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051720" y="2708920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051720" y="3284984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2051720" y="3861048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2051720" y="4437112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2051720" y="5013176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2051720" y="5661248"/>
            <a:ext cx="496855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필요한 기능 설계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18746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Main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70080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값 입력 화면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76872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값 도출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2852936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해당 값에 대한 특정 페이지 이동 화면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3429000"/>
            <a:ext cx="443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특정 페이지 선택 시 도출되는 </a:t>
            </a:r>
            <a:r>
              <a:rPr lang="en-US" altLang="ko-KR" dirty="0" smtClean="0"/>
              <a:t>DB</a:t>
            </a:r>
            <a:r>
              <a:rPr lang="ko-KR" altLang="en-US" dirty="0" smtClean="0"/>
              <a:t>값 호출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9552" y="4005064"/>
            <a:ext cx="373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결과 값 호출 및 </a:t>
            </a:r>
            <a:r>
              <a:rPr lang="en-US" altLang="ko-KR" dirty="0" smtClean="0"/>
              <a:t>Main </a:t>
            </a:r>
            <a:r>
              <a:rPr lang="ko-KR" altLang="en-US" dirty="0" smtClean="0"/>
              <a:t>되돌아 가기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필요한 기능 설계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18746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Main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70080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값 입력 화면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76872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값 도출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2852936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해당 값에 대한 특정 페이지 이동 화면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3429000"/>
            <a:ext cx="443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특정 페이지 선택 시 도출되는 </a:t>
            </a:r>
            <a:r>
              <a:rPr lang="en-US" altLang="ko-KR" dirty="0" smtClean="0"/>
              <a:t>DB</a:t>
            </a:r>
            <a:r>
              <a:rPr lang="ko-KR" altLang="en-US" dirty="0" smtClean="0"/>
              <a:t>값 호출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9552" y="4005064"/>
            <a:ext cx="373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결과 값 호출 및 </a:t>
            </a:r>
            <a:r>
              <a:rPr lang="en-US" altLang="ko-KR" dirty="0" smtClean="0"/>
              <a:t>Main </a:t>
            </a:r>
            <a:r>
              <a:rPr lang="ko-KR" altLang="en-US" dirty="0" smtClean="0"/>
              <a:t>되돌아 가기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 rot="21392479">
            <a:off x="258160" y="4914150"/>
            <a:ext cx="831509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모든 값을 관리 할 수 있는 공통 기능이 필요</a:t>
            </a:r>
            <a:endParaRPr lang="en-US" altLang="ko-KR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1. </a:t>
            </a:r>
            <a:r>
              <a:rPr lang="ko-KR" altLang="en-US" sz="2400" dirty="0" smtClean="0"/>
              <a:t>필요한 기능 설계</a:t>
            </a:r>
            <a:endParaRPr lang="ko-KR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18746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Main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39552" y="1700808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값 입력 화면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39552" y="2276872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값 도출 </a:t>
            </a:r>
            <a:r>
              <a:rPr lang="ko-KR" altLang="en-US" dirty="0" smtClean="0"/>
              <a:t>화면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2852936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해당 값에 대한 특정 페이지 이동 화면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3429000"/>
            <a:ext cx="443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특정 페이지 선택 시 도출되는 </a:t>
            </a:r>
            <a:r>
              <a:rPr lang="en-US" altLang="ko-KR" dirty="0" smtClean="0"/>
              <a:t>DB</a:t>
            </a:r>
            <a:r>
              <a:rPr lang="ko-KR" altLang="en-US" dirty="0" smtClean="0"/>
              <a:t>값 호출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9552" y="4005064"/>
            <a:ext cx="3735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결과 값 호출 및 </a:t>
            </a:r>
            <a:r>
              <a:rPr lang="en-US" altLang="ko-KR" dirty="0" smtClean="0"/>
              <a:t>Main </a:t>
            </a:r>
            <a:r>
              <a:rPr lang="ko-KR" altLang="en-US" dirty="0" smtClean="0"/>
              <a:t>되돌아 가기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2339752" y="1196752"/>
            <a:ext cx="478047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회원 로그인 및 가입 기능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(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회원 확인 기능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)</a:t>
            </a:r>
            <a:endParaRPr lang="en-US" altLang="ko-KR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339752" y="1763524"/>
            <a:ext cx="388600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DB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seLECT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SQL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구문이 필요</a:t>
            </a:r>
            <a:endParaRPr lang="en-US" altLang="ko-KR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339752" y="2339588"/>
            <a:ext cx="388600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DB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상에서 </a:t>
            </a:r>
            <a:r>
              <a:rPr lang="en-US" altLang="ko-KR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seLECT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SQL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구문이 필요</a:t>
            </a:r>
            <a:endParaRPr lang="en-US" altLang="ko-KR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58088" y="2852936"/>
            <a:ext cx="414587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값에 따른 페이지 </a:t>
            </a:r>
            <a:r>
              <a:rPr lang="ko-KR" altLang="en-US" b="1" cap="all" spc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이동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method 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필요</a:t>
            </a:r>
            <a:endParaRPr lang="en-US" altLang="ko-KR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25721" y="3419708"/>
            <a:ext cx="411542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선택 된 여러 </a:t>
            </a:r>
            <a:r>
              <a:rPr lang="en-US" altLang="ko-KR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TABLE</a:t>
            </a:r>
            <a:r>
              <a:rPr lang="ko-KR" altLang="en-US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의 정보 출력 필요</a:t>
            </a:r>
            <a:endParaRPr lang="en-US" altLang="ko-KR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216031" y="3995772"/>
            <a:ext cx="325941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공통 </a:t>
            </a:r>
            <a:r>
              <a:rPr lang="en-US" altLang="ko-KR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TABLE</a:t>
            </a:r>
            <a:r>
              <a:rPr lang="ko-KR" alt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의 정보 출력 필요</a:t>
            </a:r>
            <a:endParaRPr lang="en-US" altLang="ko-KR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20" name="직사각형 19"/>
          <p:cNvSpPr/>
          <p:nvPr/>
        </p:nvSpPr>
        <p:spPr>
          <a:xfrm rot="21392479">
            <a:off x="898757" y="4560442"/>
            <a:ext cx="703391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Console 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이 아닌 </a:t>
            </a:r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webpage 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에서도</a:t>
            </a:r>
            <a:endParaRPr lang="en-US" altLang="ko-KR" sz="32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실시간 </a:t>
            </a:r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DB 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관리가 필요</a:t>
            </a:r>
            <a:endParaRPr lang="en-US" altLang="ko-KR" sz="32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endParaRPr lang="en-US" altLang="ko-KR" sz="10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관리자 페이지 작성</a:t>
            </a:r>
            <a:endParaRPr lang="en-US" altLang="ko-KR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5692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웹 상에서 관리가 용의한 디자인 구현</a:t>
            </a:r>
            <a:endParaRPr lang="ko-KR" alt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4872013" cy="3723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7702" y="1196752"/>
            <a:ext cx="491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</a:t>
            </a:r>
            <a:r>
              <a:rPr lang="ko-KR" altLang="en-US" dirty="0" smtClean="0"/>
              <a:t>에서도 </a:t>
            </a:r>
            <a:r>
              <a:rPr lang="en-US" altLang="ko-KR" dirty="0" smtClean="0"/>
              <a:t>DB</a:t>
            </a:r>
            <a:r>
              <a:rPr lang="ko-KR" altLang="en-US" dirty="0" smtClean="0"/>
              <a:t>를 관리할 수 있는 페이지 구성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20072" y="2132856"/>
            <a:ext cx="358136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모든 </a:t>
            </a:r>
            <a:r>
              <a:rPr lang="en-US" altLang="ko-KR" dirty="0" smtClean="0"/>
              <a:t>TABLE</a:t>
            </a:r>
            <a:r>
              <a:rPr lang="ko-KR" altLang="en-US" dirty="0" smtClean="0"/>
              <a:t>을 관리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공통으로 사용할 수 있는</a:t>
            </a:r>
            <a:endParaRPr lang="en-US" altLang="ko-KR" dirty="0" smtClean="0"/>
          </a:p>
          <a:p>
            <a:r>
              <a:rPr lang="en-US" altLang="ko-KR" dirty="0" smtClean="0"/>
              <a:t>Interface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실시</a:t>
            </a:r>
            <a:r>
              <a:rPr lang="ko-KR" altLang="en-US" dirty="0"/>
              <a:t>간</a:t>
            </a:r>
            <a:r>
              <a:rPr lang="ko-KR" altLang="en-US" dirty="0" smtClean="0"/>
              <a:t> </a:t>
            </a:r>
            <a:r>
              <a:rPr lang="en-US" altLang="ko-KR" dirty="0" smtClean="0"/>
              <a:t>Server</a:t>
            </a:r>
            <a:r>
              <a:rPr lang="ko-KR" altLang="en-US" dirty="0" smtClean="0"/>
              <a:t>의</a:t>
            </a:r>
            <a:r>
              <a:rPr lang="en-US" altLang="ko-KR" dirty="0" smtClean="0"/>
              <a:t> DB</a:t>
            </a:r>
            <a:r>
              <a:rPr lang="ko-KR" altLang="en-US" dirty="0" smtClean="0"/>
              <a:t>의 값 </a:t>
            </a:r>
            <a:endParaRPr lang="en-US" altLang="ko-KR" dirty="0" smtClean="0"/>
          </a:p>
          <a:p>
            <a:r>
              <a:rPr lang="ko-KR" altLang="en-US" dirty="0" smtClean="0"/>
              <a:t>호출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등록 기능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Admin </a:t>
            </a:r>
            <a:r>
              <a:rPr lang="ko-KR" altLang="en-US" dirty="0" smtClean="0"/>
              <a:t>계정일 경우 접속 가능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언제 어디서든 관리 가능하도록</a:t>
            </a:r>
            <a:endParaRPr lang="en-US" altLang="ko-KR" dirty="0" smtClean="0"/>
          </a:p>
          <a:p>
            <a:r>
              <a:rPr lang="ko-KR" altLang="en-US" dirty="0" smtClean="0"/>
              <a:t>해당 </a:t>
            </a:r>
            <a:r>
              <a:rPr lang="en-US" altLang="ko-KR" dirty="0" smtClean="0"/>
              <a:t>Project Page</a:t>
            </a:r>
            <a:r>
              <a:rPr lang="ko-KR" altLang="en-US" dirty="0" smtClean="0"/>
              <a:t>에서 접속 가능</a:t>
            </a:r>
            <a:endParaRPr lang="en-US" altLang="ko-KR" dirty="0" smtClean="0"/>
          </a:p>
          <a:p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5692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웹 상에서 관리가 용의한 디자인 구현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5931" y="1772816"/>
            <a:ext cx="5516389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/>
          <p:cNvSpPr/>
          <p:nvPr/>
        </p:nvSpPr>
        <p:spPr>
          <a:xfrm>
            <a:off x="2007939" y="3068960"/>
            <a:ext cx="1584176" cy="288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007939" y="3381375"/>
            <a:ext cx="1584176" cy="79208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>
            <a:stCxn id="9" idx="1"/>
          </p:cNvCxnSpPr>
          <p:nvPr/>
        </p:nvCxnSpPr>
        <p:spPr>
          <a:xfrm flipH="1">
            <a:off x="495771" y="3212976"/>
            <a:ext cx="151216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2050" idx="1"/>
          </p:cNvCxnSpPr>
          <p:nvPr/>
        </p:nvCxnSpPr>
        <p:spPr>
          <a:xfrm flipH="1">
            <a:off x="495771" y="3789040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8448" y="2924944"/>
            <a:ext cx="1643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/>
              <a:t>각 </a:t>
            </a:r>
            <a:r>
              <a:rPr lang="en-US" altLang="ko-KR" sz="1000" b="1" dirty="0" smtClean="0"/>
              <a:t>TABLE </a:t>
            </a:r>
            <a:r>
              <a:rPr lang="ko-KR" altLang="en-US" sz="1000" b="1" dirty="0" smtClean="0"/>
              <a:t>별로 메뉴 생성</a:t>
            </a:r>
            <a:endParaRPr lang="ko-KR" altLang="en-US" sz="1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04713" y="3539108"/>
            <a:ext cx="15712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/>
              <a:t>Method </a:t>
            </a:r>
            <a:r>
              <a:rPr lang="ko-KR" altLang="en-US" sz="1000" b="1" dirty="0" smtClean="0"/>
              <a:t>별로 선택 메뉴</a:t>
            </a:r>
            <a:endParaRPr lang="ko-KR" altLang="en-US" sz="1000" b="1" dirty="0"/>
          </a:p>
        </p:txBody>
      </p:sp>
      <p:sp>
        <p:nvSpPr>
          <p:cNvPr id="23" name="직사각형 22"/>
          <p:cNvSpPr/>
          <p:nvPr/>
        </p:nvSpPr>
        <p:spPr>
          <a:xfrm>
            <a:off x="3620689" y="3068960"/>
            <a:ext cx="3499817" cy="24482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 flipH="1">
            <a:off x="452338" y="5229200"/>
            <a:ext cx="3168352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3763" y="4982979"/>
            <a:ext cx="14734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/>
              <a:t>각 메뉴마다 바뀔 화면</a:t>
            </a:r>
            <a:endParaRPr lang="ko-KR" alt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2318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3. </a:t>
            </a:r>
            <a:r>
              <a:rPr lang="en-US" altLang="ko-KR" sz="2400" dirty="0" err="1" smtClean="0"/>
              <a:t>Model2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구현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1762125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971600" y="3501008"/>
            <a:ext cx="1224136" cy="8640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2195736" y="4293096"/>
            <a:ext cx="4104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827584" y="3284984"/>
            <a:ext cx="576064" cy="18744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1403648" y="3395092"/>
            <a:ext cx="388843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5736" y="3167390"/>
            <a:ext cx="3239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데이터 관리가 필요한 </a:t>
            </a:r>
            <a:r>
              <a:rPr lang="en-US" altLang="ko-KR" sz="1100" dirty="0" err="1" smtClean="0"/>
              <a:t>TALBE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별로 </a:t>
            </a:r>
            <a:r>
              <a:rPr lang="en-US" altLang="ko-KR" sz="1100" dirty="0" smtClean="0"/>
              <a:t>package </a:t>
            </a:r>
            <a:r>
              <a:rPr lang="ko-KR" altLang="en-US" sz="1100" dirty="0" smtClean="0"/>
              <a:t>생성</a:t>
            </a:r>
            <a:endParaRPr lang="ko-KR" alt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2267744" y="4024114"/>
            <a:ext cx="4213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 smtClean="0"/>
              <a:t>TALBE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마다 컬럼에 필요한 정보 입력 및 데이터 삭제 </a:t>
            </a:r>
            <a:r>
              <a:rPr lang="en-US" altLang="ko-KR" sz="1100" dirty="0" smtClean="0"/>
              <a:t>page </a:t>
            </a:r>
            <a:r>
              <a:rPr lang="ko-KR" altLang="en-US" sz="1100" dirty="0" smtClean="0"/>
              <a:t>구현</a:t>
            </a:r>
            <a:endParaRPr lang="ko-KR" alt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2303203" y="4391526"/>
            <a:ext cx="10166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De = delete</a:t>
            </a:r>
          </a:p>
          <a:p>
            <a:r>
              <a:rPr lang="en-US" altLang="ko-KR" sz="1100" dirty="0" smtClean="0"/>
              <a:t>In = insert</a:t>
            </a:r>
          </a:p>
          <a:p>
            <a:r>
              <a:rPr lang="en-US" altLang="ko-KR" sz="1100" dirty="0" smtClean="0"/>
              <a:t>Se = select</a:t>
            </a:r>
          </a:p>
          <a:p>
            <a:r>
              <a:rPr lang="en-US" altLang="ko-KR" sz="1100" dirty="0" smtClean="0"/>
              <a:t>Up = update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971600" y="4581128"/>
            <a:ext cx="1224136" cy="64807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/>
          <p:nvPr/>
        </p:nvCxnSpPr>
        <p:spPr>
          <a:xfrm>
            <a:off x="1979712" y="5589240"/>
            <a:ext cx="4032448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1979712" y="5229200"/>
            <a:ext cx="0" cy="36004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87459" y="5339308"/>
            <a:ext cx="3196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결과 창을 </a:t>
            </a:r>
            <a:r>
              <a:rPr lang="en-US" altLang="ko-KR" sz="1100" dirty="0" err="1" smtClean="0"/>
              <a:t>WebPage</a:t>
            </a:r>
            <a:r>
              <a:rPr lang="ko-KR" altLang="en-US" sz="1100" dirty="0" smtClean="0"/>
              <a:t>에 출력 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입력 성공 </a:t>
            </a:r>
            <a:r>
              <a:rPr lang="en-US" altLang="ko-KR" sz="1100" dirty="0" smtClean="0"/>
              <a:t>or </a:t>
            </a:r>
            <a:r>
              <a:rPr lang="ko-KR" altLang="en-US" sz="1100" dirty="0" smtClean="0"/>
              <a:t>실패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2987824" y="1484784"/>
            <a:ext cx="304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각자 </a:t>
            </a:r>
            <a:r>
              <a:rPr lang="en-US" altLang="ko-KR" dirty="0" err="1" smtClean="0"/>
              <a:t>Controller.java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구현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698383" y="2132856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받은 값을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jsp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값을 </a:t>
            </a:r>
            <a:r>
              <a:rPr lang="en-US" altLang="ko-KR" dirty="0" smtClean="0"/>
              <a:t>EL</a:t>
            </a:r>
            <a:r>
              <a:rPr lang="ko-KR" altLang="en-US" dirty="0" smtClean="0"/>
              <a:t>문으로 출력</a:t>
            </a:r>
            <a:endParaRPr lang="ko-KR" altLang="en-US" dirty="0"/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4499992" y="191683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60648"/>
            <a:ext cx="2318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3. </a:t>
            </a:r>
            <a:r>
              <a:rPr lang="en-US" altLang="ko-KR" sz="2400" dirty="0" err="1" smtClean="0"/>
              <a:t>Model2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구현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340768"/>
            <a:ext cx="1762125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971600" y="3501008"/>
            <a:ext cx="1224136" cy="8640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/>
          <p:cNvCxnSpPr/>
          <p:nvPr/>
        </p:nvCxnSpPr>
        <p:spPr>
          <a:xfrm>
            <a:off x="2195736" y="4293096"/>
            <a:ext cx="4104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827584" y="3284984"/>
            <a:ext cx="576064" cy="187449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1403648" y="3395092"/>
            <a:ext cx="3888432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95736" y="3167390"/>
            <a:ext cx="3239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데이터 관리가 필요한 </a:t>
            </a:r>
            <a:r>
              <a:rPr lang="en-US" altLang="ko-KR" sz="1100" dirty="0" err="1" smtClean="0"/>
              <a:t>TALBE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별로 </a:t>
            </a:r>
            <a:r>
              <a:rPr lang="en-US" altLang="ko-KR" sz="1100" dirty="0" smtClean="0"/>
              <a:t>package </a:t>
            </a:r>
            <a:r>
              <a:rPr lang="ko-KR" altLang="en-US" sz="1100" dirty="0" smtClean="0"/>
              <a:t>생성</a:t>
            </a:r>
            <a:endParaRPr lang="ko-KR" alt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2267744" y="4024114"/>
            <a:ext cx="4213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 smtClean="0"/>
              <a:t>TALBE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마다 컬럼에 필요한 정보 입력 및 데이터 삭제 </a:t>
            </a:r>
            <a:r>
              <a:rPr lang="en-US" altLang="ko-KR" sz="1100" dirty="0" smtClean="0"/>
              <a:t>page </a:t>
            </a:r>
            <a:r>
              <a:rPr lang="ko-KR" altLang="en-US" sz="1100" dirty="0" smtClean="0"/>
              <a:t>구현</a:t>
            </a:r>
            <a:endParaRPr lang="ko-KR" alt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2303203" y="4391526"/>
            <a:ext cx="10166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De = delete</a:t>
            </a:r>
          </a:p>
          <a:p>
            <a:r>
              <a:rPr lang="en-US" altLang="ko-KR" sz="1100" dirty="0" smtClean="0"/>
              <a:t>In = insert</a:t>
            </a:r>
          </a:p>
          <a:p>
            <a:r>
              <a:rPr lang="en-US" altLang="ko-KR" sz="1100" dirty="0" smtClean="0"/>
              <a:t>Se = select</a:t>
            </a:r>
          </a:p>
          <a:p>
            <a:r>
              <a:rPr lang="en-US" altLang="ko-KR" sz="1100" dirty="0" smtClean="0"/>
              <a:t>Up = update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971600" y="4581128"/>
            <a:ext cx="1224136" cy="64807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/>
          <p:nvPr/>
        </p:nvCxnSpPr>
        <p:spPr>
          <a:xfrm>
            <a:off x="1979712" y="5589240"/>
            <a:ext cx="4032448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1979712" y="5229200"/>
            <a:ext cx="0" cy="36004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87459" y="5339308"/>
            <a:ext cx="3196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결과 창을 </a:t>
            </a:r>
            <a:r>
              <a:rPr lang="en-US" altLang="ko-KR" sz="1100" dirty="0" err="1" smtClean="0"/>
              <a:t>WebPage</a:t>
            </a:r>
            <a:r>
              <a:rPr lang="ko-KR" altLang="en-US" sz="1100" dirty="0" smtClean="0"/>
              <a:t>에 출력 </a:t>
            </a:r>
            <a:r>
              <a:rPr lang="en-US" altLang="ko-KR" sz="1100" dirty="0" smtClean="0"/>
              <a:t>(</a:t>
            </a:r>
            <a:r>
              <a:rPr lang="ko-KR" altLang="en-US" sz="1100" dirty="0" smtClean="0"/>
              <a:t>입력 성공 </a:t>
            </a:r>
            <a:r>
              <a:rPr lang="en-US" altLang="ko-KR" sz="1100" dirty="0" smtClean="0"/>
              <a:t>or </a:t>
            </a:r>
            <a:r>
              <a:rPr lang="ko-KR" altLang="en-US" sz="1100" dirty="0" smtClean="0"/>
              <a:t>실패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2987824" y="1484784"/>
            <a:ext cx="3049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각자 </a:t>
            </a:r>
            <a:r>
              <a:rPr lang="en-US" altLang="ko-KR" dirty="0" err="1" smtClean="0"/>
              <a:t>Controller.java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구현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698383" y="2132856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받은 값을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jsp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값을 </a:t>
            </a:r>
            <a:r>
              <a:rPr lang="en-US" altLang="ko-KR" dirty="0" smtClean="0"/>
              <a:t>EL</a:t>
            </a:r>
            <a:r>
              <a:rPr lang="ko-KR" altLang="en-US" dirty="0" smtClean="0"/>
              <a:t>문으로 출력</a:t>
            </a:r>
            <a:endParaRPr lang="ko-KR" altLang="en-US" dirty="0"/>
          </a:p>
        </p:txBody>
      </p:sp>
      <p:cxnSp>
        <p:nvCxnSpPr>
          <p:cNvPr id="33" name="직선 화살표 연결선 32"/>
          <p:cNvCxnSpPr/>
          <p:nvPr/>
        </p:nvCxnSpPr>
        <p:spPr>
          <a:xfrm>
            <a:off x="4499992" y="1916832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 rot="21392479">
            <a:off x="2149791" y="5452123"/>
            <a:ext cx="7061549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공통의 기능을 하나로 만들어 </a:t>
            </a:r>
            <a:r>
              <a:rPr lang="ko-KR" altLang="en-US" sz="32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줄여줄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en-US" altLang="ko-KR" sz="32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Spring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으로 변경 필요</a:t>
            </a:r>
            <a:endParaRPr lang="en-US" altLang="ko-KR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4. Spring </a:t>
            </a:r>
            <a:r>
              <a:rPr lang="ko-KR" altLang="en-US" sz="2400" dirty="0" smtClean="0"/>
              <a:t>구현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235267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844824"/>
            <a:ext cx="18002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555776" y="1844824"/>
            <a:ext cx="20457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Controller</a:t>
            </a:r>
          </a:p>
          <a:p>
            <a:r>
              <a:rPr lang="en-US" altLang="ko-KR" dirty="0" smtClean="0"/>
              <a:t>DAO</a:t>
            </a:r>
          </a:p>
          <a:p>
            <a:r>
              <a:rPr lang="en-US" altLang="ko-KR" dirty="0" err="1" smtClean="0"/>
              <a:t>DTO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관리 및 처리 부분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DB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r>
              <a:rPr lang="en-US" altLang="ko-KR" dirty="0" smtClean="0"/>
              <a:t>SQL </a:t>
            </a:r>
            <a:r>
              <a:rPr lang="ko-KR" altLang="en-US" dirty="0" smtClean="0"/>
              <a:t>구문</a:t>
            </a:r>
            <a:endParaRPr lang="en-US" altLang="ko-KR" dirty="0" smtClean="0"/>
          </a:p>
          <a:p>
            <a:r>
              <a:rPr lang="en-US" altLang="ko-KR" dirty="0" smtClean="0"/>
              <a:t>DB </a:t>
            </a:r>
            <a:r>
              <a:rPr lang="ko-KR" altLang="en-US" dirty="0" err="1" smtClean="0"/>
              <a:t>연결정보</a:t>
            </a:r>
            <a:endParaRPr lang="en-US" altLang="ko-KR" dirty="0" smtClean="0"/>
          </a:p>
          <a:p>
            <a:r>
              <a:rPr lang="en-US" altLang="ko-KR" dirty="0" err="1" smtClean="0"/>
              <a:t>Mybatis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</a:t>
            </a:r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3040749" y="1023119"/>
            <a:ext cx="1603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MVC</a:t>
            </a:r>
            <a:r>
              <a:rPr lang="en-US" altLang="ko-K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구현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32240" y="1844824"/>
            <a:ext cx="196399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View</a:t>
            </a:r>
          </a:p>
          <a:p>
            <a:endParaRPr lang="en-US" altLang="ko-KR" dirty="0"/>
          </a:p>
          <a:p>
            <a:r>
              <a:rPr lang="ko-KR" altLang="en-US" dirty="0" smtClean="0"/>
              <a:t>화면 관리</a:t>
            </a:r>
            <a:endParaRPr lang="en-US" altLang="ko-KR" dirty="0" smtClean="0"/>
          </a:p>
          <a:p>
            <a:r>
              <a:rPr lang="ko-KR" altLang="en-US" dirty="0" smtClean="0"/>
              <a:t>데이터 화면 출력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Pom.xml</a:t>
            </a:r>
            <a:r>
              <a:rPr lang="ko-KR" altLang="en-US" dirty="0" smtClean="0"/>
              <a:t>로 인한</a:t>
            </a:r>
            <a:endParaRPr lang="en-US" altLang="ko-KR" dirty="0" smtClean="0"/>
          </a:p>
          <a:p>
            <a:r>
              <a:rPr lang="ko-KR" altLang="en-US" dirty="0" smtClean="0"/>
              <a:t>버전 관리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4. Spring </a:t>
            </a:r>
            <a:r>
              <a:rPr lang="ko-KR" altLang="en-US" sz="2400" dirty="0" smtClean="0"/>
              <a:t>구현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235267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844824"/>
            <a:ext cx="18002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555776" y="1844824"/>
            <a:ext cx="204575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Controller</a:t>
            </a:r>
          </a:p>
          <a:p>
            <a:r>
              <a:rPr lang="en-US" altLang="ko-KR" dirty="0" smtClean="0"/>
              <a:t>DAO</a:t>
            </a:r>
          </a:p>
          <a:p>
            <a:r>
              <a:rPr lang="en-US" altLang="ko-KR" dirty="0" err="1" smtClean="0"/>
              <a:t>DTO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관리 및 처리 부분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DB </a:t>
            </a:r>
            <a:r>
              <a:rPr lang="ko-KR" altLang="en-US" dirty="0" smtClean="0"/>
              <a:t>설정</a:t>
            </a:r>
            <a:endParaRPr lang="en-US" altLang="ko-KR" dirty="0" smtClean="0"/>
          </a:p>
          <a:p>
            <a:r>
              <a:rPr lang="en-US" altLang="ko-KR" dirty="0" smtClean="0"/>
              <a:t>SQL </a:t>
            </a:r>
            <a:r>
              <a:rPr lang="ko-KR" altLang="en-US" dirty="0" smtClean="0"/>
              <a:t>구문</a:t>
            </a:r>
            <a:endParaRPr lang="en-US" altLang="ko-KR" dirty="0" smtClean="0"/>
          </a:p>
          <a:p>
            <a:r>
              <a:rPr lang="en-US" altLang="ko-KR" dirty="0" smtClean="0"/>
              <a:t>DB </a:t>
            </a:r>
            <a:r>
              <a:rPr lang="ko-KR" altLang="en-US" dirty="0" err="1" smtClean="0"/>
              <a:t>연결정보</a:t>
            </a:r>
            <a:endParaRPr lang="en-US" altLang="ko-KR" dirty="0" smtClean="0"/>
          </a:p>
          <a:p>
            <a:r>
              <a:rPr lang="en-US" altLang="ko-KR" dirty="0" err="1" smtClean="0"/>
              <a:t>Mybatis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</a:t>
            </a:r>
            <a:endParaRPr lang="en-US" altLang="ko-KR" dirty="0"/>
          </a:p>
        </p:txBody>
      </p:sp>
      <p:sp>
        <p:nvSpPr>
          <p:cNvPr id="7" name="TextBox 6"/>
          <p:cNvSpPr txBox="1"/>
          <p:nvPr/>
        </p:nvSpPr>
        <p:spPr>
          <a:xfrm>
            <a:off x="3040749" y="1023119"/>
            <a:ext cx="1603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MVC</a:t>
            </a:r>
            <a:r>
              <a:rPr lang="en-US" altLang="ko-K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구현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32240" y="1844824"/>
            <a:ext cx="196399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View</a:t>
            </a:r>
          </a:p>
          <a:p>
            <a:endParaRPr lang="en-US" altLang="ko-KR" dirty="0"/>
          </a:p>
          <a:p>
            <a:r>
              <a:rPr lang="ko-KR" altLang="en-US" dirty="0" smtClean="0"/>
              <a:t>화면 관리</a:t>
            </a:r>
            <a:endParaRPr lang="en-US" altLang="ko-KR" dirty="0" smtClean="0"/>
          </a:p>
          <a:p>
            <a:r>
              <a:rPr lang="ko-KR" altLang="en-US" dirty="0" smtClean="0"/>
              <a:t>데이터 화면 출력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err="1" smtClean="0"/>
              <a:t>Pom.xml</a:t>
            </a:r>
            <a:r>
              <a:rPr lang="ko-KR" altLang="en-US" dirty="0" smtClean="0"/>
              <a:t>로 인한</a:t>
            </a:r>
            <a:endParaRPr lang="en-US" altLang="ko-KR" dirty="0" smtClean="0"/>
          </a:p>
          <a:p>
            <a:r>
              <a:rPr lang="ko-KR" altLang="en-US" dirty="0" smtClean="0"/>
              <a:t>버전 관리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 rot="21392479">
            <a:off x="1069190" y="5241110"/>
            <a:ext cx="7588937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바뀌는 화면이 특정 부분일 때가 많음</a:t>
            </a:r>
            <a:endParaRPr lang="en-US" altLang="ko-KR" sz="32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Tiles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를 통해 효율적으로 </a:t>
            </a:r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xml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에서 관리</a:t>
            </a:r>
            <a:endParaRPr lang="en-US" altLang="ko-KR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5. Tiles </a:t>
            </a:r>
            <a:r>
              <a:rPr lang="ko-KR" altLang="en-US" sz="2400" dirty="0" smtClean="0"/>
              <a:t>구현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00522"/>
            <a:ext cx="223837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1187624" y="5157192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87624" y="5685632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187624" y="2949328"/>
            <a:ext cx="1368152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187624" y="4293096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412776"/>
            <a:ext cx="21431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/>
        </p:nvSpPr>
        <p:spPr>
          <a:xfrm>
            <a:off x="4788024" y="1772816"/>
            <a:ext cx="1656184" cy="5040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99792" y="2996952"/>
            <a:ext cx="1810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Tiles </a:t>
            </a:r>
            <a:r>
              <a:rPr lang="ko-KR" altLang="en-US" sz="1400" dirty="0" smtClean="0"/>
              <a:t>화면 출력 설정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771800" y="4273351"/>
            <a:ext cx="1761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화면 </a:t>
            </a:r>
            <a:r>
              <a:rPr lang="en-US" altLang="ko-KR" sz="1400" dirty="0" smtClean="0"/>
              <a:t>Template </a:t>
            </a:r>
            <a:r>
              <a:rPr lang="ko-KR" altLang="en-US" sz="1400" dirty="0" smtClean="0"/>
              <a:t>생성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771800" y="5157192"/>
            <a:ext cx="966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Tiles </a:t>
            </a:r>
            <a:r>
              <a:rPr lang="ko-KR" altLang="en-US" sz="1400" dirty="0" smtClean="0"/>
              <a:t>연</a:t>
            </a:r>
            <a:r>
              <a:rPr lang="ko-KR" altLang="en-US" sz="1400" dirty="0"/>
              <a:t>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1800" y="5661248"/>
            <a:ext cx="1761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기본 </a:t>
            </a:r>
            <a:r>
              <a:rPr lang="en-US" altLang="ko-KR" sz="1400" dirty="0" smtClean="0"/>
              <a:t>Template </a:t>
            </a:r>
            <a:r>
              <a:rPr lang="ko-KR" altLang="en-US" sz="1400" dirty="0" smtClean="0"/>
              <a:t>연결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588224" y="1844824"/>
            <a:ext cx="17459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처리하고</a:t>
            </a:r>
            <a:endParaRPr lang="en-US" altLang="ko-KR" sz="1400" dirty="0" smtClean="0"/>
          </a:p>
          <a:p>
            <a:r>
              <a:rPr lang="ko-KR" altLang="en-US" sz="1400" dirty="0" smtClean="0"/>
              <a:t>페이지를 이동 시킬</a:t>
            </a:r>
            <a:endParaRPr lang="en-US" altLang="ko-KR" sz="1400" dirty="0" smtClean="0"/>
          </a:p>
          <a:p>
            <a:r>
              <a:rPr lang="en-US" altLang="ko-KR" sz="1400" dirty="0" smtClean="0"/>
              <a:t>Controller </a:t>
            </a:r>
            <a:r>
              <a:rPr lang="ko-KR" altLang="en-US" sz="1400" dirty="0" smtClean="0"/>
              <a:t>구현</a:t>
            </a:r>
            <a:endParaRPr lang="en-US" altLang="ko-KR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67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5. Tiles </a:t>
            </a:r>
            <a:r>
              <a:rPr lang="ko-KR" altLang="en-US" sz="2400" dirty="0" smtClean="0"/>
              <a:t>구현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00522"/>
            <a:ext cx="2238375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직사각형 4"/>
          <p:cNvSpPr/>
          <p:nvPr/>
        </p:nvSpPr>
        <p:spPr>
          <a:xfrm>
            <a:off x="1187624" y="5157192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87624" y="5685632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187624" y="2949328"/>
            <a:ext cx="1368152" cy="3600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187624" y="4293096"/>
            <a:ext cx="1368152" cy="2160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1412776"/>
            <a:ext cx="21431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직사각형 9"/>
          <p:cNvSpPr/>
          <p:nvPr/>
        </p:nvSpPr>
        <p:spPr>
          <a:xfrm>
            <a:off x="4788024" y="1772816"/>
            <a:ext cx="1656184" cy="50405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699792" y="2996952"/>
            <a:ext cx="18101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Tiles </a:t>
            </a:r>
            <a:r>
              <a:rPr lang="ko-KR" altLang="en-US" sz="1400" dirty="0" smtClean="0"/>
              <a:t>화면 출력 설정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771800" y="4273351"/>
            <a:ext cx="1761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화면 </a:t>
            </a:r>
            <a:r>
              <a:rPr lang="en-US" altLang="ko-KR" sz="1400" dirty="0" smtClean="0"/>
              <a:t>Template </a:t>
            </a:r>
            <a:r>
              <a:rPr lang="ko-KR" altLang="en-US" sz="1400" dirty="0" smtClean="0"/>
              <a:t>생성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771800" y="5157192"/>
            <a:ext cx="966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Tiles </a:t>
            </a:r>
            <a:r>
              <a:rPr lang="ko-KR" altLang="en-US" sz="1400" dirty="0" smtClean="0"/>
              <a:t>연</a:t>
            </a:r>
            <a:r>
              <a:rPr lang="ko-KR" altLang="en-US" sz="1400" dirty="0"/>
              <a:t>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1800" y="5661248"/>
            <a:ext cx="1761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기본 </a:t>
            </a:r>
            <a:r>
              <a:rPr lang="en-US" altLang="ko-KR" sz="1400" dirty="0" smtClean="0"/>
              <a:t>Template </a:t>
            </a:r>
            <a:r>
              <a:rPr lang="ko-KR" altLang="en-US" sz="1400" dirty="0" smtClean="0"/>
              <a:t>연결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588224" y="1844824"/>
            <a:ext cx="174599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처리하고</a:t>
            </a:r>
            <a:endParaRPr lang="en-US" altLang="ko-KR" sz="1400" dirty="0" smtClean="0"/>
          </a:p>
          <a:p>
            <a:r>
              <a:rPr lang="ko-KR" altLang="en-US" sz="1400" dirty="0" smtClean="0"/>
              <a:t>페이지를 이동 시킬</a:t>
            </a:r>
            <a:endParaRPr lang="en-US" altLang="ko-KR" sz="1400" dirty="0" smtClean="0"/>
          </a:p>
          <a:p>
            <a:r>
              <a:rPr lang="en-US" altLang="ko-KR" sz="1400" dirty="0" smtClean="0"/>
              <a:t>Controller </a:t>
            </a:r>
            <a:r>
              <a:rPr lang="ko-KR" altLang="en-US" sz="1400" dirty="0" smtClean="0"/>
              <a:t>구현</a:t>
            </a:r>
            <a:endParaRPr lang="en-US" altLang="ko-KR" sz="1400" dirty="0" smtClean="0"/>
          </a:p>
        </p:txBody>
      </p:sp>
      <p:sp>
        <p:nvSpPr>
          <p:cNvPr id="16" name="직사각형 15"/>
          <p:cNvSpPr/>
          <p:nvPr/>
        </p:nvSpPr>
        <p:spPr>
          <a:xfrm rot="21392479">
            <a:off x="925328" y="5241110"/>
            <a:ext cx="7420622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여러 설정을 한꺼번에 가져왔을 때</a:t>
            </a:r>
            <a:endParaRPr lang="en-US" altLang="ko-KR" sz="32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버전 불일치</a:t>
            </a:r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, 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에러 발생</a:t>
            </a:r>
            <a:r>
              <a:rPr lang="en-US" altLang="ko-KR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, </a:t>
            </a:r>
            <a:r>
              <a:rPr lang="ko-KR" altLang="en-US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2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진행 속도 저하</a:t>
            </a:r>
            <a:endParaRPr lang="en-US" altLang="ko-KR" sz="3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2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147549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버전 설정</a:t>
            </a:r>
            <a:endParaRPr lang="ko-KR" altLang="en-US"/>
          </a:p>
        </p:txBody>
      </p:sp>
      <p:pic>
        <p:nvPicPr>
          <p:cNvPr id="26628" name="Picture 4" descr="http://postfiles6.naver.net/MjAxNzA5MjRfODUg/MDAxNTA2MjM5MzA0MTU5._UXEhElv_ULZ3hpKnaRHa_IH0W4DiXP7rEapjpC4uxwg.topL1jdEgX043LcFNmR1ONMzJnwDdBT5ImjK__vTQpQg.JPEG.wizardry0629/12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060848"/>
            <a:ext cx="5106103" cy="3888432"/>
          </a:xfrm>
          <a:prstGeom prst="rect">
            <a:avLst/>
          </a:prstGeom>
          <a:noFill/>
        </p:spPr>
      </p:pic>
      <p:pic>
        <p:nvPicPr>
          <p:cNvPr id="26630" name="Picture 6" descr="http://postfiles4.naver.net/MjAxNzA5MjRfMTAz/MDAxNTA2MjM5MzE0NzYz.E_e6eRRsXCjouil9LYaPvmoh9JBnUIne6yGaFdfTnFog.VHqlbHOTDogPwEyoFVBAdOJ5GyAUvmtp9IESb565VM8g.JPEG.wizardry0629/13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0152" y="2060848"/>
            <a:ext cx="2600325" cy="18859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1340768"/>
            <a:ext cx="2917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Spring-framework </a:t>
            </a:r>
            <a:r>
              <a:rPr lang="ko-KR" altLang="en-US" dirty="0" smtClean="0"/>
              <a:t>버전 업</a:t>
            </a:r>
            <a:endParaRPr lang="en-US" altLang="ko-KR" dirty="0"/>
          </a:p>
          <a:p>
            <a:r>
              <a:rPr lang="ko-KR" altLang="en-US" dirty="0" smtClean="0"/>
              <a:t>호환 문제 발생</a:t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18434" name="Picture 2" descr="http://postfiles2.naver.net/MjAxNzA5MjRfMjkz/MDAxNTA2MjM5NDYzMDk3.zyDM-cODvkmTBUHyLn2DT6r3M-IotlJ9Hic1dpM6zYwg.DMrlvEOlIsO7KgeO14HnfoC-fh8RvT4t6GnpiToMzeIg.JPEG.wizardry0629/14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221607"/>
            <a:ext cx="7048500" cy="14954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1196752"/>
            <a:ext cx="2917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Spring-framework </a:t>
            </a:r>
            <a:r>
              <a:rPr lang="ko-KR" altLang="en-US" dirty="0" smtClean="0"/>
              <a:t>버전 업</a:t>
            </a:r>
            <a:endParaRPr lang="en-US" altLang="ko-KR" dirty="0"/>
          </a:p>
          <a:p>
            <a:r>
              <a:rPr lang="ko-KR" altLang="en-US" dirty="0" smtClean="0"/>
              <a:t>다른 설정도 버전 </a:t>
            </a:r>
            <a:r>
              <a:rPr lang="ko-KR" altLang="en-US" dirty="0"/>
              <a:t>업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17410" name="Picture 2" descr="http://postfiles11.naver.net/MjAxNzA5MjRfMjU4/MDAxNTA2MjM5NjE3OTg5.7ZUG3wukGgtzghCN_ZtK2NoilEOfDoz1VDB4W2fUqqkg.mDvQTNGctc4ijU0eP3wCCEij98LLIFkUI1uinEAxZgYg.JPEG.wizardry0629/15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060848"/>
            <a:ext cx="2439944" cy="2881139"/>
          </a:xfrm>
          <a:prstGeom prst="rect">
            <a:avLst/>
          </a:prstGeom>
          <a:noFill/>
        </p:spPr>
      </p:pic>
      <p:pic>
        <p:nvPicPr>
          <p:cNvPr id="17412" name="Picture 4" descr="http://postfiles1.naver.net/MjAxNzA5MjRfMzUg/MDAxNTA2MjM5NjUwNDUy.yRyaVgPOByj3AAHSeQVlO9qwG1FFyMUtlIfX55bCdo0g.a-dFWB6CNY57nVVhFrdN_EtD4zikTbPHvnBRU5afRtIg.JPEG.wizardry0629/16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2060848"/>
            <a:ext cx="2444140" cy="2809131"/>
          </a:xfrm>
          <a:prstGeom prst="rect">
            <a:avLst/>
          </a:prstGeom>
          <a:noFill/>
        </p:spPr>
      </p:pic>
      <p:pic>
        <p:nvPicPr>
          <p:cNvPr id="17414" name="Picture 6" descr="http://postfiles7.naver.net/MjAxNzA5MjRfNTcg/MDAxNTA2MjM5Njk3ODI1.HdEFxgT0pbuwCq4wZo47BwkPDfblLFFn54hB1Z9Beuwg.tBvYSievItBsQh1NxAHIcAgK7a4rLmUDX32KQ_olrl0g.JPEG.wizardry0629/17.jpg?type=w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6136" y="2924944"/>
            <a:ext cx="2600275" cy="984637"/>
          </a:xfrm>
          <a:prstGeom prst="rect">
            <a:avLst/>
          </a:prstGeom>
          <a:noFill/>
        </p:spPr>
      </p:pic>
      <p:pic>
        <p:nvPicPr>
          <p:cNvPr id="17416" name="Picture 8" descr="http://postfiles6.naver.net/MjAxNzA5MjRfMTMz/MDAxNTA2MjM5NzMzMTEw.ADSTmqg0YYjpxXBzPXVp8oyxJdGNBE8TxmAAjqmuS-Ug.XFOIAgENr_KLJp3rN4h8thkx7S3imTyWf-fOe_K2Aiog.JPEG.wizardry0629/18.jpg?type=w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4221088"/>
            <a:ext cx="4324350" cy="24860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980728"/>
            <a:ext cx="399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Project </a:t>
            </a:r>
            <a:r>
              <a:rPr lang="ko-KR" altLang="en-US" dirty="0" smtClean="0"/>
              <a:t>내부에서도 설정 업그레이드</a:t>
            </a:r>
            <a:r>
              <a:rPr lang="ko-KR" altLang="en-US" dirty="0"/>
              <a:t> </a:t>
            </a:r>
          </a:p>
        </p:txBody>
      </p:sp>
      <p:pic>
        <p:nvPicPr>
          <p:cNvPr id="16386" name="Picture 2" descr="http://postfiles14.naver.net/MjAxNzA5MjRfMjcz/MDAxNTA2MjQwMDE2NTI5.N3-mOcX_jaNnFm6XmKgp9ZqTSjK1T6bttSR5nyehogcg.N-0WITMt7u9yZwYOcJ6sWUAXQWiWJJoP8OyOgrBFViwg.JPEG.wizardry0629/19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556792"/>
            <a:ext cx="5543550" cy="3295651"/>
          </a:xfrm>
          <a:prstGeom prst="rect">
            <a:avLst/>
          </a:prstGeom>
          <a:noFill/>
        </p:spPr>
      </p:pic>
      <p:pic>
        <p:nvPicPr>
          <p:cNvPr id="16388" name="Picture 4" descr="http://postfiles13.naver.net/MjAxNzA5MjRfMTky/MDAxNTA2MjQyNjQ1OTY1.MqqsJ_BXk14miflGqab8AQbzf_CwMgJ7QDfHchR7RDAg.Wg1OkQJq3oNLnlMEr-Snv_dywC7IlikimmBxeQSCG0wg.JPEG.wizardry0629/20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5373216"/>
            <a:ext cx="3362325" cy="180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980728"/>
            <a:ext cx="175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Servlet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 업</a:t>
            </a:r>
            <a:endParaRPr lang="ko-KR" altLang="en-US" dirty="0"/>
          </a:p>
        </p:txBody>
      </p:sp>
      <p:pic>
        <p:nvPicPr>
          <p:cNvPr id="15362" name="Picture 2" descr="http://postfiles3.naver.net/MjAxNzA5MjRfMTc3/MDAxNTA2MjQyODIzOTc5.owEh_S5_qtoTjEjot6RiQMV97u209aX7TX4IP3Rzqo4g.BUx0TT2NGYHnmn7hfViyhgVljgDb1mlr5JJrbw0-uE8g.JPEG.wizardry0629/22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556792"/>
            <a:ext cx="2847975" cy="2657476"/>
          </a:xfrm>
          <a:prstGeom prst="rect">
            <a:avLst/>
          </a:prstGeom>
          <a:noFill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844824"/>
            <a:ext cx="3495675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980728"/>
            <a:ext cx="2727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Maven compiler </a:t>
            </a:r>
            <a:r>
              <a:rPr lang="ko-KR" altLang="en-US" dirty="0" smtClean="0"/>
              <a:t>버전 업</a:t>
            </a:r>
            <a:br>
              <a:rPr lang="ko-KR" altLang="en-US" dirty="0" smtClean="0"/>
            </a:br>
            <a:endParaRPr lang="ko-KR" altLang="en-US" dirty="0"/>
          </a:p>
        </p:txBody>
      </p:sp>
      <p:pic>
        <p:nvPicPr>
          <p:cNvPr id="14338" name="Picture 2" descr="http://postfiles10.naver.net/MjAxNzA5MjRfMjI2/MDAxNTA2MjQzMTQ0NjAw._zRj-nA68J4hW_yf_OkspvW-MA8XHKvalUFKud43-KYg.q2mxQLLFY_9kWB_woCUDPTVaa_p5lZe10SngCywsyeMg.JPEG.wizardry0629/23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628800"/>
            <a:ext cx="4972050" cy="2819401"/>
          </a:xfrm>
          <a:prstGeom prst="rect">
            <a:avLst/>
          </a:prstGeom>
          <a:noFill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1772816"/>
            <a:ext cx="35909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980728"/>
            <a:ext cx="403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느린 </a:t>
            </a:r>
            <a:r>
              <a:rPr lang="en-US" altLang="ko-KR" dirty="0" smtClean="0"/>
              <a:t>Maven </a:t>
            </a:r>
            <a:r>
              <a:rPr lang="ko-KR" altLang="en-US" dirty="0" smtClean="0"/>
              <a:t>다운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무한 </a:t>
            </a:r>
            <a:r>
              <a:rPr lang="en-US" altLang="ko-KR" dirty="0" smtClean="0"/>
              <a:t>Building </a:t>
            </a:r>
            <a:r>
              <a:rPr lang="ko-KR" altLang="en-US" dirty="0" smtClean="0"/>
              <a:t>문제</a:t>
            </a:r>
            <a:endParaRPr lang="ko-KR" altLang="en-US" dirty="0"/>
          </a:p>
        </p:txBody>
      </p:sp>
      <p:pic>
        <p:nvPicPr>
          <p:cNvPr id="44034" name="Picture 2" descr="http://postfiles1.naver.net/MjAxNzA5MjRfMTIx/MDAxNTA2MjQ0Mjk5MDYx.rri8Vro9uJAd3Rok_or2Ldd7Uhny4AnQcivYd201jFYg.-Ad7Rqtgl-Xj3BKKcN6ioXhLxFlR-vEW0ERM7yUeTwcg.JPEG.wizardry0629/30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88951"/>
            <a:ext cx="7048500" cy="1724025"/>
          </a:xfrm>
          <a:prstGeom prst="rect">
            <a:avLst/>
          </a:prstGeom>
          <a:noFill/>
        </p:spPr>
      </p:pic>
      <p:pic>
        <p:nvPicPr>
          <p:cNvPr id="44036" name="Picture 4" descr="http://postfiles14.naver.net/MjAxNzA5MjRfNSAg/MDAxNTA2MjQ0MzY5NDk5.dP4S3hDrwj0QiFKbtjG3OaDp6JJ2XV2h5Da1VHtsT9Qg.Dxtb-MLSyqHmJAvVdFHLkQ_HXdyY0CmDiLhFkU2sfmog.JPEG.wizardry0629/31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717032"/>
            <a:ext cx="7048500" cy="1714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980728"/>
            <a:ext cx="5043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느린 </a:t>
            </a:r>
            <a:r>
              <a:rPr lang="en-US" altLang="ko-KR" dirty="0" smtClean="0"/>
              <a:t>Maven </a:t>
            </a:r>
            <a:r>
              <a:rPr lang="ko-KR" altLang="en-US" dirty="0" smtClean="0"/>
              <a:t>다운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무한 </a:t>
            </a:r>
            <a:r>
              <a:rPr lang="en-US" altLang="ko-KR" dirty="0" smtClean="0"/>
              <a:t>Building </a:t>
            </a:r>
            <a:r>
              <a:rPr lang="ko-KR" altLang="en-US" dirty="0" smtClean="0"/>
              <a:t>문제 </a:t>
            </a:r>
            <a:r>
              <a:rPr lang="ko-KR" altLang="en-US" dirty="0" err="1" smtClean="0"/>
              <a:t>해결방안</a:t>
            </a:r>
            <a:endParaRPr lang="ko-KR" altLang="en-US" dirty="0"/>
          </a:p>
        </p:txBody>
      </p:sp>
      <p:pic>
        <p:nvPicPr>
          <p:cNvPr id="45058" name="Picture 2" descr="http://postfiles9.naver.net/MjAxNzA5MjRfMjY1/MDAxNTA2MjQ0NDQ4MzYx.kOBTIlgNgjMgReJJTwkgfhrQBz0uDHjG_fQAB9NPnJ4g.pEG1P7MCo2VvwGRJOcEikqBf8UfTeP7ilwIbcH-seN8g.JPEG.wizardry0629/32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3838575" cy="2571751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355976" y="33477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해제</a:t>
            </a:r>
            <a:endParaRPr lang="ko-KR" altLang="en-US"/>
          </a:p>
        </p:txBody>
      </p:sp>
      <p:pic>
        <p:nvPicPr>
          <p:cNvPr id="45070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685134"/>
            <a:ext cx="4181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4788024" y="4715852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해당 라이브러리 삭제</a:t>
            </a:r>
            <a:endParaRPr lang="ko-KR" altLang="en-US"/>
          </a:p>
        </p:txBody>
      </p:sp>
      <p:pic>
        <p:nvPicPr>
          <p:cNvPr id="45072" name="Picture 16" descr="http://postfiles1.naver.net/MjAxNzA5MjRfOTMg/MDAxNTA2MjQ2NzgzNDc1.t6CE_O3G7x9LbWGTUm0SC5aaD0Wz2PJujG32AdyNrA0g.oXccwbAOVuwd41nLqIin8VOmz3_TI_90vvQuIqOWFWYg.JPEG.wizardry0629/33.jpg?type=w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6001469"/>
            <a:ext cx="2771775" cy="523875"/>
          </a:xfrm>
          <a:prstGeom prst="rect">
            <a:avLst/>
          </a:prstGeom>
          <a:noFill/>
        </p:spPr>
      </p:pic>
      <p:sp>
        <p:nvSpPr>
          <p:cNvPr id="21" name="TextBox 20"/>
          <p:cNvSpPr txBox="1"/>
          <p:nvPr/>
        </p:nvSpPr>
        <p:spPr>
          <a:xfrm>
            <a:off x="3491880" y="6084004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메이븐</a:t>
            </a:r>
            <a:r>
              <a:rPr lang="ko-KR" altLang="en-US" dirty="0" smtClean="0"/>
              <a:t> 재 다운로드</a:t>
            </a:r>
            <a:endParaRPr lang="ko-KR" altLang="en-US" dirty="0"/>
          </a:p>
        </p:txBody>
      </p:sp>
      <p:pic>
        <p:nvPicPr>
          <p:cNvPr id="45073" name="Picture 1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5373216"/>
            <a:ext cx="28194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Box 22"/>
          <p:cNvSpPr txBox="1"/>
          <p:nvPr/>
        </p:nvSpPr>
        <p:spPr>
          <a:xfrm>
            <a:off x="3419872" y="537321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방화벽 해제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pic>
        <p:nvPicPr>
          <p:cNvPr id="46083" name="Picture 3" descr="http://postfiles2.naver.net/MjAxNzEwMDVfNTQg/MDAxNTA3MTYwMTYwOTYy.sA4qEi5Yr94FF21ulCGako-VVFEHkNT7yP-KbzS9sgcg.zXZAdwiwJSvROhxt7HYO0D6YEQ8khZ4F2vzdvmyt-AIg.JPEG.wizardry0629/1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916832"/>
            <a:ext cx="7048500" cy="148590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539552" y="1196752"/>
            <a:ext cx="3827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 Version </a:t>
            </a:r>
            <a:r>
              <a:rPr lang="ko-KR" altLang="en-US" dirty="0" smtClean="0"/>
              <a:t>업그레이드 금지 문제</a:t>
            </a:r>
            <a:endParaRPr lang="ko-KR" altLang="en-US" dirty="0"/>
          </a:p>
        </p:txBody>
      </p:sp>
      <p:pic>
        <p:nvPicPr>
          <p:cNvPr id="46085" name="Picture 5" descr="http://postfiles10.naver.net/MjAxNzEwMDVfMjIg/MDAxNTA3MTU5OTU2MTQw.kGbkLu5ciHWuLyyIR3pQqj5i5hoU9rTGgSisH7VmsM8g.QuNSWdqExPDlgMDY79_pVQIYqWqb8J8ATRyEqPS67WEg.JPEG.wizardry0629/1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933056"/>
            <a:ext cx="4464496" cy="25522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9552" y="1196752"/>
            <a:ext cx="2130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 Version </a:t>
            </a:r>
            <a:r>
              <a:rPr lang="ko-KR" altLang="en-US" dirty="0" smtClean="0"/>
              <a:t>확인</a:t>
            </a:r>
            <a:r>
              <a:rPr lang="ko-KR" altLang="en-US" dirty="0"/>
              <a:t> </a:t>
            </a:r>
          </a:p>
          <a:p>
            <a:endParaRPr lang="ko-KR" altLang="en-US" dirty="0"/>
          </a:p>
        </p:txBody>
      </p:sp>
      <p:pic>
        <p:nvPicPr>
          <p:cNvPr id="47107" name="Picture 3" descr="http://postfiles13.naver.net/MjAxNzEwMDVfMTgw/MDAxNTA3MTYwMDM4NjAz.OHIdj2v6lKUJ6vQ1SHmzlViSh2k0r-yCH6D0qDLxA5sg.fItrQj1srqueESIbR4jzXHBmz2qekxxatNn5w-GP0WUg.JPEG.wizardry0629/1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048500" cy="33242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9552" y="1196752"/>
            <a:ext cx="2130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Web Version </a:t>
            </a:r>
            <a:r>
              <a:rPr lang="ko-KR" altLang="en-US" dirty="0" smtClean="0"/>
              <a:t>확인</a:t>
            </a:r>
            <a:r>
              <a:rPr lang="ko-KR" altLang="en-US" dirty="0"/>
              <a:t> </a:t>
            </a:r>
          </a:p>
          <a:p>
            <a:endParaRPr lang="ko-KR" altLang="en-US" dirty="0"/>
          </a:p>
        </p:txBody>
      </p:sp>
      <p:pic>
        <p:nvPicPr>
          <p:cNvPr id="48131" name="Picture 3" descr="http://postfiles13.naver.net/MjAxNzEwMDVfMTUg/MDAxNTA3MTYwMjk4NzE3.MlqrKNdyehOz32YsWEa-lkR4cA2XyzGilM7jDHeMIbkg.MOdXpG2-Qm67-Pgp0qoFwslpk4I16ZpbfVzSx8RGLo0g.JPEG.wizardry0629/1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6591300" cy="1933576"/>
          </a:xfrm>
          <a:prstGeom prst="rect">
            <a:avLst/>
          </a:prstGeom>
          <a:noFill/>
        </p:spPr>
      </p:pic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4221088"/>
            <a:ext cx="6961187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5805264"/>
            <a:ext cx="6961187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타원 8"/>
          <p:cNvSpPr/>
          <p:nvPr/>
        </p:nvSpPr>
        <p:spPr>
          <a:xfrm>
            <a:off x="1619672" y="4400536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6779864" y="4737336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1667296" y="5973664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6804248" y="6309320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187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6. </a:t>
            </a:r>
            <a:r>
              <a:rPr lang="ko-KR" altLang="en-US" sz="2400" dirty="0" smtClean="0"/>
              <a:t>문제 해결</a:t>
            </a:r>
            <a:endParaRPr lang="ko-KR" alt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9552" y="1196752"/>
            <a:ext cx="19705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Maven </a:t>
            </a:r>
            <a:r>
              <a:rPr lang="ko-KR" altLang="en-US" dirty="0" smtClean="0"/>
              <a:t>버전 확인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360045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700808"/>
            <a:ext cx="39624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4564335"/>
            <a:ext cx="36290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69407" y="4354785"/>
            <a:ext cx="27908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6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60232" y="5259660"/>
            <a:ext cx="24955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971436"/>
            <a:ext cx="1124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AWS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ES2</a:t>
            </a:r>
            <a:endParaRPr lang="ko-KR" altLang="en-US" dirty="0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6257925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59285" y="3717032"/>
            <a:ext cx="555307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6576" y="3923764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허용할 </a:t>
            </a:r>
            <a:r>
              <a:rPr lang="ko-KR" altLang="en-US" smtClean="0"/>
              <a:t>외부 </a:t>
            </a:r>
            <a:r>
              <a:rPr lang="en-US" altLang="ko-KR" dirty="0" smtClean="0"/>
              <a:t>PORT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1196752"/>
            <a:ext cx="491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Oracle </a:t>
            </a:r>
            <a:r>
              <a:rPr lang="en-US" altLang="ko-KR" dirty="0" err="1" smtClean="0"/>
              <a:t>develpoer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</a:t>
            </a:r>
            <a:r>
              <a:rPr lang="en-US" altLang="ko-KR" dirty="0" err="1" smtClean="0"/>
              <a:t>aws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mysql</a:t>
            </a:r>
            <a:r>
              <a:rPr lang="en-US" altLang="ko-KR" dirty="0" smtClean="0"/>
              <a:t> DB </a:t>
            </a:r>
            <a:r>
              <a:rPr lang="ko-KR" altLang="en-US" dirty="0" smtClean="0"/>
              <a:t>원격 접속</a:t>
            </a:r>
            <a:endParaRPr lang="en-US" altLang="ko-KR" dirty="0" smtClean="0"/>
          </a:p>
        </p:txBody>
      </p:sp>
      <p:pic>
        <p:nvPicPr>
          <p:cNvPr id="6" name="Picture 2" descr="http://postfiles14.naver.net/MjAxNzA5MjZfMTM3/MDAxNTA2NDE1MDk0NTYw.RojhfGRXaO2blNqoB-aw6Z6n6DQ2K1zShP5c8mpGnXUg.Msu0kTepLa-iQFEinLdedS19M5jIsPGlTNsRfYwN90Qg.JPEG.wizardry0629/5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2457450" cy="4191001"/>
          </a:xfrm>
          <a:prstGeom prst="rect">
            <a:avLst/>
          </a:prstGeom>
          <a:noFill/>
        </p:spPr>
      </p:pic>
      <p:pic>
        <p:nvPicPr>
          <p:cNvPr id="13314" name="Picture 2" descr="http://postfiles11.naver.net/MjAxNzA5MjZfODQg/MDAxNTA2NDE1MTEzNzI1.4RnAja-mfDQk3NqVj4XQoJNdFIP5UC8Xf5rp2fFmMHAg.xhKa_ZujzrP1SvOXX_ZMbm4qVSKJ1-XLBrSdbaDorisg.JPEG.wizardry0629/5.jpg?type=w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1628800"/>
            <a:ext cx="3643164" cy="2602260"/>
          </a:xfrm>
          <a:prstGeom prst="rect">
            <a:avLst/>
          </a:prstGeom>
          <a:noFill/>
        </p:spPr>
      </p:pic>
      <p:pic>
        <p:nvPicPr>
          <p:cNvPr id="13316" name="Picture 4" descr="http://postfiles7.naver.net/MjAxNzA5MjZfMjYg/MDAxNTA2NDE1MTUyOTY5.ggj5BKVRS4ZytDIolByGbbQ9ozA7kUkmDdQTyVqy6Kcg.AuAkTAJmMyBXGMt81c9LXZFDTuR3Uw0c68D7fqTb1Ygg.JPEG.wizardry0629/5.jpg?type=w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7864" y="4365104"/>
            <a:ext cx="4104456" cy="22629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11560" y="1124744"/>
            <a:ext cx="3014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Server </a:t>
            </a:r>
            <a:r>
              <a:rPr lang="ko-KR" altLang="en-US" dirty="0" smtClean="0"/>
              <a:t>에서 원격 접속 허용</a:t>
            </a:r>
            <a:endParaRPr lang="ko-KR" alt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628800"/>
            <a:ext cx="47625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124744"/>
            <a:ext cx="6446837" cy="521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0728"/>
            <a:ext cx="6523037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80728"/>
            <a:ext cx="44481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996952"/>
            <a:ext cx="2009775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4869160"/>
            <a:ext cx="60293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467544" y="836712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95536" y="231031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7. </a:t>
            </a:r>
            <a:r>
              <a:rPr lang="ko-KR" altLang="en-US" sz="2400" dirty="0" smtClean="0"/>
              <a:t>웹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관리</a:t>
            </a:r>
            <a:endParaRPr lang="ko-KR" altLang="en-US" sz="2400" dirty="0"/>
          </a:p>
        </p:txBody>
      </p:sp>
      <p:pic>
        <p:nvPicPr>
          <p:cNvPr id="10242" name="Picture 2" descr="http://postfiles13.naver.net/MjAxNzA5MjZfNzQg/MDAxNTA2NDE0OTUxMDU0.5MN3mUPcVUAUW8o3C4kvcg7lOPZsj1ZUrtADAoM-AeEg.dEgVi9WhX3vGUIMVKwPrzqCVLyml0Ffy0EFyvT-lss4g.JPEG.wizardry0629/5.jpg?type=w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44824"/>
            <a:ext cx="7048500" cy="388620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39552" y="119675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접속 성공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611560" y="5013176"/>
            <a:ext cx="64807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528" y="2132856"/>
            <a:ext cx="8820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err="1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Apiktour</a:t>
            </a:r>
            <a:r>
              <a:rPr lang="en-US" altLang="ko-KR" sz="32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Project</a:t>
            </a:r>
            <a:r>
              <a:rPr lang="ko-KR" altLang="en-US" sz="32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진행도</a:t>
            </a:r>
            <a:endParaRPr lang="en-US" altLang="ko-KR" sz="3200" b="1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ko-KR" sz="3200" b="1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2800" b="1" dirty="0" err="1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WebPage</a:t>
            </a: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35%  -&gt; </a:t>
            </a:r>
            <a:r>
              <a:rPr lang="ko-KR" altLang="en-US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안정성 있는 </a:t>
            </a: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</a:t>
            </a:r>
            <a:r>
              <a:rPr lang="ko-KR" altLang="en-US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필요</a:t>
            </a:r>
            <a:endParaRPr lang="en-US" altLang="ko-KR" sz="2800" b="1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2800" b="1" dirty="0" err="1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MobilePage</a:t>
            </a: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1% -&gt; </a:t>
            </a:r>
            <a:r>
              <a:rPr lang="en-US" altLang="ko-KR" sz="2800" b="1" dirty="0" err="1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jquerymobile</a:t>
            </a:r>
            <a:r>
              <a:rPr lang="en-US" altLang="ko-KR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2800" b="1" dirty="0" smtClean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로 변환 필요</a:t>
            </a:r>
            <a:endParaRPr lang="en-US" altLang="ko-KR" sz="2800" b="1" dirty="0" smtClean="0">
              <a:solidFill>
                <a:schemeClr val="bg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4149080"/>
            <a:ext cx="78488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개발 예정일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2017.10.19 -&gt;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안정성 있는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project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확보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2017.10.20 -&gt;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기존의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page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주입 및 동작 재확인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2017.10.21 -&gt;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실제 외부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Server DB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와의 연동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2017.10.22 -&gt;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각자 담당하고 있는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page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재점검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2017.10.23 -&gt;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전체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page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호환 및 에러 점검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2017.10.24 -&gt; </a:t>
            </a:r>
            <a:r>
              <a:rPr lang="en-US" altLang="ko-KR" sz="2000" dirty="0" err="1" smtClean="0">
                <a:solidFill>
                  <a:schemeClr val="bg1">
                    <a:lumMod val="75000"/>
                  </a:schemeClr>
                </a:solidFill>
              </a:rPr>
              <a:t>MobilePage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생성 및 간단한 소개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Page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작성</a:t>
            </a:r>
            <a:endParaRPr lang="en-US" altLang="ko-KR" sz="2000" dirty="0" smtClean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2017.10.25 -&gt;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마무리 작업 및 완성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실제 </a:t>
            </a:r>
            <a:r>
              <a:rPr lang="en-US" altLang="ko-KR" sz="2000" dirty="0" smtClean="0">
                <a:solidFill>
                  <a:schemeClr val="bg1">
                    <a:lumMod val="75000"/>
                  </a:schemeClr>
                </a:solidFill>
              </a:rPr>
              <a:t>Web</a:t>
            </a:r>
            <a:r>
              <a:rPr lang="ko-KR" altLang="en-US" sz="2000" dirty="0" smtClean="0">
                <a:solidFill>
                  <a:schemeClr val="bg1">
                    <a:lumMod val="75000"/>
                  </a:schemeClr>
                </a:solidFill>
              </a:rPr>
              <a:t>상에서 동작 가능</a:t>
            </a:r>
            <a:endParaRPr lang="ko-KR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799</Words>
  <Application>Microsoft Office PowerPoint</Application>
  <PresentationFormat>화면 슬라이드 쇼(4:3)</PresentationFormat>
  <Paragraphs>196</Paragraphs>
  <Slides>33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4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kitcoop</dc:creator>
  <cp:lastModifiedBy>kitcoop</cp:lastModifiedBy>
  <cp:revision>5</cp:revision>
  <dcterms:created xsi:type="dcterms:W3CDTF">2017-10-18T00:31:02Z</dcterms:created>
  <dcterms:modified xsi:type="dcterms:W3CDTF">2017-10-18T07:38:17Z</dcterms:modified>
</cp:coreProperties>
</file>